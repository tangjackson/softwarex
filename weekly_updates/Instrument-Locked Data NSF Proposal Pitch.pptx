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bring the team and prospective partners onto the same page before the Oct 14 decision gate. Three parts: measured results so far, the problem framing, and the challenges, both research and proposal-level.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sentence the whole proposal hangs on. It is falsifiable: we can show the same raw data yielding different scientific quantities under different tool configurations. The next four slides are the evidence we already have from XCAP.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feasibility gates D1 and D4 both passed. Caveats: of 12 event detector classes, 8 were unusable and two had 100% false positives; record counts are not event counts (124 handover records = 62 handovers). RLF count is zero, so that part needs one more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self-description channel is unreliable: documentation, dialog text, column names, version numbers, record counts, view contents. They fail in different ways and none raises an error. Full 13-row table lives in PAPER-STRUCTURE-AND-STORYLINE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"throughput at time t" is a function of raw data, parsing profile, sampling config, filter state and clock choice. The two big numbers are the T5 measurement. This is the data-integrity argument NSF scores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 generic computer-use agent is not enough: correctness is invisible on screen. Any extraction pipeline, human or agent, needs an independent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doubles as a ready-made diagnosis question: "how long a data interruption did this handover cause?" has no answer at the 1 s setting, yet an agent will confidently compute zero seconds. The second row is the configuration-decides-truth result on the analysis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principle for the proposal: any scientific data extracted through an agent must have a verification path that goes through neither the agent nor the vendor software. The BMF table was an export mirror; using it as the second path would have fooled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Perception and long-context reading are no longer the bottleneck. The missing piece is semantics: what the software actually computed. That is exactly the instrument-semantics layer we propose. Also: 0 of 45 answers were confidently wrong, so models hedge rather than invent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NSF: we do not sell an agent. We name a data category, instrument-locked datasets, and propose to build the missing instrument-semantics layer. Out-of-scope rule on de novo collection does not touch us: everything here is existing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proteomics, ProteoWizard already solves the format half. We must be clear that we address the semantics and configuration half. Each domain needs one concrete scientific question that a PI in that field endorses.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needs a result that would make it fail, and an evaluation method. That is what separates this from RPA engineering. Q4 maps directly to the solicitation's "automated platforms assessing dataset readiness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3 is the urgency hook: not "this would be useful" but "if nobody builds the verification layer first, things will go wrong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map to Q1–Q4. Each is where a naive computer-use agent breaks, which is our answer to "this is just RPA".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breadth decides whether we submit at all. One core facility equals one letter of collaboration but serves dozens of downstream labs, which is the highest-leverage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Flagship there is a sixth attack: "Why does this need $5M?" Our answer would be a community commons (open catalog, contribution process, facility deployments) across four or more domains, which is only credible if the partners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Formulate at Flagship ambition, submit at the tier the partner commitments support. Deadline is Nov 4, 2026. The census gives the scale number a Flagship needs; the pilot turns Q3 from a claim into preliminary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2800" y="812800"/>
            <a:ext cx="762000" cy="50800"/>
          </a:xfrm>
          <a:prstGeom prst="rect">
            <a:avLst/>
          </a:prstGeom>
          <a:solidFill>
            <a:srgbClr val="F2A36B"/>
          </a:solidFill>
          <a:ln/>
        </p:spPr>
      </p:sp>
      <p:sp>
        <p:nvSpPr>
          <p:cNvPr id="3" name="Text 1"/>
          <p:cNvSpPr/>
          <p:nvPr/>
        </p:nvSpPr>
        <p:spPr>
          <a:xfrm>
            <a:off x="812800" y="23342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36B"/>
                </a:solidFill>
                <a:latin typeface="IBM Plex Sans" pitchFamily="34" charset="0"/>
                <a:ea typeface="IBM Plex Sans" pitchFamily="34" charset="-122"/>
                <a:cs typeface="IBM Plex Sans" pitchFamily="34" charset="-120"/>
              </a:rPr>
              <a:t>NSF 26-512 · AI DATASETS · PROPOSAL CONCEPT</a:t>
            </a:r>
            <a:endParaRPr lang="en-US" sz="1400" dirty="0"/>
          </a:p>
        </p:txBody>
      </p:sp>
      <p:sp>
        <p:nvSpPr>
          <p:cNvPr id="4" name="Text 2"/>
          <p:cNvSpPr/>
          <p:nvPr/>
        </p:nvSpPr>
        <p:spPr>
          <a:xfrm>
            <a:off x="812800" y="283716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4F1EA"/>
                </a:solidFill>
                <a:latin typeface="Source Serif 4" pitchFamily="34" charset="0"/>
                <a:ea typeface="Source Serif 4" pitchFamily="34" charset="-122"/>
                <a:cs typeface="Source Serif 4" pitchFamily="34" charset="-120"/>
              </a:rPr>
              <a:t>Instrument-Locked Data</a:t>
            </a:r>
            <a:endParaRPr lang="en-US" sz="5600" dirty="0"/>
          </a:p>
        </p:txBody>
      </p:sp>
      <p:sp>
        <p:nvSpPr>
          <p:cNvPr id="5" name="Text 3"/>
          <p:cNvSpPr/>
          <p:nvPr/>
        </p:nvSpPr>
        <p:spPr>
          <a:xfrm>
            <a:off x="812800" y="383788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3D6"/>
                </a:solidFill>
                <a:latin typeface="IBM Plex Sans" pitchFamily="34" charset="0"/>
                <a:ea typeface="IBM Plex Sans" pitchFamily="34" charset="-122"/>
                <a:cs typeface="IBM Plex Sans" pitchFamily="34" charset="-120"/>
              </a:rPr>
              <a:t>Making the scientific data trapped inside vendor analysis software auditable and AI-ready</a:t>
            </a:r>
            <a:endParaRPr lang="en-US" sz="2000" dirty="0"/>
          </a:p>
        </p:txBody>
      </p:sp>
      <p:sp>
        <p:nvSpPr>
          <p:cNvPr id="6" name="Text 4"/>
          <p:cNvSpPr/>
          <p:nvPr/>
        </p:nvSpPr>
        <p:spPr>
          <a:xfrm>
            <a:off x="812800" y="60172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What we have found · The problem we want to solve · Where the challenges are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5931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36B"/>
                </a:solidFill>
                <a:latin typeface="IBM Plex Sans" pitchFamily="34" charset="0"/>
                <a:ea typeface="IBM Plex Sans" pitchFamily="34" charset="-122"/>
                <a:cs typeface="IBM Plex Sans" pitchFamily="34" charset="-120"/>
              </a:rPr>
              <a:t>THE CLAIM</a:t>
            </a:r>
            <a:endParaRPr lang="en-US" sz="1300" dirty="0"/>
          </a:p>
        </p:txBody>
      </p:sp>
      <p:sp>
        <p:nvSpPr>
          <p:cNvPr id="3" name="Text 1"/>
          <p:cNvSpPr/>
          <p:nvPr/>
        </p:nvSpPr>
        <p:spPr>
          <a:xfrm>
            <a:off x="812800" y="239524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F1EA"/>
                </a:solidFill>
                <a:latin typeface="Source Serif 4" pitchFamily="34" charset="0"/>
                <a:ea typeface="Source Serif 4" pitchFamily="34" charset="-122"/>
                <a:cs typeface="Source Serif 4" pitchFamily="34" charset="-120"/>
              </a:rPr>
              <a:t>A scientific result = </a:t>
            </a:r>
            <a:r>
              <a:rPr lang="en-US" sz="4800" b="1" dirty="0">
                <a:solidFill>
                  <a:srgbClr val="F2A36B"/>
                </a:solidFill>
                <a:latin typeface="Source Serif 4" pitchFamily="34" charset="0"/>
                <a:ea typeface="Source Serif 4" pitchFamily="34" charset="-122"/>
                <a:cs typeface="Source Serif 4" pitchFamily="34" charset="-120"/>
              </a:rPr>
              <a:t>f(data, tool, configuration)</a:t>
            </a:r>
            <a:r>
              <a:rPr lang="en-US" sz="4800" b="1" dirty="0">
                <a:solidFill>
                  <a:srgbClr val="F4F1EA"/>
                </a:solidFill>
                <a:latin typeface="Source Serif 4" pitchFamily="34" charset="0"/>
                <a:ea typeface="Source Serif 4" pitchFamily="34" charset="-122"/>
                <a:cs typeface="Source Serif 4" pitchFamily="34" charset="-120"/>
              </a:rPr>
              <a:t>.</a:t>
            </a:r>
            <a:endParaRPr lang="en-US" sz="4800" dirty="0"/>
          </a:p>
        </p:txBody>
      </p:sp>
      <p:sp>
        <p:nvSpPr>
          <p:cNvPr id="4" name="Text 2"/>
          <p:cNvSpPr/>
          <p:nvPr/>
        </p:nvSpPr>
        <p:spPr>
          <a:xfrm>
            <a:off x="812800" y="4041080"/>
            <a:ext cx="981075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9C3D6"/>
                </a:solidFill>
                <a:latin typeface="IBM Plex Sans" pitchFamily="34" charset="0"/>
                <a:ea typeface="IBM Plex Sans" pitchFamily="34" charset="-122"/>
                <a:cs typeface="IBM Plex Sans" pitchFamily="34" charset="-120"/>
              </a:rPr>
              <a:t>The configuration part is almost never recorded. So existing data is locked, and cross-study comparisons may not be comparable at all.</a:t>
            </a:r>
            <a:endParaRPr lang="en-US" sz="2200" dirty="0"/>
          </a:p>
        </p:txBody>
      </p:sp>
      <p:sp>
        <p:nvSpPr>
          <p:cNvPr id="5" name="Text 3"/>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B0"/>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6"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B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1 OF 7 · FEASIBILITY EXPLORATION</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The existing data is already rich enough</a:t>
            </a:r>
            <a:endParaRPr lang="en-US" sz="3200" dirty="0"/>
          </a:p>
        </p:txBody>
      </p:sp>
      <p:sp>
        <p:nvSpPr>
          <p:cNvPr id="4" name="Shape 2"/>
          <p:cNvSpPr/>
          <p:nvPr/>
        </p:nvSpPr>
        <p:spPr>
          <a:xfrm>
            <a:off x="815975" y="1806525"/>
            <a:ext cx="3414167" cy="1407071"/>
          </a:xfrm>
          <a:prstGeom prst="roundRect">
            <a:avLst>
              <a:gd name="adj" fmla="val 6995"/>
            </a:avLst>
          </a:prstGeom>
          <a:solidFill>
            <a:srgbClr val="FFFDF8"/>
          </a:solidFill>
          <a:ln w="6350">
            <a:solidFill>
              <a:srgbClr val="DAD6CB"/>
            </a:solidFill>
            <a:prstDash val="solid"/>
          </a:ln>
        </p:spPr>
      </p:sp>
      <p:sp>
        <p:nvSpPr>
          <p:cNvPr id="5" name="Text 3"/>
          <p:cNvSpPr/>
          <p:nvPr/>
        </p:nvSpPr>
        <p:spPr>
          <a:xfrm>
            <a:off x="1022350" y="2012900"/>
            <a:ext cx="30914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310</a:t>
            </a:r>
            <a:endParaRPr lang="en-US" sz="2800" dirty="0"/>
          </a:p>
        </p:txBody>
      </p:sp>
      <p:sp>
        <p:nvSpPr>
          <p:cNvPr id="6" name="Text 4"/>
          <p:cNvSpPr/>
          <p:nvPr/>
        </p:nvSpPr>
        <p:spPr>
          <a:xfrm>
            <a:off x="1022350" y="2561530"/>
            <a:ext cx="309145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handovers in existing traces (we needed 100)</a:t>
            </a:r>
            <a:endParaRPr lang="en-US" sz="1300" dirty="0"/>
          </a:p>
        </p:txBody>
      </p:sp>
      <p:sp>
        <p:nvSpPr>
          <p:cNvPr id="7" name="Shape 5"/>
          <p:cNvSpPr/>
          <p:nvPr/>
        </p:nvSpPr>
        <p:spPr>
          <a:xfrm>
            <a:off x="4388892" y="1806525"/>
            <a:ext cx="3414167" cy="1407071"/>
          </a:xfrm>
          <a:prstGeom prst="roundRect">
            <a:avLst>
              <a:gd name="adj" fmla="val 6995"/>
            </a:avLst>
          </a:prstGeom>
          <a:solidFill>
            <a:srgbClr val="FFFDF8"/>
          </a:solidFill>
          <a:ln w="6350">
            <a:solidFill>
              <a:srgbClr val="DAD6CB"/>
            </a:solidFill>
            <a:prstDash val="solid"/>
          </a:ln>
        </p:spPr>
      </p:sp>
      <p:sp>
        <p:nvSpPr>
          <p:cNvPr id="8" name="Text 6"/>
          <p:cNvSpPr/>
          <p:nvPr/>
        </p:nvSpPr>
        <p:spPr>
          <a:xfrm>
            <a:off x="4595267" y="2012900"/>
            <a:ext cx="30914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57 · 90 · 51</a:t>
            </a:r>
            <a:endParaRPr lang="en-US" sz="2800" dirty="0"/>
          </a:p>
        </p:txBody>
      </p:sp>
      <p:sp>
        <p:nvSpPr>
          <p:cNvPr id="9" name="Text 7"/>
          <p:cNvSpPr/>
          <p:nvPr/>
        </p:nvSpPr>
        <p:spPr>
          <a:xfrm>
            <a:off x="4595267" y="2561530"/>
            <a:ext cx="309145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real degradation windows, 10 dB or more below baseline</a:t>
            </a:r>
            <a:endParaRPr lang="en-US" sz="1300" dirty="0"/>
          </a:p>
        </p:txBody>
      </p:sp>
      <p:sp>
        <p:nvSpPr>
          <p:cNvPr id="10" name="Shape 8"/>
          <p:cNvSpPr/>
          <p:nvPr/>
        </p:nvSpPr>
        <p:spPr>
          <a:xfrm>
            <a:off x="7961809" y="1806525"/>
            <a:ext cx="3414216" cy="1407071"/>
          </a:xfrm>
          <a:prstGeom prst="roundRect">
            <a:avLst>
              <a:gd name="adj" fmla="val 6995"/>
            </a:avLst>
          </a:prstGeom>
          <a:solidFill>
            <a:srgbClr val="FFFDF8"/>
          </a:solidFill>
          <a:ln w="6350">
            <a:solidFill>
              <a:srgbClr val="DAD6CB"/>
            </a:solidFill>
            <a:prstDash val="solid"/>
          </a:ln>
        </p:spPr>
      </p:sp>
      <p:sp>
        <p:nvSpPr>
          <p:cNvPr id="11" name="Text 9"/>
          <p:cNvSpPr/>
          <p:nvPr/>
        </p:nvSpPr>
        <p:spPr>
          <a:xfrm>
            <a:off x="8168184" y="2012900"/>
            <a:ext cx="309151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13 / 24</a:t>
            </a:r>
            <a:endParaRPr lang="en-US" sz="2800" dirty="0"/>
          </a:p>
        </p:txBody>
      </p:sp>
      <p:sp>
        <p:nvSpPr>
          <p:cNvPr id="12" name="Text 10"/>
          <p:cNvSpPr/>
          <p:nvPr/>
        </p:nvSpPr>
        <p:spPr>
          <a:xfrm>
            <a:off x="8168184" y="2561530"/>
            <a:ext cx="30915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target phenomena detectable, covering 4 layers</a:t>
            </a:r>
            <a:endParaRPr lang="en-US" sz="1300" dirty="0"/>
          </a:p>
        </p:txBody>
      </p:sp>
      <p:sp>
        <p:nvSpPr>
          <p:cNvPr id="13" name="Shape 11"/>
          <p:cNvSpPr/>
          <p:nvPr/>
        </p:nvSpPr>
        <p:spPr>
          <a:xfrm>
            <a:off x="815975" y="3372346"/>
            <a:ext cx="3414167" cy="1407071"/>
          </a:xfrm>
          <a:prstGeom prst="roundRect">
            <a:avLst>
              <a:gd name="adj" fmla="val 6995"/>
            </a:avLst>
          </a:prstGeom>
          <a:solidFill>
            <a:srgbClr val="FFFDF8"/>
          </a:solidFill>
          <a:ln w="6350">
            <a:solidFill>
              <a:srgbClr val="DAD6CB"/>
            </a:solidFill>
            <a:prstDash val="solid"/>
          </a:ln>
        </p:spPr>
      </p:sp>
      <p:sp>
        <p:nvSpPr>
          <p:cNvPr id="14" name="Text 12"/>
          <p:cNvSpPr/>
          <p:nvPr/>
        </p:nvSpPr>
        <p:spPr>
          <a:xfrm>
            <a:off x="1022350" y="3578721"/>
            <a:ext cx="30914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602</a:t>
            </a:r>
            <a:endParaRPr lang="en-US" sz="2800" dirty="0"/>
          </a:p>
        </p:txBody>
      </p:sp>
      <p:sp>
        <p:nvSpPr>
          <p:cNvPr id="15" name="Text 13"/>
          <p:cNvSpPr/>
          <p:nvPr/>
        </p:nvSpPr>
        <p:spPr>
          <a:xfrm>
            <a:off x="1022350" y="4127351"/>
            <a:ext cx="309145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real video stalls recorded in external WebRTC logs</a:t>
            </a:r>
            <a:endParaRPr lang="en-US" sz="1300" dirty="0"/>
          </a:p>
        </p:txBody>
      </p:sp>
      <p:sp>
        <p:nvSpPr>
          <p:cNvPr id="16" name="Shape 14"/>
          <p:cNvSpPr/>
          <p:nvPr/>
        </p:nvSpPr>
        <p:spPr>
          <a:xfrm>
            <a:off x="4388892" y="3372346"/>
            <a:ext cx="3414167" cy="1407071"/>
          </a:xfrm>
          <a:prstGeom prst="roundRect">
            <a:avLst>
              <a:gd name="adj" fmla="val 6995"/>
            </a:avLst>
          </a:prstGeom>
          <a:solidFill>
            <a:srgbClr val="FFFDF8"/>
          </a:solidFill>
          <a:ln w="6350">
            <a:solidFill>
              <a:srgbClr val="DAD6CB"/>
            </a:solidFill>
            <a:prstDash val="solid"/>
          </a:ln>
        </p:spPr>
      </p:sp>
      <p:sp>
        <p:nvSpPr>
          <p:cNvPr id="17" name="Text 15"/>
          <p:cNvSpPr/>
          <p:nvPr/>
        </p:nvSpPr>
        <p:spPr>
          <a:xfrm>
            <a:off x="4595267" y="3578721"/>
            <a:ext cx="30914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73,714</a:t>
            </a:r>
            <a:endParaRPr lang="en-US" sz="2800" dirty="0"/>
          </a:p>
        </p:txBody>
      </p:sp>
      <p:sp>
        <p:nvSpPr>
          <p:cNvPr id="18" name="Text 16"/>
          <p:cNvSpPr/>
          <p:nvPr/>
        </p:nvSpPr>
        <p:spPr>
          <a:xfrm>
            <a:off x="4595267" y="4127351"/>
            <a:ext cx="309145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video frames checked frame by frame, zero exceptions</a:t>
            </a:r>
            <a:endParaRPr lang="en-US" sz="1300" dirty="0"/>
          </a:p>
        </p:txBody>
      </p:sp>
      <p:sp>
        <p:nvSpPr>
          <p:cNvPr id="19" name="Shape 17"/>
          <p:cNvSpPr/>
          <p:nvPr/>
        </p:nvSpPr>
        <p:spPr>
          <a:xfrm>
            <a:off x="7958634" y="3369171"/>
            <a:ext cx="3420566" cy="1413421"/>
          </a:xfrm>
          <a:prstGeom prst="roundRect">
            <a:avLst>
              <a:gd name="adj" fmla="val 7188"/>
            </a:avLst>
          </a:prstGeom>
          <a:solidFill>
            <a:srgbClr val="14213D"/>
          </a:solidFill>
          <a:ln/>
        </p:spPr>
      </p:sp>
      <p:sp>
        <p:nvSpPr>
          <p:cNvPr id="20" name="Text 18"/>
          <p:cNvSpPr/>
          <p:nvPr/>
        </p:nvSpPr>
        <p:spPr>
          <a:xfrm>
            <a:off x="8161834" y="3572371"/>
            <a:ext cx="3104591"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A36B"/>
                </a:solidFill>
                <a:latin typeface="IBM Plex Sans" pitchFamily="34" charset="0"/>
                <a:ea typeface="IBM Plex Sans" pitchFamily="34" charset="-122"/>
                <a:cs typeface="IBM Plex Sans" pitchFamily="34" charset="-120"/>
              </a:rPr>
              <a:t>Optional</a:t>
            </a:r>
            <a:endParaRPr lang="en-US" sz="2800" dirty="0"/>
          </a:p>
        </p:txBody>
      </p:sp>
      <p:sp>
        <p:nvSpPr>
          <p:cNvPr id="21" name="Text 19"/>
          <p:cNvSpPr/>
          <p:nvPr/>
        </p:nvSpPr>
        <p:spPr>
          <a:xfrm>
            <a:off x="8161834" y="4121001"/>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9C3D6"/>
                </a:solidFill>
                <a:latin typeface="IBM Plex Sans" pitchFamily="34" charset="0"/>
                <a:ea typeface="IBM Plex Sans" pitchFamily="34" charset="-122"/>
                <a:cs typeface="IBM Plex Sans" pitchFamily="34" charset="-120"/>
              </a:rPr>
              <a:t>controlled fault injection (30–35 h) is no longer required</a:t>
            </a:r>
            <a:endParaRPr lang="en-US" sz="1300" dirty="0"/>
          </a:p>
        </p:txBody>
      </p:sp>
      <p:sp>
        <p:nvSpPr>
          <p:cNvPr id="22" name="Text 20"/>
          <p:cNvSpPr/>
          <p:nvPr/>
        </p:nvSpPr>
        <p:spPr>
          <a:xfrm>
            <a:off x="812800" y="503659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372"/>
                </a:solidFill>
                <a:latin typeface="IBM Plex Sans" pitchFamily="34" charset="0"/>
                <a:ea typeface="IBM Plex Sans" pitchFamily="34" charset="-122"/>
                <a:cs typeface="IBM Plex Sans" pitchFamily="34" charset="-120"/>
              </a:rPr>
              <a:t>For NSF, this matters: new data collection is out of scope, and we have shown we do not need any.</a:t>
            </a:r>
            <a:endParaRPr lang="en-US" sz="1400" dirty="0"/>
          </a:p>
        </p:txBody>
      </p:sp>
      <p:sp>
        <p:nvSpPr>
          <p:cNvPr id="23" name="Text 21"/>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24" name="Text 22"/>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2 OF 7</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The software misdescribes its own behavior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18184"/>
        </p:xfrm>
        <a:graphic>
          <a:graphicData uri="http://schemas.openxmlformats.org/drawingml/2006/table">
            <a:tbl>
              <a:tblPr/>
              <a:tblGrid>
                <a:gridCol w="4432554"/>
                <a:gridCol w="6121146"/>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What the software says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What we measured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Help file lists 8 binning methods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The live tool offers 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Version 5.33.0.15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Does not pin the binaries: two Wireshark generations (3.2 and 3.6) ship side by 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Both tables have a Chip Time column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App layer and radio layer differ by exactly 5 hours; neither side reports an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CLI or GUI model build is a convenience choice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CLI-built models silently lack a whole class of outputs (MSG_FILTER tables: 337 →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Packet Message view opens, 225 rows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Protocol is all "Unknown"; all 28 backend fields are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4637435"/>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372"/>
                </a:solidFill>
                <a:latin typeface="IBM Plex Sans" pitchFamily="34" charset="0"/>
                <a:ea typeface="IBM Plex Sans" pitchFamily="34" charset="-122"/>
                <a:cs typeface="IBM Plex Sans" pitchFamily="34" charset="-120"/>
              </a:rPr>
              <a:t>5 of 13 findings shown. All 13 come from 10+ independent investigation lines, measured on the live tool or the full database, not taken from the literature.</a:t>
            </a:r>
            <a:endParaRPr lang="en-US" sz="1300" dirty="0"/>
          </a:p>
        </p:txBody>
      </p:sp>
      <p:sp>
        <p:nvSpPr>
          <p:cNvPr id="6" name="Text 3"/>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3 OF 7</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Configuration decides the ground truth</a:t>
            </a:r>
            <a:endParaRPr lang="en-US" sz="3200" dirty="0"/>
          </a:p>
        </p:txBody>
      </p:sp>
      <p:sp>
        <p:nvSpPr>
          <p:cNvPr id="4" name="Shape 2"/>
          <p:cNvSpPr/>
          <p:nvPr/>
        </p:nvSpPr>
        <p:spPr>
          <a:xfrm>
            <a:off x="815975" y="1806525"/>
            <a:ext cx="5175250" cy="1905000"/>
          </a:xfrm>
          <a:prstGeom prst="roundRect">
            <a:avLst>
              <a:gd name="adj" fmla="val 5167"/>
            </a:avLst>
          </a:prstGeom>
          <a:solidFill>
            <a:srgbClr val="FFFDF8"/>
          </a:solidFill>
          <a:ln w="6350">
            <a:solidFill>
              <a:srgbClr val="DAD6CB"/>
            </a:solidFill>
            <a:prstDash val="solid"/>
          </a:ln>
        </p:spPr>
      </p:sp>
      <p:sp>
        <p:nvSpPr>
          <p:cNvPr id="5" name="Text 3"/>
          <p:cNvSpPr/>
          <p:nvPr/>
        </p:nvSpPr>
        <p:spPr>
          <a:xfrm>
            <a:off x="1073150" y="2063700"/>
            <a:ext cx="4800727"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B4441A"/>
                </a:solidFill>
                <a:latin typeface="Source Serif 4" pitchFamily="34" charset="0"/>
                <a:ea typeface="Source Serif 4" pitchFamily="34" charset="-122"/>
                <a:cs typeface="Source Serif 4" pitchFamily="34" charset="-120"/>
              </a:rPr>
              <a:t>−20.0</a:t>
            </a:r>
            <a:endParaRPr lang="en-US" sz="6000" dirty="0"/>
          </a:p>
        </p:txBody>
      </p:sp>
      <p:sp>
        <p:nvSpPr>
          <p:cNvPr id="6" name="Text 4"/>
          <p:cNvSpPr/>
          <p:nvPr/>
        </p:nvSpPr>
        <p:spPr>
          <a:xfrm>
            <a:off x="1073150" y="2940000"/>
            <a:ext cx="480072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A5C"/>
                </a:solidFill>
                <a:latin typeface="IBM Plex Sans" pitchFamily="34" charset="0"/>
                <a:ea typeface="IBM Plex Sans" pitchFamily="34" charset="-122"/>
                <a:cs typeface="IBM Plex Sans" pitchFamily="34" charset="-120"/>
              </a:rPr>
              <a:t>"Worst SINR" with the </a:t>
            </a:r>
            <a:r>
              <a:rPr lang="en-US" sz="1500" b="1" dirty="0">
                <a:solidFill>
                  <a:srgbClr val="3F4A5C"/>
                </a:solidFill>
                <a:latin typeface="IBM Plex Sans" pitchFamily="34" charset="0"/>
                <a:ea typeface="IBM Plex Sans" pitchFamily="34" charset="-122"/>
                <a:cs typeface="IBM Plex Sans" pitchFamily="34" charset="-120"/>
              </a:rPr>
              <a:t>All</a:t>
            </a:r>
            <a:r>
              <a:rPr lang="en-US" sz="1500" dirty="0">
                <a:solidFill>
                  <a:srgbClr val="3F4A5C"/>
                </a:solidFill>
                <a:latin typeface="IBM Plex Sans" pitchFamily="34" charset="0"/>
                <a:ea typeface="IBM Plex Sans" pitchFamily="34" charset="-122"/>
                <a:cs typeface="IBM Plex Sans" pitchFamily="34" charset="-120"/>
              </a:rPr>
              <a:t> sampling setting</a:t>
            </a:r>
            <a:endParaRPr lang="en-US" sz="1500" dirty="0"/>
          </a:p>
        </p:txBody>
      </p:sp>
      <p:sp>
        <p:nvSpPr>
          <p:cNvPr id="7" name="Shape 5"/>
          <p:cNvSpPr/>
          <p:nvPr/>
        </p:nvSpPr>
        <p:spPr>
          <a:xfrm>
            <a:off x="6200775" y="1806525"/>
            <a:ext cx="5175250" cy="1905000"/>
          </a:xfrm>
          <a:prstGeom prst="roundRect">
            <a:avLst>
              <a:gd name="adj" fmla="val 5167"/>
            </a:avLst>
          </a:prstGeom>
          <a:solidFill>
            <a:srgbClr val="FFFDF8"/>
          </a:solidFill>
          <a:ln w="6350">
            <a:solidFill>
              <a:srgbClr val="DAD6CB"/>
            </a:solidFill>
            <a:prstDash val="solid"/>
          </a:ln>
        </p:spPr>
      </p:sp>
      <p:sp>
        <p:nvSpPr>
          <p:cNvPr id="8" name="Text 6"/>
          <p:cNvSpPr/>
          <p:nvPr/>
        </p:nvSpPr>
        <p:spPr>
          <a:xfrm>
            <a:off x="6457950" y="2063700"/>
            <a:ext cx="4800727"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F4E8C"/>
                </a:solidFill>
                <a:latin typeface="Source Serif 4" pitchFamily="34" charset="0"/>
                <a:ea typeface="Source Serif 4" pitchFamily="34" charset="-122"/>
                <a:cs typeface="Source Serif 4" pitchFamily="34" charset="-120"/>
              </a:rPr>
              <a:t>−12.9</a:t>
            </a:r>
            <a:endParaRPr lang="en-US" sz="6000" dirty="0"/>
          </a:p>
        </p:txBody>
      </p:sp>
      <p:sp>
        <p:nvSpPr>
          <p:cNvPr id="9" name="Text 7"/>
          <p:cNvSpPr/>
          <p:nvPr/>
        </p:nvSpPr>
        <p:spPr>
          <a:xfrm>
            <a:off x="6457950" y="2940000"/>
            <a:ext cx="480072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A5C"/>
                </a:solidFill>
                <a:latin typeface="IBM Plex Sans" pitchFamily="34" charset="0"/>
                <a:ea typeface="IBM Plex Sans" pitchFamily="34" charset="-122"/>
                <a:cs typeface="IBM Plex Sans" pitchFamily="34" charset="-120"/>
              </a:rPr>
              <a:t>Same data, same question, </a:t>
            </a:r>
            <a:r>
              <a:rPr lang="en-US" sz="1500" b="1" dirty="0">
                <a:solidFill>
                  <a:srgbClr val="3F4A5C"/>
                </a:solidFill>
                <a:latin typeface="IBM Plex Sans" pitchFamily="34" charset="0"/>
                <a:ea typeface="IBM Plex Sans" pitchFamily="34" charset="-122"/>
                <a:cs typeface="IBM Plex Sans" pitchFamily="34" charset="-120"/>
              </a:rPr>
              <a:t>1 Sec</a:t>
            </a:r>
            <a:r>
              <a:rPr lang="en-US" sz="1500" dirty="0">
                <a:solidFill>
                  <a:srgbClr val="3F4A5C"/>
                </a:solidFill>
                <a:latin typeface="IBM Plex Sans" pitchFamily="34" charset="0"/>
                <a:ea typeface="IBM Plex Sans" pitchFamily="34" charset="-122"/>
                <a:cs typeface="IBM Plex Sans" pitchFamily="34" charset="-120"/>
              </a:rPr>
              <a:t> setting (the silent default)</a:t>
            </a:r>
            <a:endParaRPr lang="en-US" sz="1500" dirty="0"/>
          </a:p>
        </p:txBody>
      </p:sp>
      <p:sp>
        <p:nvSpPr>
          <p:cNvPr id="10" name="Shape 8"/>
          <p:cNvSpPr/>
          <p:nvPr/>
        </p:nvSpPr>
        <p:spPr>
          <a:xfrm>
            <a:off x="812800" y="3981400"/>
            <a:ext cx="3386634" cy="0"/>
          </a:xfrm>
          <a:prstGeom prst="line">
            <a:avLst/>
          </a:prstGeom>
          <a:noFill/>
          <a:ln w="25400">
            <a:solidFill>
              <a:srgbClr val="14213D"/>
            </a:solidFill>
            <a:prstDash val="solid"/>
          </a:ln>
        </p:spPr>
      </p:sp>
      <p:sp>
        <p:nvSpPr>
          <p:cNvPr id="11" name="Text 9"/>
          <p:cNvSpPr/>
          <p:nvPr/>
        </p:nvSpPr>
        <p:spPr>
          <a:xfrm>
            <a:off x="812800" y="4146500"/>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1 s</a:t>
            </a:r>
            <a:endParaRPr lang="en-US" sz="2200" dirty="0"/>
          </a:p>
        </p:txBody>
      </p:sp>
      <p:sp>
        <p:nvSpPr>
          <p:cNvPr id="12" name="Text 10"/>
          <p:cNvSpPr/>
          <p:nvPr/>
        </p:nvSpPr>
        <p:spPr>
          <a:xfrm>
            <a:off x="812800" y="4588421"/>
            <a:ext cx="348823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default averaging whenever sampling is not set explicitly</a:t>
            </a:r>
            <a:endParaRPr lang="en-US" sz="1300" dirty="0"/>
          </a:p>
        </p:txBody>
      </p:sp>
      <p:sp>
        <p:nvSpPr>
          <p:cNvPr id="13" name="Shape 11"/>
          <p:cNvSpPr/>
          <p:nvPr/>
        </p:nvSpPr>
        <p:spPr>
          <a:xfrm>
            <a:off x="4402634" y="3981400"/>
            <a:ext cx="3386683" cy="0"/>
          </a:xfrm>
          <a:prstGeom prst="line">
            <a:avLst/>
          </a:prstGeom>
          <a:noFill/>
          <a:ln w="25400">
            <a:solidFill>
              <a:srgbClr val="14213D"/>
            </a:solidFill>
            <a:prstDash val="solid"/>
          </a:ln>
        </p:spPr>
      </p:sp>
      <p:sp>
        <p:nvSpPr>
          <p:cNvPr id="14" name="Text 12"/>
          <p:cNvSpPr/>
          <p:nvPr/>
        </p:nvSpPr>
        <p:spPr>
          <a:xfrm>
            <a:off x="4402634" y="4146500"/>
            <a:ext cx="348828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17.6 s</a:t>
            </a:r>
            <a:endParaRPr lang="en-US" sz="2200" dirty="0"/>
          </a:p>
        </p:txBody>
      </p:sp>
      <p:sp>
        <p:nvSpPr>
          <p:cNvPr id="15" name="Text 13"/>
          <p:cNvSpPr/>
          <p:nvPr/>
        </p:nvSpPr>
        <p:spPr>
          <a:xfrm>
            <a:off x="4402634" y="4588421"/>
            <a:ext cx="34882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offset between two clocks in the same log, and drifting</a:t>
            </a:r>
            <a:endParaRPr lang="en-US" sz="1300" dirty="0"/>
          </a:p>
        </p:txBody>
      </p:sp>
      <p:sp>
        <p:nvSpPr>
          <p:cNvPr id="16" name="Shape 14"/>
          <p:cNvSpPr/>
          <p:nvPr/>
        </p:nvSpPr>
        <p:spPr>
          <a:xfrm>
            <a:off x="7992517" y="3981400"/>
            <a:ext cx="3386683" cy="0"/>
          </a:xfrm>
          <a:prstGeom prst="line">
            <a:avLst/>
          </a:prstGeom>
          <a:noFill/>
          <a:ln w="25400">
            <a:solidFill>
              <a:srgbClr val="14213D"/>
            </a:solidFill>
            <a:prstDash val="solid"/>
          </a:ln>
        </p:spPr>
      </p:sp>
      <p:sp>
        <p:nvSpPr>
          <p:cNvPr id="17" name="Text 15"/>
          <p:cNvSpPr/>
          <p:nvPr/>
        </p:nvSpPr>
        <p:spPr>
          <a:xfrm>
            <a:off x="7992517" y="4146500"/>
            <a:ext cx="348828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5</a:t>
            </a:r>
            <a:endParaRPr lang="en-US" sz="2200" dirty="0"/>
          </a:p>
        </p:txBody>
      </p:sp>
      <p:sp>
        <p:nvSpPr>
          <p:cNvPr id="18" name="Text 16"/>
          <p:cNvSpPr/>
          <p:nvPr/>
        </p:nvSpPr>
        <p:spPr>
          <a:xfrm>
            <a:off x="7992517" y="4588421"/>
            <a:ext cx="34882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A5C"/>
                </a:solidFill>
                <a:latin typeface="IBM Plex Sans" pitchFamily="34" charset="0"/>
                <a:ea typeface="IBM Plex Sans" pitchFamily="34" charset="-122"/>
                <a:cs typeface="IBM Plex Sans" pitchFamily="34" charset="-120"/>
              </a:rPr>
              <a:t>silent destructive defaults, from 4 independent vendor documents</a:t>
            </a:r>
            <a:endParaRPr lang="en-US" sz="1300" dirty="0"/>
          </a:p>
        </p:txBody>
      </p:sp>
      <p:sp>
        <p:nvSpPr>
          <p:cNvPr id="19" name="Text 17"/>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20" name="Text 1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4 OF 7</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There is no cheap signal of success</a:t>
            </a:r>
            <a:endParaRPr lang="en-US" sz="3200" dirty="0"/>
          </a:p>
        </p:txBody>
      </p:sp>
      <p:sp>
        <p:nvSpPr>
          <p:cNvPr id="4" name="Shape 2"/>
          <p:cNvSpPr/>
          <p:nvPr/>
        </p:nvSpPr>
        <p:spPr>
          <a:xfrm>
            <a:off x="815975" y="1857325"/>
            <a:ext cx="2219325" cy="979091"/>
          </a:xfrm>
          <a:prstGeom prst="roundRect">
            <a:avLst>
              <a:gd name="adj" fmla="val 10053"/>
            </a:avLst>
          </a:prstGeom>
          <a:solidFill>
            <a:srgbClr val="FFFDF8"/>
          </a:solidFill>
          <a:ln w="6350">
            <a:solidFill>
              <a:srgbClr val="DAD6CB"/>
            </a:solidFill>
            <a:prstDash val="solid"/>
          </a:ln>
        </p:spPr>
      </p:sp>
      <p:sp>
        <p:nvSpPr>
          <p:cNvPr id="5" name="Text 3"/>
          <p:cNvSpPr/>
          <p:nvPr/>
        </p:nvSpPr>
        <p:spPr>
          <a:xfrm>
            <a:off x="1022350" y="2063700"/>
            <a:ext cx="1860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Exit code</a:t>
            </a:r>
            <a:endParaRPr lang="en-US" sz="1200" dirty="0"/>
          </a:p>
        </p:txBody>
      </p:sp>
      <p:sp>
        <p:nvSpPr>
          <p:cNvPr id="6" name="Text 4"/>
          <p:cNvSpPr/>
          <p:nvPr/>
        </p:nvSpPr>
        <p:spPr>
          <a:xfrm>
            <a:off x="1022350" y="2327821"/>
            <a:ext cx="186077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OK</a:t>
            </a:r>
            <a:endParaRPr lang="en-US" sz="1700" dirty="0"/>
          </a:p>
        </p:txBody>
      </p:sp>
      <p:pic>
        <p:nvPicPr>
          <p:cNvPr id="7" name="Image 0" descr="connector">    </p:cNvPr>
          <p:cNvPicPr>
            <a:picLocks noChangeAspect="1"/>
          </p:cNvPicPr>
          <p:nvPr/>
        </p:nvPicPr>
        <p:blipFill>
          <a:blip r:embed="rId1"/>
          <a:srcRect l="0" r="0" t="0" b="0"/>
          <a:stretch/>
        </p:blipFill>
        <p:spPr>
          <a:xfrm>
            <a:off x="3140075" y="2308771"/>
            <a:ext cx="355600" cy="76200"/>
          </a:xfrm>
          <a:prstGeom prst="rect">
            <a:avLst/>
          </a:prstGeom>
        </p:spPr>
      </p:pic>
      <p:sp>
        <p:nvSpPr>
          <p:cNvPr id="8" name="Shape 5"/>
          <p:cNvSpPr/>
          <p:nvPr/>
        </p:nvSpPr>
        <p:spPr>
          <a:xfrm>
            <a:off x="3600450" y="1857325"/>
            <a:ext cx="2219325" cy="979091"/>
          </a:xfrm>
          <a:prstGeom prst="roundRect">
            <a:avLst>
              <a:gd name="adj" fmla="val 10053"/>
            </a:avLst>
          </a:prstGeom>
          <a:solidFill>
            <a:srgbClr val="FFFDF8"/>
          </a:solidFill>
          <a:ln w="6350">
            <a:solidFill>
              <a:srgbClr val="DAD6CB"/>
            </a:solidFill>
            <a:prstDash val="solid"/>
          </a:ln>
        </p:spPr>
      </p:sp>
      <p:sp>
        <p:nvSpPr>
          <p:cNvPr id="9" name="Text 6"/>
          <p:cNvSpPr/>
          <p:nvPr/>
        </p:nvSpPr>
        <p:spPr>
          <a:xfrm>
            <a:off x="3806825" y="2063700"/>
            <a:ext cx="1860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Output file</a:t>
            </a:r>
            <a:endParaRPr lang="en-US" sz="1200" dirty="0"/>
          </a:p>
        </p:txBody>
      </p:sp>
      <p:sp>
        <p:nvSpPr>
          <p:cNvPr id="10" name="Text 7"/>
          <p:cNvSpPr/>
          <p:nvPr/>
        </p:nvSpPr>
        <p:spPr>
          <a:xfrm>
            <a:off x="3806825" y="2327821"/>
            <a:ext cx="186077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Missing</a:t>
            </a:r>
            <a:endParaRPr lang="en-US" sz="1700" dirty="0"/>
          </a:p>
        </p:txBody>
      </p:sp>
      <p:pic>
        <p:nvPicPr>
          <p:cNvPr id="11" name="Image 1" descr="connector">    </p:cNvPr>
          <p:cNvPicPr>
            <a:picLocks noChangeAspect="1"/>
          </p:cNvPicPr>
          <p:nvPr/>
        </p:nvPicPr>
        <p:blipFill>
          <a:blip r:embed="rId2"/>
          <a:srcRect l="0" r="0" t="0" b="0"/>
          <a:stretch/>
        </p:blipFill>
        <p:spPr>
          <a:xfrm>
            <a:off x="5924550" y="2308771"/>
            <a:ext cx="355600" cy="76200"/>
          </a:xfrm>
          <a:prstGeom prst="rect">
            <a:avLst/>
          </a:prstGeom>
        </p:spPr>
      </p:pic>
      <p:sp>
        <p:nvSpPr>
          <p:cNvPr id="12" name="Shape 8"/>
          <p:cNvSpPr/>
          <p:nvPr/>
        </p:nvSpPr>
        <p:spPr>
          <a:xfrm>
            <a:off x="6384925" y="1857325"/>
            <a:ext cx="2219325" cy="979091"/>
          </a:xfrm>
          <a:prstGeom prst="roundRect">
            <a:avLst>
              <a:gd name="adj" fmla="val 10053"/>
            </a:avLst>
          </a:prstGeom>
          <a:solidFill>
            <a:srgbClr val="FFFDF8"/>
          </a:solidFill>
          <a:ln w="6350">
            <a:solidFill>
              <a:srgbClr val="DAD6CB"/>
            </a:solidFill>
            <a:prstDash val="solid"/>
          </a:ln>
        </p:spPr>
      </p:sp>
      <p:sp>
        <p:nvSpPr>
          <p:cNvPr id="13" name="Text 9"/>
          <p:cNvSpPr/>
          <p:nvPr/>
        </p:nvSpPr>
        <p:spPr>
          <a:xfrm>
            <a:off x="6591300" y="2063700"/>
            <a:ext cx="1860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Log</a:t>
            </a:r>
            <a:endParaRPr lang="en-US" sz="1200" dirty="0"/>
          </a:p>
        </p:txBody>
      </p:sp>
      <p:sp>
        <p:nvSpPr>
          <p:cNvPr id="14" name="Text 10"/>
          <p:cNvSpPr/>
          <p:nvPr/>
        </p:nvSpPr>
        <p:spPr>
          <a:xfrm>
            <a:off x="6591300" y="2327821"/>
            <a:ext cx="186077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"Start -"</a:t>
            </a:r>
            <a:endParaRPr lang="en-US" sz="1700" dirty="0"/>
          </a:p>
        </p:txBody>
      </p:sp>
      <p:pic>
        <p:nvPicPr>
          <p:cNvPr id="15" name="Image 2" descr="connector">    </p:cNvPr>
          <p:cNvPicPr>
            <a:picLocks noChangeAspect="1"/>
          </p:cNvPicPr>
          <p:nvPr/>
        </p:nvPicPr>
        <p:blipFill>
          <a:blip r:embed="rId3"/>
          <a:srcRect l="0" r="0" t="0" b="0"/>
          <a:stretch/>
        </p:blipFill>
        <p:spPr>
          <a:xfrm>
            <a:off x="8709025" y="2308771"/>
            <a:ext cx="355600" cy="76200"/>
          </a:xfrm>
          <a:prstGeom prst="rect">
            <a:avLst/>
          </a:prstGeom>
        </p:spPr>
      </p:pic>
      <p:sp>
        <p:nvSpPr>
          <p:cNvPr id="16" name="Shape 11"/>
          <p:cNvSpPr/>
          <p:nvPr/>
        </p:nvSpPr>
        <p:spPr>
          <a:xfrm>
            <a:off x="9166225" y="1860500"/>
            <a:ext cx="2212975" cy="972741"/>
          </a:xfrm>
          <a:prstGeom prst="roundRect">
            <a:avLst>
              <a:gd name="adj" fmla="val 10445"/>
            </a:avLst>
          </a:prstGeom>
          <a:solidFill>
            <a:srgbClr val="14213D"/>
          </a:solidFill>
          <a:ln/>
        </p:spPr>
      </p:sp>
      <p:sp>
        <p:nvSpPr>
          <p:cNvPr id="17" name="Text 12"/>
          <p:cNvSpPr/>
          <p:nvPr/>
        </p:nvSpPr>
        <p:spPr>
          <a:xfrm>
            <a:off x="9369425" y="2063700"/>
            <a:ext cx="1860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IBM Plex Sans" pitchFamily="34" charset="0"/>
                <a:ea typeface="IBM Plex Sans" pitchFamily="34" charset="-122"/>
                <a:cs typeface="IBM Plex Sans" pitchFamily="34" charset="-120"/>
              </a:rPr>
              <a:t>The truth</a:t>
            </a:r>
            <a:endParaRPr lang="en-US" sz="1200" dirty="0"/>
          </a:p>
        </p:txBody>
      </p:sp>
      <p:sp>
        <p:nvSpPr>
          <p:cNvPr id="18" name="Text 13"/>
          <p:cNvSpPr/>
          <p:nvPr/>
        </p:nvSpPr>
        <p:spPr>
          <a:xfrm>
            <a:off x="9369425" y="2327821"/>
            <a:ext cx="186077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A36B"/>
                </a:solidFill>
                <a:latin typeface="IBM Plex Sans" pitchFamily="34" charset="0"/>
                <a:ea typeface="IBM Plex Sans" pitchFamily="34" charset="-122"/>
                <a:cs typeface="IBM Plex Sans" pitchFamily="34" charset="-120"/>
              </a:rPr>
              <a:t>File mtime</a:t>
            </a:r>
            <a:endParaRPr lang="en-US" sz="1700" dirty="0"/>
          </a:p>
        </p:txBody>
      </p:sp>
      <p:sp>
        <p:nvSpPr>
          <p:cNvPr id="19" name="Text 14"/>
          <p:cNvSpPr/>
          <p:nvPr/>
        </p:nvSpPr>
        <p:spPr>
          <a:xfrm>
            <a:off x="812800" y="3144391"/>
            <a:ext cx="98107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F4A5C"/>
                </a:solidFill>
                <a:latin typeface="IBM Plex Sans" pitchFamily="34" charset="0"/>
                <a:ea typeface="IBM Plex Sans" pitchFamily="34" charset="-122"/>
                <a:cs typeface="IBM Plex Sans" pitchFamily="34" charset="-120"/>
              </a:rPr>
              <a:t>The real outcome was in the fourth place we looked. We reproduced it under control, so this is our strongest grade of evidence.</a:t>
            </a:r>
            <a:endParaRPr lang="en-US" sz="1800" dirty="0"/>
          </a:p>
        </p:txBody>
      </p:sp>
      <p:sp>
        <p:nvSpPr>
          <p:cNvPr id="20" name="Text 15"/>
          <p:cNvSpPr/>
          <p:nvPr/>
        </p:nvSpPr>
        <p:spPr>
          <a:xfrm>
            <a:off x="812800" y="4089251"/>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B6372"/>
                </a:solidFill>
                <a:latin typeface="IBM Plex Sans" pitchFamily="34" charset="0"/>
                <a:ea typeface="IBM Plex Sans" pitchFamily="34" charset="-122"/>
                <a:cs typeface="IBM Plex Sans" pitchFamily="34" charset="-120"/>
              </a:rPr>
              <a:t>Consequence: even data extracted by hand today can carry silent semantic errors. AI-readiness starts with knowing what the tool actually computed.</a:t>
            </a:r>
            <a:endParaRPr lang="en-US" sz="1500" dirty="0"/>
          </a:p>
        </p:txBody>
      </p:sp>
      <p:sp>
        <p:nvSpPr>
          <p:cNvPr id="21" name="Text 16"/>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22"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5 OF 7 · WEEKS 1–2 EXPLORATION</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More places where the truth is hidden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298700"/>
        </p:xfrm>
        <a:graphic>
          <a:graphicData uri="http://schemas.openxmlformats.org/drawingml/2006/table">
            <a:tbl>
              <a:tblPr/>
              <a:tblGrid>
                <a:gridCol w="2743962"/>
                <a:gridCol w="7809738"/>
              </a:tblGrid>
              <a:tr h="346075">
                <a:tc>
                  <a:txBody>
                    <a:bodyPr/>
                    <a:lstStyle/>
                    <a:p>
                      <a:pPr indent="0" marL="0">
                        <a:lnSpc>
                          <a:spcPts val="1750"/>
                        </a:lnSpc>
                        <a:buNone/>
                      </a:pPr>
                      <a:r>
                        <a:rPr lang="en-US" sz="1250" b="1" dirty="0">
                          <a:solidFill>
                            <a:srgbClr val="14213D"/>
                          </a:solidFill>
                          <a:latin typeface="IBM Plex Sans" pitchFamily="34" charset="0"/>
                          <a:ea typeface="IBM Plex Sans" pitchFamily="34" charset="-122"/>
                          <a:cs typeface="IBM Plex Sans" pitchFamily="34" charset="-120"/>
                        </a:rPr>
                        <a:t>What we probed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750"/>
                        </a:lnSpc>
                        <a:buNone/>
                      </a:pPr>
                      <a:r>
                        <a:rPr lang="en-US" sz="1250" b="1" dirty="0">
                          <a:solidFill>
                            <a:srgbClr val="14213D"/>
                          </a:solidFill>
                          <a:latin typeface="IBM Plex Sans" pitchFamily="34" charset="0"/>
                          <a:ea typeface="IBM Plex Sans" pitchFamily="34" charset="-122"/>
                          <a:cs typeface="IBM Plex Sans" pitchFamily="34" charset="-120"/>
                        </a:rPr>
                        <a:t>What we found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46075">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Handover vs. data gap</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Only 8 of 62 handovers leave a trace in RLC throughput at the 1 s default; 87% are invisible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"Stable co-occurrence"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Same data, same question: 15, 11, 4, 1 or 0 answers, depending only on the criterion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A "read-only" run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Does not exist: ~20 settings files (over 1.6 MB) are rewritten, and 8 more on exit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68325">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The CLI log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Selectively silent: full command if accepted, error code only if a pre-check fails, nothing for an unknown switch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Limit messages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750"/>
                        </a:lnSpc>
                        <a:buNone/>
                      </a:pPr>
                      <a:r>
                        <a:rPr lang="en-US" sz="1250" dirty="0">
                          <a:solidFill>
                            <a:srgbClr val="3F4A5C"/>
                          </a:solidFill>
                          <a:latin typeface="IBM Plex Sans" pitchFamily="34" charset="0"/>
                          <a:ea typeface="IBM Plex Sans" pitchFamily="34" charset="-122"/>
                          <a:cs typeface="IBM Plex Sans" pitchFamily="34" charset="-120"/>
                        </a:rPr>
                        <a:t>24 of 34 are hard-coded (70.6%), and the one limit users can change is among them</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6 OF 7</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An independent path can check the tool</a:t>
            </a:r>
            <a:endParaRPr lang="en-US" sz="3200" dirty="0"/>
          </a:p>
        </p:txBody>
      </p:sp>
      <p:sp>
        <p:nvSpPr>
          <p:cNvPr id="4" name="Shape 2"/>
          <p:cNvSpPr/>
          <p:nvPr/>
        </p:nvSpPr>
        <p:spPr>
          <a:xfrm>
            <a:off x="815975" y="1933525"/>
            <a:ext cx="2025650" cy="819150"/>
          </a:xfrm>
          <a:prstGeom prst="roundRect">
            <a:avLst>
              <a:gd name="adj" fmla="val 12016"/>
            </a:avLst>
          </a:prstGeom>
          <a:solidFill>
            <a:srgbClr val="FFFDF8"/>
          </a:solidFill>
          <a:ln w="6350">
            <a:solidFill>
              <a:srgbClr val="DAD6CB"/>
            </a:solidFill>
            <a:prstDash val="solid"/>
          </a:ln>
        </p:spPr>
      </p:sp>
      <p:sp>
        <p:nvSpPr>
          <p:cNvPr id="5" name="Text 3"/>
          <p:cNvSpPr/>
          <p:nvPr/>
        </p:nvSpPr>
        <p:spPr>
          <a:xfrm>
            <a:off x="971550" y="2089100"/>
            <a:ext cx="1765935"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Vendor software (XCAP)</a:t>
            </a:r>
            <a:endParaRPr lang="en-US" sz="1400" dirty="0"/>
          </a:p>
        </p:txBody>
      </p:sp>
      <p:sp>
        <p:nvSpPr>
          <p:cNvPr id="6" name="Shape 4"/>
          <p:cNvSpPr/>
          <p:nvPr/>
        </p:nvSpPr>
        <p:spPr>
          <a:xfrm>
            <a:off x="815975" y="3521025"/>
            <a:ext cx="2025650" cy="819150"/>
          </a:xfrm>
          <a:prstGeom prst="roundRect">
            <a:avLst>
              <a:gd name="adj" fmla="val 12016"/>
            </a:avLst>
          </a:prstGeom>
          <a:solidFill>
            <a:srgbClr val="FFFDF8"/>
          </a:solidFill>
          <a:ln w="6350">
            <a:solidFill>
              <a:srgbClr val="DAD6CB"/>
            </a:solidFill>
            <a:prstDash val="solid"/>
          </a:ln>
        </p:spPr>
      </p:sp>
      <p:sp>
        <p:nvSpPr>
          <p:cNvPr id="7" name="Text 5"/>
          <p:cNvSpPr/>
          <p:nvPr/>
        </p:nvSpPr>
        <p:spPr>
          <a:xfrm>
            <a:off x="971550" y="3676600"/>
            <a:ext cx="1765935"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IBM Plex Sans" pitchFamily="34" charset="0"/>
                <a:ea typeface="IBM Plex Sans" pitchFamily="34" charset="-122"/>
                <a:cs typeface="IBM Plex Sans" pitchFamily="34" charset="-120"/>
              </a:rPr>
              <a:t>Our independent parser</a:t>
            </a:r>
            <a:endParaRPr lang="en-US" sz="1400" dirty="0"/>
          </a:p>
        </p:txBody>
      </p:sp>
      <p:sp>
        <p:nvSpPr>
          <p:cNvPr id="8" name="Shape 6"/>
          <p:cNvSpPr/>
          <p:nvPr/>
        </p:nvSpPr>
        <p:spPr>
          <a:xfrm>
            <a:off x="3606800" y="2724100"/>
            <a:ext cx="2032000" cy="825500"/>
          </a:xfrm>
          <a:prstGeom prst="roundRect">
            <a:avLst>
              <a:gd name="adj" fmla="val 12308"/>
            </a:avLst>
          </a:prstGeom>
          <a:solidFill>
            <a:srgbClr val="14213D"/>
          </a:solidFill>
          <a:ln/>
        </p:spPr>
      </p:sp>
      <p:sp>
        <p:nvSpPr>
          <p:cNvPr id="9" name="Text 7"/>
          <p:cNvSpPr/>
          <p:nvPr/>
        </p:nvSpPr>
        <p:spPr>
          <a:xfrm>
            <a:off x="3759200" y="2876500"/>
            <a:ext cx="1779016"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4F1EA"/>
                </a:solidFill>
                <a:latin typeface="IBM Plex Sans" pitchFamily="34" charset="0"/>
                <a:ea typeface="IBM Plex Sans" pitchFamily="34" charset="-122"/>
                <a:cs typeface="IBM Plex Sans" pitchFamily="34" charset="-120"/>
              </a:rPr>
              <a:t>Cross-check → auditable result</a:t>
            </a:r>
            <a:endParaRPr lang="en-US" sz="1400" dirty="0"/>
          </a:p>
        </p:txBody>
      </p:sp>
      <p:pic>
        <p:nvPicPr>
          <p:cNvPr id="10" name="Image 0" descr="connector">    </p:cNvPr>
          <p:cNvPicPr>
            <a:picLocks noChangeAspect="1"/>
          </p:cNvPicPr>
          <p:nvPr/>
        </p:nvPicPr>
        <p:blipFill>
          <a:blip r:embed="rId1"/>
          <a:srcRect l="0" r="0" t="0" b="0"/>
          <a:stretch/>
        </p:blipFill>
        <p:spPr>
          <a:xfrm>
            <a:off x="2794000" y="2292300"/>
            <a:ext cx="863600" cy="768350"/>
          </a:xfrm>
          <a:prstGeom prst="rect">
            <a:avLst/>
          </a:prstGeom>
        </p:spPr>
      </p:pic>
      <p:pic>
        <p:nvPicPr>
          <p:cNvPr id="11" name="Image 1" descr="connector">    </p:cNvPr>
          <p:cNvPicPr>
            <a:picLocks noChangeAspect="1"/>
          </p:cNvPicPr>
          <p:nvPr/>
        </p:nvPicPr>
        <p:blipFill>
          <a:blip r:embed="rId2"/>
          <a:srcRect l="0" r="0" t="0" b="0"/>
          <a:stretch/>
        </p:blipFill>
        <p:spPr>
          <a:xfrm>
            <a:off x="2794000" y="3213050"/>
            <a:ext cx="863600" cy="768350"/>
          </a:xfrm>
          <a:prstGeom prst="rect">
            <a:avLst/>
          </a:prstGeom>
        </p:spPr>
      </p:pic>
      <p:sp>
        <p:nvSpPr>
          <p:cNvPr id="12" name="Text 8"/>
          <p:cNvSpPr/>
          <p:nvPr/>
        </p:nvSpPr>
        <p:spPr>
          <a:xfrm>
            <a:off x="6045200" y="1803350"/>
            <a:ext cx="54940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4E8C"/>
                </a:solidFill>
                <a:latin typeface="IBM Plex Sans" pitchFamily="34" charset="0"/>
                <a:ea typeface="IBM Plex Sans" pitchFamily="34" charset="-122"/>
                <a:cs typeface="IBM Plex Sans" pitchFamily="34" charset="-120"/>
              </a:rPr>
              <a:t>283 MB/s</a:t>
            </a:r>
            <a:endParaRPr lang="en-US" sz="2200" dirty="0"/>
          </a:p>
        </p:txBody>
      </p:sp>
      <p:sp>
        <p:nvSpPr>
          <p:cNvPr id="13" name="Text 9"/>
          <p:cNvSpPr/>
          <p:nvPr/>
        </p:nvSpPr>
        <p:spPr>
          <a:xfrm>
            <a:off x="6045200" y="2219871"/>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raw container fully decoded; 15.3 GB, zero resyncs, 4 product lines</a:t>
            </a:r>
            <a:endParaRPr lang="en-US" sz="1300" dirty="0"/>
          </a:p>
        </p:txBody>
      </p:sp>
      <p:sp>
        <p:nvSpPr>
          <p:cNvPr id="14" name="Text 10"/>
          <p:cNvSpPr/>
          <p:nvPr/>
        </p:nvSpPr>
        <p:spPr>
          <a:xfrm>
            <a:off x="6045200" y="2603401"/>
            <a:ext cx="54940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4E8C"/>
                </a:solidFill>
                <a:latin typeface="IBM Plex Sans" pitchFamily="34" charset="0"/>
                <a:ea typeface="IBM Plex Sans" pitchFamily="34" charset="-122"/>
                <a:cs typeface="IBM Plex Sans" pitchFamily="34" charset="-120"/>
              </a:rPr>
              <a:t>99.4%</a:t>
            </a:r>
            <a:endParaRPr lang="en-US" sz="2200" dirty="0"/>
          </a:p>
        </p:txBody>
      </p:sp>
      <p:sp>
        <p:nvSpPr>
          <p:cNvPr id="15" name="Text 11"/>
          <p:cNvSpPr/>
          <p:nvPr/>
        </p:nvSpPr>
        <p:spPr>
          <a:xfrm>
            <a:off x="6045200" y="3019921"/>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L1 per-code reconciliation (165 of 166)</a:t>
            </a:r>
            <a:endParaRPr lang="en-US" sz="1300" dirty="0"/>
          </a:p>
        </p:txBody>
      </p:sp>
      <p:sp>
        <p:nvSpPr>
          <p:cNvPr id="16" name="Text 12"/>
          <p:cNvSpPr/>
          <p:nvPr/>
        </p:nvSpPr>
        <p:spPr>
          <a:xfrm>
            <a:off x="6045200" y="3403451"/>
            <a:ext cx="54940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4E8C"/>
                </a:solidFill>
                <a:latin typeface="IBM Plex Sans" pitchFamily="34" charset="0"/>
                <a:ea typeface="IBM Plex Sans" pitchFamily="34" charset="-122"/>
                <a:cs typeface="IBM Plex Sans" pitchFamily="34" charset="-120"/>
              </a:rPr>
              <a:t>50 / 50</a:t>
            </a:r>
            <a:endParaRPr lang="en-US" sz="2200" dirty="0"/>
          </a:p>
        </p:txBody>
      </p:sp>
      <p:sp>
        <p:nvSpPr>
          <p:cNvPr id="17" name="Text 13"/>
          <p:cNvSpPr/>
          <p:nvPr/>
        </p:nvSpPr>
        <p:spPr>
          <a:xfrm>
            <a:off x="6045200" y="3819971"/>
            <a:ext cx="54940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L2 two-path cross-check; field mapping 21 of 21</a:t>
            </a:r>
            <a:endParaRPr lang="en-US" sz="1300" dirty="0"/>
          </a:p>
        </p:txBody>
      </p:sp>
      <p:sp>
        <p:nvSpPr>
          <p:cNvPr id="18" name="Text 14"/>
          <p:cNvSpPr/>
          <p:nvPr/>
        </p:nvSpPr>
        <p:spPr>
          <a:xfrm>
            <a:off x="812800" y="47243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372"/>
                </a:solidFill>
                <a:latin typeface="IBM Plex Sans" pitchFamily="34" charset="0"/>
                <a:ea typeface="IBM Plex Sans" pitchFamily="34" charset="-122"/>
                <a:cs typeface="IBM Plex Sans" pitchFamily="34" charset="-120"/>
              </a:rPr>
              <a:t>Lesson: first prove the two paths are independent. A backend table that mirrors the export is not a second path.</a:t>
            </a:r>
            <a:endParaRPr lang="en-US" sz="1400" dirty="0"/>
          </a:p>
        </p:txBody>
      </p:sp>
      <p:sp>
        <p:nvSpPr>
          <p:cNvPr id="19" name="Text 15"/>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20" name="Text 1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WHAT WE FOUND · 7 OF 7 · MODEL PROBES</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The bottleneck moved from seeing to meaning</a:t>
            </a:r>
            <a:endParaRPr lang="en-US" sz="3200" dirty="0"/>
          </a:p>
        </p:txBody>
      </p:sp>
      <p:sp>
        <p:nvSpPr>
          <p:cNvPr id="4" name="Shape 2"/>
          <p:cNvSpPr/>
          <p:nvPr/>
        </p:nvSpPr>
        <p:spPr>
          <a:xfrm>
            <a:off x="815975" y="1806525"/>
            <a:ext cx="5181600" cy="2739330"/>
          </a:xfrm>
          <a:prstGeom prst="roundRect">
            <a:avLst>
              <a:gd name="adj" fmla="val 3593"/>
            </a:avLst>
          </a:prstGeom>
          <a:solidFill>
            <a:srgbClr val="FFFDF8"/>
          </a:solidFill>
          <a:ln w="6350">
            <a:solidFill>
              <a:srgbClr val="DAD6CB"/>
            </a:solidFill>
            <a:prstDash val="solid"/>
          </a:ln>
        </p:spPr>
      </p:sp>
      <p:sp>
        <p:nvSpPr>
          <p:cNvPr id="5" name="Text 3"/>
          <p:cNvSpPr/>
          <p:nvPr/>
        </p:nvSpPr>
        <p:spPr>
          <a:xfrm>
            <a:off x="1073150" y="2063700"/>
            <a:ext cx="48072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Largely solved by frontier models</a:t>
            </a:r>
            <a:endParaRPr lang="en-US" sz="1600" dirty="0"/>
          </a:p>
        </p:txBody>
      </p:sp>
      <p:sp>
        <p:nvSpPr>
          <p:cNvPr id="6" name="Text 4"/>
          <p:cNvSpPr/>
          <p:nvPr/>
        </p:nvSpPr>
        <p:spPr>
          <a:xfrm>
            <a:off x="1073150" y="2434530"/>
            <a:ext cx="4807268"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92.7%</a:t>
            </a:r>
            <a:endParaRPr lang="en-US" sz="2800" dirty="0"/>
          </a:p>
        </p:txBody>
      </p:sp>
      <p:sp>
        <p:nvSpPr>
          <p:cNvPr id="7" name="Text 5"/>
          <p:cNvSpPr/>
          <p:nvPr/>
        </p:nvSpPr>
        <p:spPr>
          <a:xfrm>
            <a:off x="1073150" y="2957761"/>
            <a:ext cx="48072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ScreenSpot-Pro: finding the right control on screen</a:t>
            </a:r>
            <a:endParaRPr lang="en-US" sz="1300" dirty="0"/>
          </a:p>
        </p:txBody>
      </p:sp>
      <p:sp>
        <p:nvSpPr>
          <p:cNvPr id="8" name="Text 6"/>
          <p:cNvSpPr/>
          <p:nvPr/>
        </p:nvSpPr>
        <p:spPr>
          <a:xfrm>
            <a:off x="1073150" y="3315891"/>
            <a:ext cx="4807268"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4E8C"/>
                </a:solidFill>
                <a:latin typeface="IBM Plex Sans" pitchFamily="34" charset="0"/>
                <a:ea typeface="IBM Plex Sans" pitchFamily="34" charset="-122"/>
                <a:cs typeface="IBM Plex Sans" pitchFamily="34" charset="-120"/>
              </a:rPr>
              <a:t>96.3%</a:t>
            </a:r>
            <a:endParaRPr lang="en-US" sz="2800" dirty="0"/>
          </a:p>
        </p:txBody>
      </p:sp>
      <p:sp>
        <p:nvSpPr>
          <p:cNvPr id="9" name="Text 7"/>
          <p:cNvSpPr/>
          <p:nvPr/>
        </p:nvSpPr>
        <p:spPr>
          <a:xfrm>
            <a:off x="1073150" y="3839121"/>
            <a:ext cx="48072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MRCR: reading very long context</a:t>
            </a:r>
            <a:endParaRPr lang="en-US" sz="1300" dirty="0"/>
          </a:p>
        </p:txBody>
      </p:sp>
      <p:sp>
        <p:nvSpPr>
          <p:cNvPr id="10" name="Shape 8"/>
          <p:cNvSpPr/>
          <p:nvPr/>
        </p:nvSpPr>
        <p:spPr>
          <a:xfrm>
            <a:off x="6203950" y="1803350"/>
            <a:ext cx="5175250" cy="2745680"/>
          </a:xfrm>
          <a:prstGeom prst="roundRect">
            <a:avLst>
              <a:gd name="adj" fmla="val 3700"/>
            </a:avLst>
          </a:prstGeom>
          <a:solidFill>
            <a:srgbClr val="14213D"/>
          </a:solidFill>
          <a:ln/>
        </p:spPr>
      </p:sp>
      <p:sp>
        <p:nvSpPr>
          <p:cNvPr id="11" name="Text 9"/>
          <p:cNvSpPr/>
          <p:nvPr/>
        </p:nvSpPr>
        <p:spPr>
          <a:xfrm>
            <a:off x="6457950" y="2057350"/>
            <a:ext cx="48072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IBM Plex Sans" pitchFamily="34" charset="0"/>
                <a:ea typeface="IBM Plex Sans" pitchFamily="34" charset="-122"/>
                <a:cs typeface="IBM Plex Sans" pitchFamily="34" charset="-120"/>
              </a:rPr>
              <a:t>Not solved: what the tool computes</a:t>
            </a:r>
            <a:endParaRPr lang="en-US" sz="1600" dirty="0"/>
          </a:p>
        </p:txBody>
      </p:sp>
      <p:sp>
        <p:nvSpPr>
          <p:cNvPr id="12" name="Text 10"/>
          <p:cNvSpPr/>
          <p:nvPr/>
        </p:nvSpPr>
        <p:spPr>
          <a:xfrm>
            <a:off x="6457950" y="2428180"/>
            <a:ext cx="4807268"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A36B"/>
                </a:solidFill>
                <a:latin typeface="IBM Plex Sans" pitchFamily="34" charset="0"/>
                <a:ea typeface="IBM Plex Sans" pitchFamily="34" charset="-122"/>
                <a:cs typeface="IBM Plex Sans" pitchFamily="34" charset="-120"/>
              </a:rPr>
              <a:t>12 / 15</a:t>
            </a:r>
            <a:endParaRPr lang="en-US" sz="2800" dirty="0"/>
          </a:p>
        </p:txBody>
      </p:sp>
      <p:sp>
        <p:nvSpPr>
          <p:cNvPr id="13" name="Text 11"/>
          <p:cNvSpPr/>
          <p:nvPr/>
        </p:nvSpPr>
        <p:spPr>
          <a:xfrm>
            <a:off x="6457950" y="2951411"/>
            <a:ext cx="480726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open-book runs reported that search found nothing on XCAP</a:t>
            </a:r>
            <a:endParaRPr lang="en-US" sz="1300" dirty="0"/>
          </a:p>
        </p:txBody>
      </p:sp>
      <p:sp>
        <p:nvSpPr>
          <p:cNvPr id="14" name="Text 12"/>
          <p:cNvSpPr/>
          <p:nvPr/>
        </p:nvSpPr>
        <p:spPr>
          <a:xfrm>
            <a:off x="6457950" y="3309541"/>
            <a:ext cx="4807268"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A36B"/>
                </a:solidFill>
                <a:latin typeface="IBM Plex Sans" pitchFamily="34" charset="0"/>
                <a:ea typeface="IBM Plex Sans" pitchFamily="34" charset="-122"/>
                <a:cs typeface="IBM Plex Sans" pitchFamily="34" charset="-120"/>
              </a:rPr>
              <a:t>3 / 3</a:t>
            </a:r>
            <a:endParaRPr lang="en-US" sz="2800" dirty="0"/>
          </a:p>
        </p:txBody>
      </p:sp>
      <p:sp>
        <p:nvSpPr>
          <p:cNvPr id="15" name="Text 13"/>
          <p:cNvSpPr/>
          <p:nvPr/>
        </p:nvSpPr>
        <p:spPr>
          <a:xfrm>
            <a:off x="6457950" y="3832771"/>
            <a:ext cx="48072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times the only hit, a vendor product page, was judged insufficient by the model itself</a:t>
            </a:r>
            <a:endParaRPr lang="en-US" sz="1300" dirty="0"/>
          </a:p>
        </p:txBody>
      </p:sp>
      <p:sp>
        <p:nvSpPr>
          <p:cNvPr id="16" name="Text 14"/>
          <p:cNvSpPr/>
          <p:nvPr/>
        </p:nvSpPr>
        <p:spPr>
          <a:xfrm>
            <a:off x="812800" y="4803031"/>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372"/>
                </a:solidFill>
                <a:latin typeface="IBM Plex Sans" pitchFamily="34" charset="0"/>
                <a:ea typeface="IBM Plex Sans" pitchFamily="34" charset="-122"/>
                <a:cs typeface="IBM Plex Sans" pitchFamily="34" charset="-120"/>
              </a:rPr>
              <a:t>First probe round: 45 runs. The headline score (1 of 5) is capped by question design and is being rewritten; the no-public-corpus finding is the robust one.</a:t>
            </a:r>
            <a:endParaRPr lang="en-US" sz="1300" dirty="0"/>
          </a:p>
        </p:txBody>
      </p:sp>
      <p:sp>
        <p:nvSpPr>
          <p:cNvPr id="17" name="Text 15"/>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18" name="Text 1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A missing layer between bytes and science</a:t>
            </a:r>
            <a:endParaRPr lang="en-US" sz="3200" dirty="0"/>
          </a:p>
        </p:txBody>
      </p:sp>
      <p:sp>
        <p:nvSpPr>
          <p:cNvPr id="4" name="Shape 2"/>
          <p:cNvSpPr/>
          <p:nvPr/>
        </p:nvSpPr>
        <p:spPr>
          <a:xfrm>
            <a:off x="815975" y="1857325"/>
            <a:ext cx="2016820" cy="1459111"/>
          </a:xfrm>
          <a:prstGeom prst="roundRect">
            <a:avLst>
              <a:gd name="adj" fmla="val 6746"/>
            </a:avLst>
          </a:prstGeom>
          <a:solidFill>
            <a:srgbClr val="FFFDF8"/>
          </a:solidFill>
          <a:ln w="6350">
            <a:solidFill>
              <a:srgbClr val="DAD6CB"/>
            </a:solidFill>
            <a:prstDash val="solid"/>
          </a:ln>
        </p:spPr>
      </p:sp>
      <p:sp>
        <p:nvSpPr>
          <p:cNvPr id="5" name="Text 3"/>
          <p:cNvSpPr/>
          <p:nvPr/>
        </p:nvSpPr>
        <p:spPr>
          <a:xfrm>
            <a:off x="1022350" y="2063700"/>
            <a:ext cx="16548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Raw files</a:t>
            </a:r>
            <a:endParaRPr lang="en-US" sz="1600" dirty="0"/>
          </a:p>
        </p:txBody>
      </p:sp>
      <p:sp>
        <p:nvSpPr>
          <p:cNvPr id="6" name="Text 4"/>
          <p:cNvSpPr/>
          <p:nvPr/>
        </p:nvSpPr>
        <p:spPr>
          <a:xfrm>
            <a:off x="1022350" y="2398961"/>
            <a:ext cx="1654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bytes on disk</a:t>
            </a:r>
            <a:endParaRPr lang="en-US" sz="1200" dirty="0"/>
          </a:p>
        </p:txBody>
      </p:sp>
      <p:pic>
        <p:nvPicPr>
          <p:cNvPr id="7" name="Image 0" descr="connector">    </p:cNvPr>
          <p:cNvPicPr>
            <a:picLocks noChangeAspect="1"/>
          </p:cNvPicPr>
          <p:nvPr/>
        </p:nvPicPr>
        <p:blipFill>
          <a:blip r:embed="rId1"/>
          <a:srcRect l="0" r="0" t="0" b="0"/>
          <a:stretch/>
        </p:blipFill>
        <p:spPr>
          <a:xfrm>
            <a:off x="2937570" y="1854150"/>
            <a:ext cx="304800" cy="76200"/>
          </a:xfrm>
          <a:prstGeom prst="rect">
            <a:avLst/>
          </a:prstGeom>
        </p:spPr>
      </p:pic>
      <p:sp>
        <p:nvSpPr>
          <p:cNvPr id="8" name="Shape 5"/>
          <p:cNvSpPr/>
          <p:nvPr/>
        </p:nvSpPr>
        <p:spPr>
          <a:xfrm>
            <a:off x="3343970" y="1854150"/>
            <a:ext cx="2972891" cy="1465461"/>
          </a:xfrm>
          <a:prstGeom prst="roundRect">
            <a:avLst>
              <a:gd name="adj" fmla="val 6933"/>
            </a:avLst>
          </a:prstGeom>
          <a:solidFill>
            <a:srgbClr val="14213D"/>
          </a:solidFill>
          <a:ln/>
        </p:spPr>
      </p:sp>
      <p:sp>
        <p:nvSpPr>
          <p:cNvPr id="9" name="Text 6"/>
          <p:cNvSpPr/>
          <p:nvPr/>
        </p:nvSpPr>
        <p:spPr>
          <a:xfrm>
            <a:off x="3547170" y="2057350"/>
            <a:ext cx="264348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36B"/>
                </a:solidFill>
                <a:latin typeface="IBM Plex Sans" pitchFamily="34" charset="0"/>
                <a:ea typeface="IBM Plex Sans" pitchFamily="34" charset="-122"/>
                <a:cs typeface="IBM Plex Sans" pitchFamily="34" charset="-120"/>
              </a:rPr>
              <a:t>Vendor analysis software</a:t>
            </a:r>
            <a:endParaRPr lang="en-US" sz="1600" dirty="0"/>
          </a:p>
        </p:txBody>
      </p:sp>
      <p:sp>
        <p:nvSpPr>
          <p:cNvPr id="10" name="Text 7"/>
          <p:cNvSpPr/>
          <p:nvPr/>
        </p:nvSpPr>
        <p:spPr>
          <a:xfrm>
            <a:off x="3547170" y="2392611"/>
            <a:ext cx="26434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IBM Plex Sans" pitchFamily="34" charset="0"/>
                <a:ea typeface="IBM Plex Sans" pitchFamily="34" charset="-122"/>
                <a:cs typeface="IBM Plex Sans" pitchFamily="34" charset="-120"/>
              </a:rPr>
              <a:t>decode · aggregate · compute, under a configuration nobody records</a:t>
            </a:r>
            <a:endParaRPr lang="en-US" sz="1200" dirty="0"/>
          </a:p>
        </p:txBody>
      </p:sp>
      <p:pic>
        <p:nvPicPr>
          <p:cNvPr id="11" name="Image 1" descr="connector">    </p:cNvPr>
          <p:cNvPicPr>
            <a:picLocks noChangeAspect="1"/>
          </p:cNvPicPr>
          <p:nvPr/>
        </p:nvPicPr>
        <p:blipFill>
          <a:blip r:embed="rId2"/>
          <a:srcRect l="0" r="0" t="0" b="0"/>
          <a:stretch/>
        </p:blipFill>
        <p:spPr>
          <a:xfrm>
            <a:off x="6418461" y="1854150"/>
            <a:ext cx="304800" cy="76200"/>
          </a:xfrm>
          <a:prstGeom prst="rect">
            <a:avLst/>
          </a:prstGeom>
        </p:spPr>
      </p:pic>
      <p:sp>
        <p:nvSpPr>
          <p:cNvPr id="12" name="Shape 8"/>
          <p:cNvSpPr/>
          <p:nvPr/>
        </p:nvSpPr>
        <p:spPr>
          <a:xfrm>
            <a:off x="6828036" y="1857325"/>
            <a:ext cx="2016820" cy="1459111"/>
          </a:xfrm>
          <a:prstGeom prst="roundRect">
            <a:avLst>
              <a:gd name="adj" fmla="val 6746"/>
            </a:avLst>
          </a:prstGeom>
          <a:solidFill>
            <a:srgbClr val="FFFDF8"/>
          </a:solidFill>
          <a:ln w="6350">
            <a:solidFill>
              <a:srgbClr val="DAD6CB"/>
            </a:solidFill>
            <a:prstDash val="solid"/>
          </a:ln>
        </p:spPr>
      </p:sp>
      <p:sp>
        <p:nvSpPr>
          <p:cNvPr id="13" name="Text 9"/>
          <p:cNvSpPr/>
          <p:nvPr/>
        </p:nvSpPr>
        <p:spPr>
          <a:xfrm>
            <a:off x="7034411" y="2063700"/>
            <a:ext cx="165487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Scientific quantities</a:t>
            </a:r>
            <a:endParaRPr lang="en-US" sz="1600" dirty="0"/>
          </a:p>
        </p:txBody>
      </p:sp>
      <p:sp>
        <p:nvSpPr>
          <p:cNvPr id="14" name="Text 10"/>
          <p:cNvSpPr/>
          <p:nvPr/>
        </p:nvSpPr>
        <p:spPr>
          <a:xfrm>
            <a:off x="7034411" y="2683421"/>
            <a:ext cx="16548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RSRP, peak area, cell counts</a:t>
            </a:r>
            <a:endParaRPr lang="en-US" sz="1200" dirty="0"/>
          </a:p>
        </p:txBody>
      </p:sp>
      <p:pic>
        <p:nvPicPr>
          <p:cNvPr id="15" name="Image 2" descr="connector">    </p:cNvPr>
          <p:cNvPicPr>
            <a:picLocks noChangeAspect="1"/>
          </p:cNvPicPr>
          <p:nvPr/>
        </p:nvPicPr>
        <p:blipFill>
          <a:blip r:embed="rId3"/>
          <a:srcRect l="0" r="0" t="0" b="0"/>
          <a:stretch/>
        </p:blipFill>
        <p:spPr>
          <a:xfrm>
            <a:off x="8949630" y="1854150"/>
            <a:ext cx="304800" cy="76200"/>
          </a:xfrm>
          <a:prstGeom prst="rect">
            <a:avLst/>
          </a:prstGeom>
        </p:spPr>
      </p:pic>
      <p:sp>
        <p:nvSpPr>
          <p:cNvPr id="16" name="Shape 11"/>
          <p:cNvSpPr/>
          <p:nvPr/>
        </p:nvSpPr>
        <p:spPr>
          <a:xfrm>
            <a:off x="9359205" y="1857325"/>
            <a:ext cx="2016820" cy="1459111"/>
          </a:xfrm>
          <a:prstGeom prst="roundRect">
            <a:avLst>
              <a:gd name="adj" fmla="val 6746"/>
            </a:avLst>
          </a:prstGeom>
          <a:solidFill>
            <a:srgbClr val="FFFDF8"/>
          </a:solidFill>
          <a:ln w="6350">
            <a:solidFill>
              <a:srgbClr val="DAD6CB"/>
            </a:solidFill>
            <a:prstDash val="solid"/>
          </a:ln>
        </p:spPr>
      </p:sp>
      <p:sp>
        <p:nvSpPr>
          <p:cNvPr id="17" name="Text 12"/>
          <p:cNvSpPr/>
          <p:nvPr/>
        </p:nvSpPr>
        <p:spPr>
          <a:xfrm>
            <a:off x="9565580" y="2063700"/>
            <a:ext cx="16548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AI-ready data</a:t>
            </a:r>
            <a:endParaRPr lang="en-US" sz="1600" dirty="0"/>
          </a:p>
        </p:txBody>
      </p:sp>
      <p:sp>
        <p:nvSpPr>
          <p:cNvPr id="18" name="Text 13"/>
          <p:cNvSpPr/>
          <p:nvPr/>
        </p:nvSpPr>
        <p:spPr>
          <a:xfrm>
            <a:off x="9565580" y="2398961"/>
            <a:ext cx="1654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the NSF goal</a:t>
            </a:r>
            <a:endParaRPr lang="en-US" sz="1200" dirty="0"/>
          </a:p>
        </p:txBody>
      </p:sp>
      <p:sp>
        <p:nvSpPr>
          <p:cNvPr id="19" name="Shape 14"/>
          <p:cNvSpPr/>
          <p:nvPr/>
        </p:nvSpPr>
        <p:spPr>
          <a:xfrm>
            <a:off x="812800" y="3637111"/>
            <a:ext cx="3386634" cy="0"/>
          </a:xfrm>
          <a:prstGeom prst="line">
            <a:avLst/>
          </a:prstGeom>
          <a:noFill/>
          <a:ln w="25400">
            <a:solidFill>
              <a:srgbClr val="B4441A"/>
            </a:solidFill>
            <a:prstDash val="solid"/>
          </a:ln>
        </p:spPr>
      </p:sp>
      <p:sp>
        <p:nvSpPr>
          <p:cNvPr id="20" name="Text 15"/>
          <p:cNvSpPr/>
          <p:nvPr/>
        </p:nvSpPr>
        <p:spPr>
          <a:xfrm>
            <a:off x="812800" y="3802211"/>
            <a:ext cx="34882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Locked</a:t>
            </a:r>
            <a:endParaRPr lang="en-US" sz="1700" dirty="0"/>
          </a:p>
        </p:txBody>
      </p:sp>
      <p:sp>
        <p:nvSpPr>
          <p:cNvPr id="21" name="Text 16"/>
          <p:cNvSpPr/>
          <p:nvPr/>
        </p:nvSpPr>
        <p:spPr>
          <a:xfrm>
            <a:off x="812800" y="4112071"/>
            <a:ext cx="348823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The quantities exist only after manual work in a GUI. It does not scale.</a:t>
            </a:r>
            <a:endParaRPr lang="en-US" sz="1300" dirty="0"/>
          </a:p>
        </p:txBody>
      </p:sp>
      <p:sp>
        <p:nvSpPr>
          <p:cNvPr id="22" name="Shape 17"/>
          <p:cNvSpPr/>
          <p:nvPr/>
        </p:nvSpPr>
        <p:spPr>
          <a:xfrm>
            <a:off x="4402634" y="3637111"/>
            <a:ext cx="3386683" cy="0"/>
          </a:xfrm>
          <a:prstGeom prst="line">
            <a:avLst/>
          </a:prstGeom>
          <a:noFill/>
          <a:ln w="25400">
            <a:solidFill>
              <a:srgbClr val="B4441A"/>
            </a:solidFill>
            <a:prstDash val="solid"/>
          </a:ln>
        </p:spPr>
      </p:sp>
      <p:sp>
        <p:nvSpPr>
          <p:cNvPr id="23" name="Text 18"/>
          <p:cNvSpPr/>
          <p:nvPr/>
        </p:nvSpPr>
        <p:spPr>
          <a:xfrm>
            <a:off x="4402634" y="3802211"/>
            <a:ext cx="348828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Unreproducible</a:t>
            </a:r>
            <a:endParaRPr lang="en-US" sz="1700" dirty="0"/>
          </a:p>
        </p:txBody>
      </p:sp>
      <p:sp>
        <p:nvSpPr>
          <p:cNvPr id="24" name="Text 19"/>
          <p:cNvSpPr/>
          <p:nvPr/>
        </p:nvSpPr>
        <p:spPr>
          <a:xfrm>
            <a:off x="4402634" y="4112071"/>
            <a:ext cx="348828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The configuration that produced them is not saved with the data.</a:t>
            </a:r>
            <a:endParaRPr lang="en-US" sz="1300" dirty="0"/>
          </a:p>
        </p:txBody>
      </p:sp>
      <p:sp>
        <p:nvSpPr>
          <p:cNvPr id="25" name="Shape 20"/>
          <p:cNvSpPr/>
          <p:nvPr/>
        </p:nvSpPr>
        <p:spPr>
          <a:xfrm>
            <a:off x="7992517" y="3637111"/>
            <a:ext cx="3386683" cy="0"/>
          </a:xfrm>
          <a:prstGeom prst="line">
            <a:avLst/>
          </a:prstGeom>
          <a:noFill/>
          <a:ln w="25400">
            <a:solidFill>
              <a:srgbClr val="B4441A"/>
            </a:solidFill>
            <a:prstDash val="solid"/>
          </a:ln>
        </p:spPr>
      </p:sp>
      <p:sp>
        <p:nvSpPr>
          <p:cNvPr id="26" name="Text 21"/>
          <p:cNvSpPr/>
          <p:nvPr/>
        </p:nvSpPr>
        <p:spPr>
          <a:xfrm>
            <a:off x="7992517" y="3802211"/>
            <a:ext cx="348828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Incomparable</a:t>
            </a:r>
            <a:endParaRPr lang="en-US" sz="1700" dirty="0"/>
          </a:p>
        </p:txBody>
      </p:sp>
      <p:sp>
        <p:nvSpPr>
          <p:cNvPr id="27" name="Text 22"/>
          <p:cNvSpPr/>
          <p:nvPr/>
        </p:nvSpPr>
        <p:spPr>
          <a:xfrm>
            <a:off x="7992517" y="4112071"/>
            <a:ext cx="348828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Published comparisons across studies may silently mix different computations.</a:t>
            </a:r>
            <a:endParaRPr lang="en-US" sz="1300" dirty="0"/>
          </a:p>
        </p:txBody>
      </p:sp>
      <p:sp>
        <p:nvSpPr>
          <p:cNvPr id="28" name="Text 23"/>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29"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 · BEYOND WIRELESS</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The same lock appears across science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2721124"/>
        </p:xfrm>
        <a:graphic>
          <a:graphicData uri="http://schemas.openxmlformats.org/drawingml/2006/table">
            <a:tbl>
              <a:tblPr/>
              <a:tblGrid>
                <a:gridCol w="2110740"/>
                <a:gridCol w="1899666"/>
                <a:gridCol w="3588258"/>
                <a:gridCol w="2955036"/>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Domain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Tool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What we cannot do today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Why it is locked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Wireless networks (us)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XCAP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Cross-layer fault attribution across carriers and years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Quantities exist only after decoding; config sets the truth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Flow cytometry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FlowJo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Merge historical FCS data across labs for meta-analysis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Gates are hand-drawn; subset counts depend on them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Proteomics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Xcalibur / FreeStyle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Re-analyze archived .raw data comparably across versions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Quantitation depends on vendor algorithms and defaults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Materials (XPS, XRD)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CasaXPS / DIFFRAC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Train property models on historical characterization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Peak-fit parameters live only in GUI sessions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4791174"/>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372"/>
                </a:solidFill>
                <a:latin typeface="IBM Plex Sans" pitchFamily="34" charset="0"/>
                <a:ea typeface="IBM Plex Sans" pitchFamily="34" charset="-122"/>
                <a:cs typeface="IBM Plex Sans" pitchFamily="34" charset="-120"/>
              </a:rPr>
              <a:t>Candidate partner domains, not yet confirmed. Flow cytometry is our first choice: gating is a direct analogue of our configuration result.</a:t>
            </a:r>
            <a:endParaRPr lang="en-US" sz="1300" dirty="0"/>
          </a:p>
        </p:txBody>
      </p:sp>
      <p:sp>
        <p:nvSpPr>
          <p:cNvPr id="6" name="Text 3"/>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 · RESEARCH QUESTIONS</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Four open questions we want to answer</a:t>
            </a:r>
            <a:endParaRPr lang="en-US" sz="3200" dirty="0"/>
          </a:p>
        </p:txBody>
      </p:sp>
      <p:sp>
        <p:nvSpPr>
          <p:cNvPr id="4" name="Shape 2"/>
          <p:cNvSpPr/>
          <p:nvPr/>
        </p:nvSpPr>
        <p:spPr>
          <a:xfrm>
            <a:off x="815975" y="1781125"/>
            <a:ext cx="5200650" cy="1499791"/>
          </a:xfrm>
          <a:prstGeom prst="roundRect">
            <a:avLst>
              <a:gd name="adj" fmla="val 6563"/>
            </a:avLst>
          </a:prstGeom>
          <a:solidFill>
            <a:srgbClr val="FFFDF8"/>
          </a:solidFill>
          <a:ln w="6350">
            <a:solidFill>
              <a:srgbClr val="DAD6CB"/>
            </a:solidFill>
            <a:prstDash val="solid"/>
          </a:ln>
        </p:spPr>
      </p:sp>
      <p:sp>
        <p:nvSpPr>
          <p:cNvPr id="5" name="Text 3"/>
          <p:cNvSpPr/>
          <p:nvPr/>
        </p:nvSpPr>
        <p:spPr>
          <a:xfrm>
            <a:off x="1022350" y="1987500"/>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4E8C"/>
                </a:solidFill>
                <a:latin typeface="IBM Plex Sans" pitchFamily="34" charset="0"/>
                <a:ea typeface="IBM Plex Sans" pitchFamily="34" charset="-122"/>
                <a:cs typeface="IBM Plex Sans" pitchFamily="34" charset="-120"/>
              </a:rPr>
              <a:t>Q1 · Semantic inference</a:t>
            </a:r>
            <a:endParaRPr lang="en-US" sz="1700" dirty="0"/>
          </a:p>
        </p:txBody>
      </p:sp>
      <p:sp>
        <p:nvSpPr>
          <p:cNvPr id="6" name="Text 4"/>
          <p:cNvSpPr/>
          <p:nvPr/>
        </p:nvSpPr>
        <p:spPr>
          <a:xfrm>
            <a:off x="1022350" y="232276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From black-box behavior alone, can we infer what an undocumented tool computes under each configuration?</a:t>
            </a:r>
            <a:endParaRPr lang="en-US" sz="1300" dirty="0"/>
          </a:p>
        </p:txBody>
      </p:sp>
      <p:sp>
        <p:nvSpPr>
          <p:cNvPr id="7" name="Text 5"/>
          <p:cNvSpPr/>
          <p:nvPr/>
        </p:nvSpPr>
        <p:spPr>
          <a:xfrm>
            <a:off x="1022350" y="2861221"/>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Basis: config-decides-truth result; 5 silent defaults</a:t>
            </a:r>
            <a:endParaRPr lang="en-US" sz="1200" dirty="0"/>
          </a:p>
        </p:txBody>
      </p:sp>
      <p:sp>
        <p:nvSpPr>
          <p:cNvPr id="8" name="Shape 6"/>
          <p:cNvSpPr/>
          <p:nvPr/>
        </p:nvSpPr>
        <p:spPr>
          <a:xfrm>
            <a:off x="6175375" y="1781125"/>
            <a:ext cx="5200650" cy="1499791"/>
          </a:xfrm>
          <a:prstGeom prst="roundRect">
            <a:avLst>
              <a:gd name="adj" fmla="val 6563"/>
            </a:avLst>
          </a:prstGeom>
          <a:solidFill>
            <a:srgbClr val="FFFDF8"/>
          </a:solidFill>
          <a:ln w="6350">
            <a:solidFill>
              <a:srgbClr val="DAD6CB"/>
            </a:solidFill>
            <a:prstDash val="solid"/>
          </a:ln>
        </p:spPr>
      </p:sp>
      <p:sp>
        <p:nvSpPr>
          <p:cNvPr id="9" name="Text 7"/>
          <p:cNvSpPr/>
          <p:nvPr/>
        </p:nvSpPr>
        <p:spPr>
          <a:xfrm>
            <a:off x="6381750" y="1987500"/>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4E8C"/>
                </a:solidFill>
                <a:latin typeface="IBM Plex Sans" pitchFamily="34" charset="0"/>
                <a:ea typeface="IBM Plex Sans" pitchFamily="34" charset="-122"/>
                <a:cs typeface="IBM Plex Sans" pitchFamily="34" charset="-120"/>
              </a:rPr>
              <a:t>Q2 · Verifiable extraction</a:t>
            </a:r>
            <a:endParaRPr lang="en-US" sz="1700" dirty="0"/>
          </a:p>
        </p:txBody>
      </p:sp>
      <p:sp>
        <p:nvSpPr>
          <p:cNvPr id="10" name="Text 8"/>
          <p:cNvSpPr/>
          <p:nvPr/>
        </p:nvSpPr>
        <p:spPr>
          <a:xfrm>
            <a:off x="6381750" y="232276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When the extracted quantity has no ground truth, how do we prove an agent extracted it correctly?</a:t>
            </a:r>
            <a:endParaRPr lang="en-US" sz="1300" dirty="0"/>
          </a:p>
        </p:txBody>
      </p:sp>
      <p:sp>
        <p:nvSpPr>
          <p:cNvPr id="11" name="Text 9"/>
          <p:cNvSpPr/>
          <p:nvPr/>
        </p:nvSpPr>
        <p:spPr>
          <a:xfrm>
            <a:off x="6381750" y="2861221"/>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Basis: two-path checks, 99.4% and 50/50</a:t>
            </a:r>
            <a:endParaRPr lang="en-US" sz="1200" dirty="0"/>
          </a:p>
        </p:txBody>
      </p:sp>
      <p:sp>
        <p:nvSpPr>
          <p:cNvPr id="12" name="Shape 10"/>
          <p:cNvSpPr/>
          <p:nvPr/>
        </p:nvSpPr>
        <p:spPr>
          <a:xfrm>
            <a:off x="815975" y="3439666"/>
            <a:ext cx="5200650" cy="1499791"/>
          </a:xfrm>
          <a:prstGeom prst="roundRect">
            <a:avLst>
              <a:gd name="adj" fmla="val 6563"/>
            </a:avLst>
          </a:prstGeom>
          <a:solidFill>
            <a:srgbClr val="FFFDF8"/>
          </a:solidFill>
          <a:ln w="6350">
            <a:solidFill>
              <a:srgbClr val="DAD6CB"/>
            </a:solidFill>
            <a:prstDash val="solid"/>
          </a:ln>
        </p:spPr>
      </p:sp>
      <p:sp>
        <p:nvSpPr>
          <p:cNvPr id="13" name="Text 11"/>
          <p:cNvSpPr/>
          <p:nvPr/>
        </p:nvSpPr>
        <p:spPr>
          <a:xfrm>
            <a:off x="1022350" y="364604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4E8C"/>
                </a:solidFill>
                <a:latin typeface="IBM Plex Sans" pitchFamily="34" charset="0"/>
                <a:ea typeface="IBM Plex Sans" pitchFamily="34" charset="-122"/>
                <a:cs typeface="IBM Plex Sans" pitchFamily="34" charset="-120"/>
              </a:rPr>
              <a:t>Q3 · Cross-instrument generalization</a:t>
            </a:r>
            <a:endParaRPr lang="en-US" sz="1700" dirty="0"/>
          </a:p>
        </p:txBody>
      </p:sp>
      <p:sp>
        <p:nvSpPr>
          <p:cNvPr id="14" name="Text 12"/>
          <p:cNvSpPr/>
          <p:nvPr/>
        </p:nvSpPr>
        <p:spPr>
          <a:xfrm>
            <a:off x="1022350" y="398130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Can one agent-plus-verification design move to a new instrument at low, measured cost?</a:t>
            </a:r>
            <a:endParaRPr lang="en-US" sz="1300" dirty="0"/>
          </a:p>
        </p:txBody>
      </p:sp>
      <p:sp>
        <p:nvSpPr>
          <p:cNvPr id="15" name="Text 13"/>
          <p:cNvSpPr/>
          <p:nvPr/>
        </p:nvSpPr>
        <p:spPr>
          <a:xfrm>
            <a:off x="1022350" y="4519761"/>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41A"/>
                </a:solidFill>
                <a:latin typeface="IBM Plex Sans" pitchFamily="34" charset="0"/>
                <a:ea typeface="IBM Plex Sans" pitchFamily="34" charset="-122"/>
                <a:cs typeface="IBM Plex Sans" pitchFamily="34" charset="-120"/>
              </a:rPr>
              <a:t>Basis: none yet outside wireless (new work)</a:t>
            </a:r>
            <a:endParaRPr lang="en-US" sz="1200" dirty="0"/>
          </a:p>
        </p:txBody>
      </p:sp>
      <p:sp>
        <p:nvSpPr>
          <p:cNvPr id="16" name="Shape 14"/>
          <p:cNvSpPr/>
          <p:nvPr/>
        </p:nvSpPr>
        <p:spPr>
          <a:xfrm>
            <a:off x="6175375" y="3439666"/>
            <a:ext cx="5200650" cy="1499791"/>
          </a:xfrm>
          <a:prstGeom prst="roundRect">
            <a:avLst>
              <a:gd name="adj" fmla="val 6563"/>
            </a:avLst>
          </a:prstGeom>
          <a:solidFill>
            <a:srgbClr val="FFFDF8"/>
          </a:solidFill>
          <a:ln w="6350">
            <a:solidFill>
              <a:srgbClr val="DAD6CB"/>
            </a:solidFill>
            <a:prstDash val="solid"/>
          </a:ln>
        </p:spPr>
      </p:sp>
      <p:sp>
        <p:nvSpPr>
          <p:cNvPr id="17" name="Text 15"/>
          <p:cNvSpPr/>
          <p:nvPr/>
        </p:nvSpPr>
        <p:spPr>
          <a:xfrm>
            <a:off x="6381750" y="364604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4E8C"/>
                </a:solidFill>
                <a:latin typeface="IBM Plex Sans" pitchFamily="34" charset="0"/>
                <a:ea typeface="IBM Plex Sans" pitchFamily="34" charset="-122"/>
                <a:cs typeface="IBM Plex Sans" pitchFamily="34" charset="-120"/>
              </a:rPr>
              <a:t>Q4 · Retroactive audit</a:t>
            </a:r>
            <a:endParaRPr lang="en-US" sz="1700" dirty="0"/>
          </a:p>
        </p:txBody>
      </p:sp>
      <p:sp>
        <p:nvSpPr>
          <p:cNvPr id="18" name="Text 16"/>
          <p:cNvSpPr/>
          <p:nvPr/>
        </p:nvSpPr>
        <p:spPr>
          <a:xfrm>
            <a:off x="6381750" y="3981301"/>
            <a:ext cx="49315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Given a published dataset and its likely tool version, can we flag which semantic biases it carries?</a:t>
            </a:r>
            <a:endParaRPr lang="en-US" sz="1300" dirty="0"/>
          </a:p>
        </p:txBody>
      </p:sp>
      <p:sp>
        <p:nvSpPr>
          <p:cNvPr id="19" name="Text 17"/>
          <p:cNvSpPr/>
          <p:nvPr/>
        </p:nvSpPr>
        <p:spPr>
          <a:xfrm>
            <a:off x="6381750" y="4519761"/>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Basis: detector battery, 13 tests, 5 gates</a:t>
            </a:r>
            <a:endParaRPr lang="en-US" sz="1200" dirty="0"/>
          </a:p>
        </p:txBody>
      </p:sp>
      <p:sp>
        <p:nvSpPr>
          <p:cNvPr id="20" name="Text 18"/>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THE PROBLEM · WHY NOW</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Three things changed in the last two years</a:t>
            </a:r>
            <a:endParaRPr lang="en-US" sz="3200" dirty="0"/>
          </a:p>
        </p:txBody>
      </p:sp>
      <p:sp>
        <p:nvSpPr>
          <p:cNvPr id="4" name="Shape 2"/>
          <p:cNvSpPr/>
          <p:nvPr/>
        </p:nvSpPr>
        <p:spPr>
          <a:xfrm>
            <a:off x="815975" y="1857325"/>
            <a:ext cx="3384550" cy="3981500"/>
          </a:xfrm>
          <a:prstGeom prst="roundRect">
            <a:avLst>
              <a:gd name="adj" fmla="val 2908"/>
            </a:avLst>
          </a:prstGeom>
          <a:solidFill>
            <a:srgbClr val="FFFDF8"/>
          </a:solidFill>
          <a:ln w="6350">
            <a:solidFill>
              <a:srgbClr val="DAD6CB"/>
            </a:solidFill>
            <a:prstDash val="solid"/>
          </a:ln>
        </p:spPr>
      </p:sp>
      <p:sp>
        <p:nvSpPr>
          <p:cNvPr id="5" name="Text 3"/>
          <p:cNvSpPr/>
          <p:nvPr/>
        </p:nvSpPr>
        <p:spPr>
          <a:xfrm>
            <a:off x="1073150" y="2114500"/>
            <a:ext cx="295630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4E8C"/>
                </a:solidFill>
                <a:latin typeface="Source Serif 4" pitchFamily="34" charset="0"/>
                <a:ea typeface="Source Serif 4" pitchFamily="34" charset="-122"/>
                <a:cs typeface="Source Serif 4" pitchFamily="34" charset="-120"/>
              </a:rPr>
              <a:t>1</a:t>
            </a:r>
            <a:endParaRPr lang="en-US" sz="3200" dirty="0"/>
          </a:p>
        </p:txBody>
      </p:sp>
      <p:sp>
        <p:nvSpPr>
          <p:cNvPr id="6" name="Text 4"/>
          <p:cNvSpPr/>
          <p:nvPr/>
        </p:nvSpPr>
        <p:spPr>
          <a:xfrm>
            <a:off x="1073150" y="2785021"/>
            <a:ext cx="295630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Agents can drive GUIs</a:t>
            </a:r>
            <a:endParaRPr lang="en-US" sz="1700" dirty="0"/>
          </a:p>
        </p:txBody>
      </p:sp>
      <p:sp>
        <p:nvSpPr>
          <p:cNvPr id="7" name="Text 5"/>
          <p:cNvSpPr/>
          <p:nvPr/>
        </p:nvSpPr>
        <p:spPr>
          <a:xfrm>
            <a:off x="1073150" y="314568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Unlocking GUI-only data no longer needs people or a vendor SDK. But correctness stays invisible.</a:t>
            </a:r>
            <a:endParaRPr lang="en-US" sz="1400" dirty="0"/>
          </a:p>
        </p:txBody>
      </p:sp>
      <p:sp>
        <p:nvSpPr>
          <p:cNvPr id="8" name="Shape 6"/>
          <p:cNvSpPr/>
          <p:nvPr/>
        </p:nvSpPr>
        <p:spPr>
          <a:xfrm>
            <a:off x="4410075" y="1857325"/>
            <a:ext cx="3384550" cy="3981500"/>
          </a:xfrm>
          <a:prstGeom prst="roundRect">
            <a:avLst>
              <a:gd name="adj" fmla="val 2908"/>
            </a:avLst>
          </a:prstGeom>
          <a:solidFill>
            <a:srgbClr val="FFFDF8"/>
          </a:solidFill>
          <a:ln w="6350">
            <a:solidFill>
              <a:srgbClr val="DAD6CB"/>
            </a:solidFill>
            <a:prstDash val="solid"/>
          </a:ln>
        </p:spPr>
      </p:sp>
      <p:sp>
        <p:nvSpPr>
          <p:cNvPr id="9" name="Text 7"/>
          <p:cNvSpPr/>
          <p:nvPr/>
        </p:nvSpPr>
        <p:spPr>
          <a:xfrm>
            <a:off x="4667250" y="2114500"/>
            <a:ext cx="295630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4E8C"/>
                </a:solidFill>
                <a:latin typeface="Source Serif 4" pitchFamily="34" charset="0"/>
                <a:ea typeface="Source Serif 4" pitchFamily="34" charset="-122"/>
                <a:cs typeface="Source Serif 4" pitchFamily="34" charset="-120"/>
              </a:rPr>
              <a:t>2</a:t>
            </a:r>
            <a:endParaRPr lang="en-US" sz="3200" dirty="0"/>
          </a:p>
        </p:txBody>
      </p:sp>
      <p:sp>
        <p:nvSpPr>
          <p:cNvPr id="10" name="Text 8"/>
          <p:cNvSpPr/>
          <p:nvPr/>
        </p:nvSpPr>
        <p:spPr>
          <a:xfrm>
            <a:off x="4667250" y="2785021"/>
            <a:ext cx="2956306"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 national push for AI-ready data</a:t>
            </a:r>
            <a:endParaRPr lang="en-US" sz="1700" dirty="0"/>
          </a:p>
        </p:txBody>
      </p:sp>
      <p:sp>
        <p:nvSpPr>
          <p:cNvPr id="11" name="Text 9"/>
          <p:cNvSpPr/>
          <p:nvPr/>
        </p:nvSpPr>
        <p:spPr>
          <a:xfrm>
            <a:off x="4667250" y="340474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This solicitation exists. Existing data is the largest untapped resource.</a:t>
            </a:r>
            <a:endParaRPr lang="en-US" sz="1400" dirty="0"/>
          </a:p>
        </p:txBody>
      </p:sp>
      <p:sp>
        <p:nvSpPr>
          <p:cNvPr id="12" name="Shape 10"/>
          <p:cNvSpPr/>
          <p:nvPr/>
        </p:nvSpPr>
        <p:spPr>
          <a:xfrm>
            <a:off x="8001000" y="1854150"/>
            <a:ext cx="3378200" cy="3987850"/>
          </a:xfrm>
          <a:prstGeom prst="roundRect">
            <a:avLst>
              <a:gd name="adj" fmla="val 3008"/>
            </a:avLst>
          </a:prstGeom>
          <a:solidFill>
            <a:srgbClr val="14213D"/>
          </a:solidFill>
          <a:ln/>
        </p:spPr>
      </p:sp>
      <p:sp>
        <p:nvSpPr>
          <p:cNvPr id="13" name="Text 11"/>
          <p:cNvSpPr/>
          <p:nvPr/>
        </p:nvSpPr>
        <p:spPr>
          <a:xfrm>
            <a:off x="8255000" y="2108150"/>
            <a:ext cx="295630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36B"/>
                </a:solidFill>
                <a:latin typeface="Source Serif 4" pitchFamily="34" charset="0"/>
                <a:ea typeface="Source Serif 4" pitchFamily="34" charset="-122"/>
                <a:cs typeface="Source Serif 4" pitchFamily="34" charset="-120"/>
              </a:rPr>
              <a:t>3</a:t>
            </a:r>
            <a:endParaRPr lang="en-US" sz="3200" dirty="0"/>
          </a:p>
        </p:txBody>
      </p:sp>
      <p:sp>
        <p:nvSpPr>
          <p:cNvPr id="14" name="Text 12"/>
          <p:cNvSpPr/>
          <p:nvPr/>
        </p:nvSpPr>
        <p:spPr>
          <a:xfrm>
            <a:off x="8255000" y="2778671"/>
            <a:ext cx="2956306"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1EA"/>
                </a:solidFill>
                <a:latin typeface="IBM Plex Sans" pitchFamily="34" charset="0"/>
                <a:ea typeface="IBM Plex Sans" pitchFamily="34" charset="-122"/>
                <a:cs typeface="IBM Plex Sans" pitchFamily="34" charset="-120"/>
              </a:rPr>
              <a:t>Agent-extracted data is coming</a:t>
            </a:r>
            <a:endParaRPr lang="en-US" sz="1700" dirty="0"/>
          </a:p>
        </p:txBody>
      </p:sp>
      <p:sp>
        <p:nvSpPr>
          <p:cNvPr id="15" name="Text 13"/>
          <p:cNvSpPr/>
          <p:nvPr/>
        </p:nvSpPr>
        <p:spPr>
          <a:xfrm>
            <a:off x="8255000" y="339839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D6"/>
                </a:solidFill>
                <a:latin typeface="IBM Plex Sans" pitchFamily="34" charset="0"/>
                <a:ea typeface="IBM Plex Sans" pitchFamily="34" charset="-122"/>
                <a:cs typeface="IBM Plex Sans" pitchFamily="34" charset="-120"/>
              </a:rPr>
              <a:t>Without a verification layer, pipelines will fill with training data that carries silent semantic errors.</a:t>
            </a:r>
            <a:endParaRPr lang="en-US" sz="1400" dirty="0"/>
          </a:p>
        </p:txBody>
      </p:sp>
      <p:sp>
        <p:nvSpPr>
          <p:cNvPr id="16" name="Text 14"/>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CHALLENGES · RESEARCH</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Why this is research, not scripting</a:t>
            </a:r>
            <a:endParaRPr lang="en-US" sz="3200" dirty="0"/>
          </a:p>
        </p:txBody>
      </p:sp>
      <p:sp>
        <p:nvSpPr>
          <p:cNvPr id="4" name="Shape 2"/>
          <p:cNvSpPr/>
          <p:nvPr/>
        </p:nvSpPr>
        <p:spPr>
          <a:xfrm>
            <a:off x="831850" y="1803350"/>
            <a:ext cx="0" cy="934641"/>
          </a:xfrm>
          <a:prstGeom prst="line">
            <a:avLst/>
          </a:prstGeom>
          <a:noFill/>
          <a:ln w="38100">
            <a:solidFill>
              <a:srgbClr val="B4441A"/>
            </a:solidFill>
            <a:prstDash val="solid"/>
          </a:ln>
        </p:spPr>
      </p:sp>
      <p:sp>
        <p:nvSpPr>
          <p:cNvPr id="5" name="Text 3"/>
          <p:cNvSpPr/>
          <p:nvPr/>
        </p:nvSpPr>
        <p:spPr>
          <a:xfrm>
            <a:off x="1054100" y="1854150"/>
            <a:ext cx="511467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No ground truth</a:t>
            </a:r>
            <a:endParaRPr lang="en-US" sz="1700" dirty="0"/>
          </a:p>
        </p:txBody>
      </p:sp>
      <p:sp>
        <p:nvSpPr>
          <p:cNvPr id="6" name="Text 4"/>
          <p:cNvSpPr/>
          <p:nvPr/>
        </p:nvSpPr>
        <p:spPr>
          <a:xfrm>
            <a:off x="1054100" y="2189411"/>
            <a:ext cx="51146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The quantities have no outside reference, and the tool misreports itself. Verification must be built, not looked up.</a:t>
            </a:r>
            <a:endParaRPr lang="en-US" sz="1400" dirty="0"/>
          </a:p>
        </p:txBody>
      </p:sp>
      <p:sp>
        <p:nvSpPr>
          <p:cNvPr id="7" name="Shape 5"/>
          <p:cNvSpPr/>
          <p:nvPr/>
        </p:nvSpPr>
        <p:spPr>
          <a:xfrm>
            <a:off x="6191250" y="1803350"/>
            <a:ext cx="0" cy="934641"/>
          </a:xfrm>
          <a:prstGeom prst="line">
            <a:avLst/>
          </a:prstGeom>
          <a:noFill/>
          <a:ln w="38100">
            <a:solidFill>
              <a:srgbClr val="B4441A"/>
            </a:solidFill>
            <a:prstDash val="solid"/>
          </a:ln>
        </p:spPr>
      </p:sp>
      <p:sp>
        <p:nvSpPr>
          <p:cNvPr id="8" name="Text 6"/>
          <p:cNvSpPr/>
          <p:nvPr/>
        </p:nvSpPr>
        <p:spPr>
          <a:xfrm>
            <a:off x="6413500" y="1854150"/>
            <a:ext cx="511467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Combinatorial configuration</a:t>
            </a:r>
            <a:endParaRPr lang="en-US" sz="1700" dirty="0"/>
          </a:p>
        </p:txBody>
      </p:sp>
      <p:sp>
        <p:nvSpPr>
          <p:cNvPr id="9" name="Text 7"/>
          <p:cNvSpPr/>
          <p:nvPr/>
        </p:nvSpPr>
        <p:spPr>
          <a:xfrm>
            <a:off x="6413500" y="2189411"/>
            <a:ext cx="51146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Sampling, filters, clocks and parse profiles interact, and some switches are not even visible.</a:t>
            </a:r>
            <a:endParaRPr lang="en-US" sz="1400" dirty="0"/>
          </a:p>
        </p:txBody>
      </p:sp>
      <p:sp>
        <p:nvSpPr>
          <p:cNvPr id="10" name="Shape 8"/>
          <p:cNvSpPr/>
          <p:nvPr/>
        </p:nvSpPr>
        <p:spPr>
          <a:xfrm>
            <a:off x="831850" y="2890391"/>
            <a:ext cx="0" cy="934641"/>
          </a:xfrm>
          <a:prstGeom prst="line">
            <a:avLst/>
          </a:prstGeom>
          <a:noFill/>
          <a:ln w="38100">
            <a:solidFill>
              <a:srgbClr val="B4441A"/>
            </a:solidFill>
            <a:prstDash val="solid"/>
          </a:ln>
        </p:spPr>
      </p:sp>
      <p:sp>
        <p:nvSpPr>
          <p:cNvPr id="11" name="Text 9"/>
          <p:cNvSpPr/>
          <p:nvPr/>
        </p:nvSpPr>
        <p:spPr>
          <a:xfrm>
            <a:off x="1054100" y="2941191"/>
            <a:ext cx="511467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Undocumented, irreversible GUIs</a:t>
            </a:r>
            <a:endParaRPr lang="en-US" sz="1700" dirty="0"/>
          </a:p>
        </p:txBody>
      </p:sp>
      <p:sp>
        <p:nvSpPr>
          <p:cNvPr id="12" name="Text 10"/>
          <p:cNvSpPr/>
          <p:nvPr/>
        </p:nvSpPr>
        <p:spPr>
          <a:xfrm>
            <a:off x="1054100" y="3276451"/>
            <a:ext cx="51146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No API, no demos, destructive defaults, and no undo. Mistakes can silently destroy data.</a:t>
            </a:r>
            <a:endParaRPr lang="en-US" sz="1400" dirty="0"/>
          </a:p>
        </p:txBody>
      </p:sp>
      <p:sp>
        <p:nvSpPr>
          <p:cNvPr id="13" name="Shape 11"/>
          <p:cNvSpPr/>
          <p:nvPr/>
        </p:nvSpPr>
        <p:spPr>
          <a:xfrm>
            <a:off x="6191250" y="2890391"/>
            <a:ext cx="0" cy="934641"/>
          </a:xfrm>
          <a:prstGeom prst="line">
            <a:avLst/>
          </a:prstGeom>
          <a:noFill/>
          <a:ln w="38100">
            <a:solidFill>
              <a:srgbClr val="B4441A"/>
            </a:solidFill>
            <a:prstDash val="solid"/>
          </a:ln>
        </p:spPr>
      </p:sp>
      <p:sp>
        <p:nvSpPr>
          <p:cNvPr id="14" name="Text 12"/>
          <p:cNvSpPr/>
          <p:nvPr/>
        </p:nvSpPr>
        <p:spPr>
          <a:xfrm>
            <a:off x="6413500" y="2941191"/>
            <a:ext cx="511467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Generalization cost</a:t>
            </a:r>
            <a:endParaRPr lang="en-US" sz="1700" dirty="0"/>
          </a:p>
        </p:txBody>
      </p:sp>
      <p:sp>
        <p:nvSpPr>
          <p:cNvPr id="15" name="Text 13"/>
          <p:cNvSpPr/>
          <p:nvPr/>
        </p:nvSpPr>
        <p:spPr>
          <a:xfrm>
            <a:off x="6413500" y="3276451"/>
            <a:ext cx="51146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A5C"/>
                </a:solidFill>
                <a:latin typeface="IBM Plex Sans" pitchFamily="34" charset="0"/>
                <a:ea typeface="IBM Plex Sans" pitchFamily="34" charset="-122"/>
                <a:cs typeface="IBM Plex Sans" pitchFamily="34" charset="-120"/>
              </a:rPr>
              <a:t>Every instrument differs in interface, format and meaning. Porting cost has to be measured, not assumed.</a:t>
            </a:r>
            <a:endParaRPr lang="en-US" sz="1400" dirty="0"/>
          </a:p>
        </p:txBody>
      </p:sp>
      <p:sp>
        <p:nvSpPr>
          <p:cNvPr id="16" name="Text 14"/>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CHALLENGES · THE PROPOSAL</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Where the proposal is weak today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2387054"/>
        </p:xfrm>
        <a:graphic>
          <a:graphicData uri="http://schemas.openxmlformats.org/drawingml/2006/table">
            <a:tbl>
              <a:tblPr/>
              <a:tblGrid>
                <a:gridCol w="2743962"/>
                <a:gridCol w="1266444"/>
                <a:gridCol w="6543294"/>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Level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Why, and what we do about 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Community breadth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B4441A"/>
                          </a:solidFill>
                          <a:latin typeface="IBM Plex Sans" pitchFamily="34" charset="0"/>
                          <a:ea typeface="IBM Plex Sans" pitchFamily="34" charset="-122"/>
                          <a:cs typeface="IBM Plex Sans" pitchFamily="34" charset="-120"/>
                        </a:rPr>
                        <a:t>High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A scored criterion; a single-domain team will score low. Recruit core facilities, not just labs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No result outside wireless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B4441A"/>
                          </a:solidFill>
                          <a:latin typeface="IBM Plex Sans" pitchFamily="34" charset="0"/>
                          <a:ea typeface="IBM Plex Sans" pitchFamily="34" charset="-122"/>
                          <a:cs typeface="IBM Plex Sans" pitchFamily="34" charset="-120"/>
                        </a:rPr>
                        <a:t>High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Q3 is only a claim. A tiny pilot: one FCS file, two gating strategies, count difference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Solution not built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Agent is still at zero lines of code; evidence is problem-side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Proprietary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Deliver tools, the semantics catalog and extracted features, not raw traces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Medium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Nov 4 deadline overlaps the agent build; SIGCOMM (Feb 1) must not slip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CHALLENGES · THE PANEL</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How reviewers will attack, and our answer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2618184"/>
        </p:xfrm>
        <a:graphic>
          <a:graphicData uri="http://schemas.openxmlformats.org/drawingml/2006/table">
            <a:tbl>
              <a:tblPr/>
              <a:tblGrid>
                <a:gridCol w="3166110"/>
                <a:gridCol w="5487924"/>
                <a:gridCol w="1899666"/>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Attack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"This is just RPA"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Four open questions, each with a failure condition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Needs sharper wording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"ProteoWizard solved 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It solves format; we solve semantics and configuration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Ready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"Agents are unreliable"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That is our premise; we build the verification layer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Ready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"Vendor licenses forbid 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Only legally held licenses; no vendor files shared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Legal check needed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"Why a networking team?"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3F4A5C"/>
                          </a:solidFill>
                          <a:latin typeface="IBM Plex Sans" pitchFamily="34" charset="0"/>
                          <a:ea typeface="IBM Plex Sans" pitchFamily="34" charset="-122"/>
                          <a:cs typeface="IBM Plex Sans" pitchFamily="34" charset="-120"/>
                        </a:rPr>
                        <a:t>Facilities bring domain expertise; we bring methods that hold across domains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B4441A"/>
                          </a:solidFill>
                          <a:latin typeface="IBM Plex Sans" pitchFamily="34" charset="0"/>
                          <a:ea typeface="IBM Plex Sans" pitchFamily="34" charset="-122"/>
                          <a:cs typeface="IBM Plex Sans" pitchFamily="34" charset="-120"/>
                        </a:rPr>
                        <a:t>Open: needs partners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A"/>
                </a:solidFill>
                <a:latin typeface="IBM Plex Sans" pitchFamily="34" charset="0"/>
                <a:ea typeface="IBM Plex Sans" pitchFamily="34" charset="-122"/>
                <a:cs typeface="IBM Plex Sans" pitchFamily="34" charset="-120"/>
              </a:rPr>
              <a:t>NEXT · DECISION ON OCT 14</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Partners decide the track</a:t>
            </a:r>
            <a:endParaRPr lang="en-US" sz="3200" dirty="0"/>
          </a:p>
        </p:txBody>
      </p:sp>
      <p:sp>
        <p:nvSpPr>
          <p:cNvPr id="4" name="Shape 2"/>
          <p:cNvSpPr/>
          <p:nvPr/>
        </p:nvSpPr>
        <p:spPr>
          <a:xfrm>
            <a:off x="812800" y="1803350"/>
            <a:ext cx="5375126" cy="873720"/>
          </a:xfrm>
          <a:prstGeom prst="roundRect">
            <a:avLst>
              <a:gd name="adj" fmla="val 11628"/>
            </a:avLst>
          </a:prstGeom>
          <a:solidFill>
            <a:srgbClr val="14213D"/>
          </a:solidFill>
          <a:ln/>
        </p:spPr>
      </p:sp>
      <p:sp>
        <p:nvSpPr>
          <p:cNvPr id="5" name="Text 3"/>
          <p:cNvSpPr/>
          <p:nvPr/>
        </p:nvSpPr>
        <p:spPr>
          <a:xfrm>
            <a:off x="1016000" y="1981150"/>
            <a:ext cx="51177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36B"/>
                </a:solidFill>
                <a:latin typeface="IBM Plex Sans" pitchFamily="34" charset="0"/>
                <a:ea typeface="IBM Plex Sans" pitchFamily="34" charset="-122"/>
                <a:cs typeface="IBM Plex Sans" pitchFamily="34" charset="-120"/>
              </a:rPr>
              <a:t>Flagship · $5M / 3 yr</a:t>
            </a:r>
            <a:endParaRPr lang="en-US" sz="1500" dirty="0"/>
          </a:p>
        </p:txBody>
      </p:sp>
      <p:sp>
        <p:nvSpPr>
          <p:cNvPr id="6" name="Text 4"/>
          <p:cNvSpPr/>
          <p:nvPr/>
        </p:nvSpPr>
        <p:spPr>
          <a:xfrm>
            <a:off x="1016000" y="2285950"/>
            <a:ext cx="51177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IBM Plex Sans" pitchFamily="34" charset="0"/>
                <a:ea typeface="IBM Plex Sans" pitchFamily="34" charset="-122"/>
                <a:cs typeface="IBM Plex Sans" pitchFamily="34" charset="-120"/>
              </a:rPr>
              <a:t>3+ non-CISE domains, 1+ core facility, 1 data repository, all committed</a:t>
            </a:r>
            <a:endParaRPr lang="en-US" sz="1200" dirty="0"/>
          </a:p>
        </p:txBody>
      </p:sp>
      <p:sp>
        <p:nvSpPr>
          <p:cNvPr id="7" name="Shape 5"/>
          <p:cNvSpPr/>
          <p:nvPr/>
        </p:nvSpPr>
        <p:spPr>
          <a:xfrm>
            <a:off x="815975" y="2781846"/>
            <a:ext cx="5368776" cy="880070"/>
          </a:xfrm>
          <a:prstGeom prst="roundRect">
            <a:avLst>
              <a:gd name="adj" fmla="val 11184"/>
            </a:avLst>
          </a:prstGeom>
          <a:solidFill>
            <a:srgbClr val="FFFDF8"/>
          </a:solidFill>
          <a:ln w="6350">
            <a:solidFill>
              <a:srgbClr val="DAD6CB"/>
            </a:solidFill>
            <a:prstDash val="solid"/>
          </a:ln>
        </p:spPr>
      </p:sp>
      <p:sp>
        <p:nvSpPr>
          <p:cNvPr id="8" name="Text 6"/>
          <p:cNvSpPr/>
          <p:nvPr/>
        </p:nvSpPr>
        <p:spPr>
          <a:xfrm>
            <a:off x="1022350" y="2962821"/>
            <a:ext cx="51047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Impact · $2M / 3 yr</a:t>
            </a:r>
            <a:endParaRPr lang="en-US" sz="1500" dirty="0"/>
          </a:p>
        </p:txBody>
      </p:sp>
      <p:sp>
        <p:nvSpPr>
          <p:cNvPr id="9" name="Text 7"/>
          <p:cNvSpPr/>
          <p:nvPr/>
        </p:nvSpPr>
        <p:spPr>
          <a:xfrm>
            <a:off x="1022350" y="3267621"/>
            <a:ext cx="5104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2 non-CISE domains committed; the full vision stays in the text</a:t>
            </a:r>
            <a:endParaRPr lang="en-US" sz="1200" dirty="0"/>
          </a:p>
        </p:txBody>
      </p:sp>
      <p:sp>
        <p:nvSpPr>
          <p:cNvPr id="10" name="Shape 8"/>
          <p:cNvSpPr/>
          <p:nvPr/>
        </p:nvSpPr>
        <p:spPr>
          <a:xfrm>
            <a:off x="815975" y="3769866"/>
            <a:ext cx="5368776" cy="880070"/>
          </a:xfrm>
          <a:prstGeom prst="roundRect">
            <a:avLst>
              <a:gd name="adj" fmla="val 11184"/>
            </a:avLst>
          </a:prstGeom>
          <a:solidFill>
            <a:srgbClr val="FFFDF8"/>
          </a:solidFill>
          <a:ln w="6350">
            <a:solidFill>
              <a:srgbClr val="DAD6CB"/>
            </a:solidFill>
            <a:prstDash val="solid"/>
          </a:ln>
        </p:spPr>
      </p:sp>
      <p:sp>
        <p:nvSpPr>
          <p:cNvPr id="11" name="Text 9"/>
          <p:cNvSpPr/>
          <p:nvPr/>
        </p:nvSpPr>
        <p:spPr>
          <a:xfrm>
            <a:off x="1022350" y="3950841"/>
            <a:ext cx="51047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Planning · $200k, or skip</a:t>
            </a:r>
            <a:endParaRPr lang="en-US" sz="1500" dirty="0"/>
          </a:p>
        </p:txBody>
      </p:sp>
      <p:sp>
        <p:nvSpPr>
          <p:cNvPr id="12" name="Text 10"/>
          <p:cNvSpPr/>
          <p:nvPr/>
        </p:nvSpPr>
        <p:spPr>
          <a:xfrm>
            <a:off x="1022350" y="4255641"/>
            <a:ext cx="5104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One domain or fewer; the program runs every November</a:t>
            </a:r>
            <a:endParaRPr lang="en-US" sz="1200" dirty="0"/>
          </a:p>
        </p:txBody>
      </p:sp>
      <p:sp>
        <p:nvSpPr>
          <p:cNvPr id="13" name="Text 11"/>
          <p:cNvSpPr/>
          <p:nvPr/>
        </p:nvSpPr>
        <p:spPr>
          <a:xfrm>
            <a:off x="6492726" y="1803350"/>
            <a:ext cx="50330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Before Oct 14</a:t>
            </a:r>
            <a:endParaRPr lang="en-US" sz="1700" dirty="0"/>
          </a:p>
        </p:txBody>
      </p:sp>
      <p:sp>
        <p:nvSpPr>
          <p:cNvPr id="14" name="Text 12"/>
          <p:cNvSpPr/>
          <p:nvPr/>
        </p:nvSpPr>
        <p:spPr>
          <a:xfrm>
            <a:off x="6492726" y="2164011"/>
            <a:ext cx="5033068" cy="1358900"/>
          </a:xfrm>
          <a:prstGeom prst="rect">
            <a:avLst/>
          </a:prstGeom>
          <a:noFill/>
          <a:ln/>
        </p:spPr>
        <p:txBody>
          <a:bodyPr wrap="square" lIns="0" tIns="0" rIns="0" bIns="0" rtlCol="0" anchor="t">
            <a:normAutofit/>
          </a:bodyPr>
          <a:lstStyle/>
          <a:p>
            <a:pPr algn="l" marL="213360" indent="-213360">
              <a:lnSpc>
                <a:spcPts val="2100"/>
              </a:lnSpc>
              <a:buSzPct val="100000"/>
              <a:buFontTx/>
              <a:buAutoNum type="arabicPeriod" startAt="1"/>
            </a:pPr>
            <a:r>
              <a:rPr lang="en-US" sz="1400" dirty="0">
                <a:solidFill>
                  <a:srgbClr val="3F4A5C"/>
                </a:solidFill>
                <a:latin typeface="IBM Plex Sans" pitchFamily="34" charset="0"/>
                <a:ea typeface="IBM Plex Sans" pitchFamily="34" charset="-122"/>
                <a:cs typeface="IBM Plex Sans" pitchFamily="34" charset="-120"/>
              </a:rPr>
              <a:t>One-page concept note to partners</a:t>
            </a:r>
            <a:endParaRPr lang="en-US" sz="1400" dirty="0"/>
          </a:p>
          <a:p>
            <a:pPr algn="l" marL="213360" indent="-213360">
              <a:lnSpc>
                <a:spcPts val="2100"/>
              </a:lnSpc>
              <a:buSzPct val="100000"/>
              <a:buFontTx/>
              <a:buAutoNum type="arabicPeriod" startAt="1"/>
            </a:pPr>
            <a:r>
              <a:rPr lang="en-US" sz="1400" dirty="0">
                <a:solidFill>
                  <a:srgbClr val="3F4A5C"/>
                </a:solidFill>
                <a:latin typeface="IBM Plex Sans" pitchFamily="34" charset="0"/>
                <a:ea typeface="IBM Plex Sans" pitchFamily="34" charset="-122"/>
                <a:cs typeface="IBM Plex Sans" pitchFamily="34" charset="-120"/>
              </a:rPr>
              <a:t>50-paper census of unrecorded tool config</a:t>
            </a:r>
            <a:endParaRPr lang="en-US" sz="1400" dirty="0"/>
          </a:p>
          <a:p>
            <a:pPr algn="l" marL="213360" indent="-213360">
              <a:lnSpc>
                <a:spcPts val="2100"/>
              </a:lnSpc>
              <a:buSzPct val="100000"/>
              <a:buFontTx/>
              <a:buAutoNum type="arabicPeriod" startAt="1"/>
            </a:pPr>
            <a:r>
              <a:rPr lang="en-US" sz="1400" dirty="0">
                <a:solidFill>
                  <a:srgbClr val="3F4A5C"/>
                </a:solidFill>
                <a:latin typeface="IBM Plex Sans" pitchFamily="34" charset="0"/>
                <a:ea typeface="IBM Plex Sans" pitchFamily="34" charset="-122"/>
                <a:cs typeface="IBM Plex Sans" pitchFamily="34" charset="-120"/>
              </a:rPr>
              <a:t>Tiny pilot in one partner domain</a:t>
            </a:r>
            <a:endParaRPr lang="en-US" sz="1400" dirty="0"/>
          </a:p>
          <a:p>
            <a:pPr algn="l" marL="213360" indent="-213360">
              <a:lnSpc>
                <a:spcPts val="2100"/>
              </a:lnSpc>
              <a:buSzPct val="100000"/>
              <a:buFontTx/>
              <a:buAutoNum type="arabicPeriod" startAt="1"/>
            </a:pPr>
            <a:r>
              <a:rPr lang="en-US" sz="1400" dirty="0">
                <a:solidFill>
                  <a:srgbClr val="3F4A5C"/>
                </a:solidFill>
                <a:latin typeface="IBM Plex Sans" pitchFamily="34" charset="0"/>
                <a:ea typeface="IBM Plex Sans" pitchFamily="34" charset="-122"/>
                <a:cs typeface="IBM Plex Sans" pitchFamily="34" charset="-120"/>
              </a:rPr>
              <a:t>Confirm page limits and campus deadlines</a:t>
            </a:r>
            <a:endParaRPr lang="en-US" sz="1400" dirty="0"/>
          </a:p>
          <a:p>
            <a:pPr algn="l" marL="213360" indent="-213360">
              <a:lnSpc>
                <a:spcPts val="2100"/>
              </a:lnSpc>
              <a:buSzPct val="100000"/>
              <a:buFontTx/>
              <a:buAutoNum type="arabicPeriod" startAt="1"/>
            </a:pPr>
            <a:r>
              <a:rPr lang="en-US" sz="1400" dirty="0">
                <a:solidFill>
                  <a:srgbClr val="3F4A5C"/>
                </a:solidFill>
                <a:latin typeface="IBM Plex Sans" pitchFamily="34" charset="0"/>
                <a:ea typeface="IBM Plex Sans" pitchFamily="34" charset="-122"/>
                <a:cs typeface="IBM Plex Sans" pitchFamily="34" charset="-120"/>
              </a:rPr>
              <a:t>Legal check on vendor license use</a:t>
            </a:r>
            <a:endParaRPr lang="en-US" sz="1400" dirty="0"/>
          </a:p>
        </p:txBody>
      </p:sp>
      <p:sp>
        <p:nvSpPr>
          <p:cNvPr id="15" name="Text 13"/>
          <p:cNvSpPr/>
          <p:nvPr/>
        </p:nvSpPr>
        <p:spPr>
          <a:xfrm>
            <a:off x="812800" y="6238280"/>
            <a:ext cx="270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Instrument-Locked Data · NSF 26-512</a:t>
            </a:r>
            <a:endParaRPr lang="en-US" sz="1200" dirty="0"/>
          </a:p>
        </p:txBody>
      </p:sp>
      <p:sp>
        <p:nvSpPr>
          <p:cNvPr id="16" name="Text 1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372"/>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Instrument-Locked Data: NSF Proposal Pitch</dc:title>
  <dc:subject>PptxGenJS Presentation</dc:subject>
  <dc:creator>PptxGenJS</dc:creator>
  <cp:lastModifiedBy>PptxGenJS</cp:lastModifiedBy>
  <cp:revision>1</cp:revision>
  <dcterms:created xsi:type="dcterms:W3CDTF">2026-09-27T04:54:06Z</dcterms:created>
  <dcterms:modified xsi:type="dcterms:W3CDTF">2026-09-27T04:54:06Z</dcterms:modified>
</cp:coreProperties>
</file>