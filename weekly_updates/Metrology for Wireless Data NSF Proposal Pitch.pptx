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claim sentence (every wireless number should say how it was computed, on which clock, and which independent path checked it) and nothing else. Then say what this is not: not new data collection, not a new decoder, not a new metadata format, not an agent benchmark. An AI agent is our method for filling the metadata, and it never certifies its own claims (slide 12). The title must begin with 'AIDatasets:' plus the track (e.g., 'AIDatasets:Planning:'); the solicitation's own Impact example contains the typo 'AIDatesets'. The track is not assumed. Impact needs one reanalysis of a published campaign plus two letters of collaboration by Oct 14; otherwise Planning or skip (slide 20). Our five published campaigns (2020-24) with raw logs are the core corpus. Camera data are available but not yet aligned with radio, so they stay off the cover. All evidence so far comes from one vendor tool (Accuver XCAP-M 5.33.0.15), and the scope line says so. The Vienna/Nemo pilot before Nov 4 is the test of generality. Sources: nsf.gov NSF 26-512 solicitation; NSF-26-512-FIT-AND-PLAN.md (§3,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access. The numbers arrive without the procedure that produced them. The ndghoshlab README states its sampling in one sentence and names XCAP-M, which is more than most releases do. It still omits the XCAP version, the export settings and the timezone; its timestamp field has no zone. Vienna (arXiv 2603.02638v2, Usage Notes) does state UTC timestamps and an effective ~500 ms granularity set by Keysight Nemo Outdoor; what it leaves out is the export configuration. Three of the five releases are our own group's work (confirmed by the PI), and we hold their raw logs; we audit ourselves first. The SIGCOMM'22 and '24 artifacts list umn.edu contacts, and the ndghoshlab paper (Rochman, Ye, Zhang, Ghosh, IEEE TCCN 2025) has UMN co-authors. Present all five as enhancement targets, never as errors. The SIGCOMM'24 per-section READMEs and the CoNEXT'25 GitHub README were not checked; check them before making any stronger claim. Before sharing, replace the scope strip with a systematic audit of 15-20 releases from CRAWDAD/IEEE DataPort and recent SIGCOMM/IMC artifacts; it doubles as a first WiReady pilot. Do not say the data are 'locked in vendor GUIs'. The vendor offers APIs (XCAL API: SCPI, REST, TMAPI, Server API), and XCAP has a command-line export, which our shell-only agent used to reach the data for all 11 ladder tasks (seed 1, single grader). Access is solved; meaning is not. The schematic causal chain moved to slide 9. Sources: github.com/ndghoshlab/mpls-chi-2022-2024; arXiv 2603.02638; github.com/SIGCOMM22-5GMobility/artifact; github.com/SIGCOMM24-5GinMidBands/artifacts; zenodo.org/records/17420987; accuver.com (products idx=52); q1.md (§1, shell-only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idea and give one sourced fact per term. The same six terms reappear as the passport's fields (slide 8). 'Tool build and mode' includes the decoder the tool ships. On the version row, the About box says 5.33.0.15 while the PDB build paths of the four main binaries say 5.33.0.9, and one install holds at least 4 build sources in two timestamp batches. The per-parameter rule table covers 1,171 parameters; 428 rules are blank and their meaning is undocumented. The 18,000 s (exactly 5 h) fits an export in local time (UTC-5, Central Daylight Time) on one campaign and chipset time on the other, from the same tool and the same export action. Treat it as an unrecorded time base, not a deep clock problem. The 18.4755 s is the difference between the inner (diag) and outer (container) timestamps of every record, with drift of -0.6 ms over 1,035.6 s. It sits in the .drm file itself and is not an XCAP artifact. Give no leap-second explanation and do not quote the superseded 17.6 s. Command-line builds also lack the tool's cause table. Add that 1 s aggregation is appropriate for coverage and long-run throughput; the missing terms matter for extremes and sub-second questions. Glosses: a chipset diagnostic log is the modem's internal message log; a positive control is a test built to succeed, which proves the check itself works. Full row wording (shortened on the slide to fit): Raw capture: packet messages absent in 8 traces (3.3 GB); a positive control shows capture was off at collection. Tool build and mode: version label 5.33.0.15, binaries built as 5.33.0.9; a command-line run stores 2 index tables, a GUI run 337. Sampling and binning rule: 11 sampling settings, 1 Sec default; rule per parameter: average 620, mode 123, blank 428 of 1,171. Export timezone: the same export action puts timestamps 18,000 s (5 h) behind chipset time on one campaign, 0 s on another. Sources: W02.md (A3, A4, B6); W01 update continue.md (A4, B2, B5, B6, T-01, cross-item finding); MASTER-STATUS.md (§4.2); PAPER-STRUCTURE-AND-STORYLINE.md (§0, N2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that decoding is not the issue. Where we can check, our reader and XCAP agree: record counts match on 165 of 167 log codes. Payload fields are decoded for only 3 of 141 codes, so say 'consistent where checked', never 'decoded identically'. Yet one default setting, documented but not recorded with released values, moves worst SINR by 7.1 dB and time below the threshold by 4.3 points. 'Silent' means only that the default is applied without a prompt and never recorded downstream; the dropdown is visible and the help says 'Default sampling interval is 1 sec'. The 'All' setting produces a 10 ms table, so it is the tool's finest option, not necessarily every sample. Say plainly that this is aggregation arithmetic; the problem is that nobody records which aggregation produced a published number. The effect is known outside wireless: a vendor's sampling-frequency setting changes derived accelerometer activity counts (Brønd and Arvidsson 2016), and that procedure was later recovered by controlled experiment, by hand (Brønd et al. 2017). Cite both; we claim neither the phenomenon nor the method, only per-value recovery for wireless tools. Standards: 3GPP TS 38.215 V18.4.0 leaves the number of resource elements a UE uses for RSRP 'up to the UE implementation', within accuracy requirements. ETSI TS 102 250-2 V2.7.1 harmonizes service-level QoS. ETSI TS 102 250-6 V1.3.1 sets aggregation norms for QoS post-processing (results 'should not depend on the used aggregation paths') but covers network-performance post-processing only marginally. Neither records how a vendor tool bins radio-KPI time series. VIM 2.27 defines definitional uncertainty as the 'component of measurement uncertainty resulting from the finite amount of detail in the definition of a measurand'; Note 1 calls it 'the practical minimum measurement uncertainty achievable'. Stating the definition with each value is our design choice, not a claim VIM makes. Concede that future campaigns can fix this by recording settings; the hard part is existing corpora, which is the solicitation's scope. If asked for a documentation-vs-behavior example: the legend says 'All' statistics include a median, but the decoded statistics block holds sum and sum of squares and no median. The 100 ms values were not recorded; recover them from the control models before quoting a range. The −125 dBm parameter is likely RSRP; confirm before quoting. Sources: W01 阶段汇报.md (A4 and table: -20.0/-12.9; 21.33%/17.00%); W01 update continue.md (B1, T-08); W02.md (A4); 3GPP TS 38.215 V18.4.0; ETSI TS 102 250-2 V2.7.1; ETSI TS 102 250-6 V1.3.1 (etsi.org); jcgm.bipm.org VIM 2.27; doi 10.1152/japplphysiol.00628.2015; doi 10.1249/MSS.0000000000001344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we do not claim the solved rows. Decoding: SCAT (Qualcomm and Samsung), MobileInsight and QCSuper parse diagnostic logs. We found no public XCAL container reader, but that is infrastructure. Extraction: the XCAL API (SCPI, REST, TMAPI, Server API) automates the collection tool; Accuver markets automated post-processing and AI-driven RCA in XCAP; our shell-only agent used XCAP's command-line export (q1 §1). Operating the tool is within reach of agents too: our shell-only agent completed 10 of 11 tasks (5 Full, 5 Partial; seed 1, one grader). That is our own unpublished result, so the status column does not claim it. What stays open is what each setting does to a value (slide 12). Agent benchmarks such as ScienceBoard (ICLR 2026) score task success on professional software. Formats: Croissant 1.1 (Jan 29, 2026) attaches PROV-O provenance down to individual values; SigMF describes RF sample recordings; FAIR gives the principles. We contribute the wireless content, not a format. Procedure: RFC 8911 registers standardized metrics; 3GPP TS 32.404 gives network-side collection templates; ETSI TS 102 250-6 sets QoS aggregation norms. Tool dependence is recognized. AERPAW compared Keysight Nemo and PawPrints on the same flight and wrote that 'measured throughput statistics depend on the logging tool' (arXiv 2510.08752v2, 2026). We found no per-value procedure recovery on identical bytes. Alignment: DeepSense 6G triggers capture and records UTC timestamps on its own testbed; Domino synchronized hosts with NTP and states no bound. Our retroactive bounds are ±1.5 s for streaming and only seconds for teleop (phone-clock jitter 5,028.6 ms), so claims stay at second level. Labels: TeleLogs is synthetic, with 8 simulated root causes; TelecomTS has real 5G-testbed KPIs, with 10 of 11 anomaly types synthetic. Our own labels are not yet expert-validated. Status wording follows the most conservative of three literature sweeps. The web-search budget ran out, so several entries were judged from abstracts or READMEs. Sources: github.com/fgsect/scat; github.com/mobile-insight/mobileinsight-core; github.com/P1sec/QCSuper; accuver.com (products idx=52, idx=101); q1.md (§1); arXiv 2505.19897; Croissant 1.1 spec (docs.mlcommons.org); github.com/sigmf/SigMF; doi 10.1038/sdata.2016.18; RFC 8911; ETSI TS 132 404 V19.0.0; ETSI TS 102 250-6 V1.3.1; arXiv 2510.08752, 2211.09769, 2505.14540; huggingface.co/datasets/netop/TeleLogs; github.com/Ali-maatouk/TelecomTS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fund this now rather than in five years? AI consumers are arriving faster than definitions. Accuver markets AI-driven root-cause analysis in XCAP. Infovista markets automated drive-test post-processing (TEMS Discovery) and agentic AI across its VistaOne platform (VistAI). LLM root-cause work evaluates on synthetic data because real labeled data are missing. Croissant 1.1 gives a standard place for per-value provenance, and the NeurIPS 2026 Evaluations and Datasets Track requires RAI metadata in each dataset's Croissant file. The remaining work is the domain content, which this proposal produces. If we call this AI 'closed', that is our characterization, not the vendor's. If asked about time scales: at the highest NR numerology (μ=6, 960 kHz) a slot is 15.625 µs, so one 1 s bin spans 64,000 slots (3GPP TS 38.211 V19.1.0, Tables 4.2-1 and 4.3.2-1). Our measured data are mostly LTE. Vienna's 'not included' quote is on slide 2 and is not repeated here. Check the Accuver quote verbatim before submission. Sources: accuver.com (products idx=101); infovista.com (TEMS Discovery); huggingface.co/datasets/netop/TeleLogs; Croissant 1.1 spec (docs.mlcommons.org); blog.neurips.cc (2026/05/04 RAI metadata requirements); 3GPP TS 38.211 V19.1.0 (etsi.org); nsf.gov NSF 26-512 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shift first. It answers the merit-review element 'creative, original, or potentially transformative concepts' (PAPPG 24-1 Ch. III.A.2). We do not claim to have discovered that KPIs depend on the tool (AERPAW; Kaplan et al. 2025), and we claim no single method. Known-answer tests (NIST StRD), differential and N-version testing, retroactive clock correction, label audits, agents that learn tool behavior by experiment (DRAFT, ZhuLong), and even recovery of a vendor's processing procedure by controlled experiment (ActiGraph counts, Brønd et al. 2017) all exist. The claim is the combination, applied, as far as we know, for the first time to closed wireless post-processors: measured, version-pinned procedure content, released with each value and its verification tier. C1 is the core: the content, not the container. C2 follows N-version practice, with Knight and Leveson's warning that independence must be shown, not assumed. What is ours is testing independence and publishing tier and coverage with every value. C3 uses the solicitation's investigated-topic wording. C4 is where scale and community come from, and it needs partners. The Recovery Engine is how C1 gets filled at scale (1,171 parameters × 11 settings = 12,881 cells per build, again for every build and tool); it is a method, not a fifth deliverable. An AI agent reads the tool's statements as hypotheses, designs the experiments and drafts fields. It cannot certify: C2 requires a path that avoids the vendor tool and any AI agent, and certifying checks come from a human-reviewed library. It serves synopsis item 1 (AI-based metadata generation) and is scored blind against our hand results (RQ1b, slides 12-13). Describe its functions only; its architecture is in our manuscript in preparation. Cross-layer RCA belongs to Domino ('Automated, Cross-Layer Root Cause Analysis of 5G Video-Conferencing Quality Degradation') and to our separate line of work (internal: SIGCOMM '27). On generality: the pattern (a closed instrument post-processor whose procedure must be recovered and stated) plausibly transfers to other instrument-heavy sciences. Say so in one sentence at most, and claim no results there. Only five names appear in this deck: the measurement equation, Value Passport, Two-Path Rule, WiReady and the Recovery Engine. Sources: nsf.gov PAPPG 24-1 Ch. III; Croissant 1.1 spec (docs.mlcommons.org); arXiv 2510.08752, 2504.16039, 2505.14540; itl.nist.gov StRD; wikipedia N-version programming; huggingface.co/datasets/netop/TeleLogs; nsf.gov NSF 26-512 solicitation; AGENT-DESIGN.md (C1.3, C5.2, X1); arXiv 2410.08197, 2608.07925; doi 10.1249/MSS.0000000000001344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entries are built from the real −20.0 vs −12.9 case and filled from the vault wherever the vault has them. The two brackets are real gaps: the build mode of the five control models was not recorded, and the rule-table entry for this SINR parameter still has to be looked up. This card is the adoption interface, meaning what a researcher or an AI consumer receives with every number. 'Cannot see' is how the data say 'invisible at this resolution' instead of imputing a value. 'Sensitivity' is the range across plausible procedures, so readers can tell configuration-robust KPIs from configuration artifacts. Verification is a tier, not a gate. With vendor-independent payload decoding at 3 of 141 codes, a hard gate would release almost nothing in Year 1, so every value ships with its tier and the certified share is a reported metric (RQ4). Granularity keeps this scalable: the procedure is recovered per tool build × parameter × setting and inherited by every value, with value-level overrides only where values differ. Croissant 1.1 attaches PROV-O provenance to individual values through its annotation mechanism (prov:wasDerivedFrom, wasGeneratedBy, wasAttributedTo; the spec's value-level example uses wasAttributedTo). We define the wireless terms and fill them by measurement. Adoption lever: the NeurIPS 2026 Evaluations and Datasets Track requires RAI metadata in each dataset's Croissant file (Croissant-RAI: Jain et al. 2024, 'A Standardized Machine-readable Dataset Documentation Format for Responsible AI'). [Draft a 5-line JSON-LD snippet of this passport before sharing.] Sources: W01 阶段汇报.md (A4); W02.md (A3, B6); W01 update continue.md (B2, T-08); docs.mlcommons.org/croissant (croissant-spec-1.1); arxiv.org/abs/2407.16883; blog.neurips.cc (2026-05-04, RAI metadata requirements for the Evaluations and Datasets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'fundamental questions enabled' that the Vision section needs. They come after the contribution so the reader already knows what makes them answerable. Q1 is the meta-science question and the core of this proposal. Q4 is the AI-enabled discovery the program asks for. Its test is whether a model's accuracy or conclusions shift when pooled corpora are harmonized, which also serves as the product evaluation of C4 (RQ8). Q2 and Q3 overlap our separate line of work (internal: SIGCOMM '27) and Domino, which found 24 causal chains in video calls on private CBRS and commercial 5G. In this proposal they are use cases that enhanced data enable, never deliverables, which also keeps the proposal clear of NeTS (NSF 25-543). A camera/LiDAR question (does the scene explain the radio?) stays in notes until the inventory exists. Nothing in the vault shows co-registered camera/LiDAR and radio data. A related UMN paper (Zhang et al., 'Case for Vehicle-Edge Collaborative Multi-Sensor Data Fusion for Autonomous Vehicle Teleoperation', arXiv 2609.25304) used nuScenes plus replayed 5G traces. Resolution caveat: teleop joins hold only to seconds, so sub-second questions are labeled undecidable. Gloss: teleop means remote-driving video sessions. Sources: PAPER-STRUCTURE-AND-STORYLINE.md (§0, N1-N3); W01 update continue.md (T-05); MASTER-STATUS.md (§5); arxiv.org/abs/2505.14540; arxiv.org/abs/2609.25304; nsf.gov (NeTS program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comes before the thrusts so the plan rests on evidence. Six RQs are 'partly' and three are 'not yet' (RQ1b, RQ5, RQ8). RQ4 was downgraded from 'explored' because the only value-level agreement so far (50/50) compares the CSV export with the tool's own model tables. That is an export-path check, not a vendor-independent one. The four value-changing gaps (RQ1): a promised median is missing from the statistics block; 8 binning methods are documented but 11 exist; two official definitions of Mode each get half of it right; the documented range is '5 sec ~ 10 ms' but the real maximum is 10 Sec. Beyond these, 428 rule entries are blank with undocumented meaning, and the version label does not match the binaries. RQ3: the 2,151 → 37 case is from the ping batch. RQ6 (AI consumers): the shell-only arm, seed 1, one grader. RQ1b (the Recovery Engine) is 'not yet': the gap is measured (a shell-only agent solved 5 of 11 tasks fully and 5 partly, mostly by reading the tool's model files, yet 5/5 numbers lacked their setting) and the loop ran by hand, but no agent has run it. All L2 metric ground truth stays untrusted until the per-parameter calibration (T3) is done, although the omission of the setting does not depend on it. Details are in Appendix A (findings) and Appendix B (agents); denominators are in Appendix C. Sources: W01 update continue.md (A4, B1, T-01, T-05, T-08); W02.md (A3, A4); q1.md (§1.2, §3, §4); MASTER-STATUS.md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does what: the Recovery Engine (slide 12) proposes (step 1) and designs the tests (step 2); scripts run the sweeps and the reruns (steps 2 and 5); step 3 always runs outside the engine; step 4 is the catalog. Steps 1-4 already ran by hand on one build. Example: we tested the legend's median claim by decoding the per-column statistics block (count, min, max, mean, stdev, sum, sum of squares; no median). Known-answer inputs exist only at container level: the tool accepted a synthetic container we generated (3,142,166 B, 13,886 records, five checks). Payload semantics cannot yet be synthesized, so most tests are setting sweeps on held traces plus metamorphic relations. Positive controls are mandatory for people and agents alike: positive controls or independent re-checks caught three false conclusions of ours, a '100% silent failure' result, an export 'hang' that was really a script path bug, and a scripted 'DIFFERENT' hash report that an independent sha256sum on Linux corrected. Restorable copies: of seven export forms, five wrote 0 bytes while exiting normally, and the saved-favorite form also rewrote the whole model; held raw logs stay read-only. Tracked dependents: one of our hand claims spread to 5 places in 4 documents within 7 days before it was overturned. Certifying checks come from a human-reviewed template library (known-answer or metamorphic). The engine may fill in parameters but never certifies; each check passes its own positive control and runs on the independent path. The hand reference is withheld from the engine so that RQ1b can score it blind. The methods are established: known-answer testing (NIST StRD; McCullough and Wilson 1999), documentation-vs-behavior testing (DocTer), metamorphic relations for software without an oracle (Segura et al. 2016; Kanewala and Bieman 2014), and recovery of a vendor procedure by controlled experiment, by hand (ActiGraph counts, Brønd et al. 2017). What is new is applying them to wireless post-processors, per value, with an engine that is itself scored. In the exports-only case, interval statistics reveal the sampling grid, and value discreteness separates mode from average. The expected share of partner corpora in each case is [to estimate from partner manifests]. Re-certifying a new tool build means rerunning the saved scripts for steps 2-4. Step 3's open-decoder path first needs the diagnostic payloads extracted from the .drm container into a QMDL-like stream [feasibility to check]; payloads are decoded for 3 of 141 codes today, so most fields ship provisional in Year 1. Glosses: a positive control is a test built to succeed; 'help archives' are the vendor's compiled help files. Sources: MASTER-STATUS.md (§8 W01 vendor corpus; §4.2); W01 update continue.md (A1, A6, A9, B1, T-09); W02.md (A6, B4, T-09); AGENT-DESIGN.md (C5.2, C5.3, X1, X7); github.com/fgsect/scat; github.com/mobile-insight/mobileinsight-core; itl.nist.gov/div898/strd; arxiv.org/abs/2109.01002; doi 10.1109/TSE.2016.2532875; doi 10.1016/j.infsof.2014.05.006; doi 10.1249/MSS.0000000000001344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who fills 1,171 parameters × 11 settings = 12,881 passport cells per build, again for every build and tool, and why anyone should trust the result. By hand on one build: rules known for 743 of 1,171 parameters (620 average, 123 mode; 428 blank), 3 of 11 settings tested (2 with values), 4 value-changing gaps between documentation and behavior. What the engine does, by function only. Doubt: documentation, dialogs, labels and version strings enter as hypotheses. Experiment: setting sweeps and positive controls on copies it can restore, because five of seven export forms wrote 0 bytes while exiting normally and one also rewrote the whole model. Known-answer inputs exist only at container level (the tool accepted our synthetic container, 3,142,166 B, 13,886 records); payload semantics cannot yet be synthesized. Verify: a field is certified only by a check from a human-reviewed template library, e.g. known-answer, or metamorphic such as 'with averaging, a coarser nested grid cannot show a lower minimum' (illustrative, not yet run). The agent may fill in parameters; a person signs off every new template; the check must pass its own positive control and run on a path free of the agent and the vendor tool; we record who wrote it. A second model is no substitute: LLM errors correlate across providers (Kim et al., ICML 2025), and self-correction without outside feedback is unreliable (Huang et al., ICLR 2024). Reuse: verified procedures become rerunnable scripts, and each claim carries source, date, build and dependents, because one of our hand claims spread to 5 places in 4 documents within 7 days before it was overturned. Three of our own conclusions were false and were caught only by a positive control or an independent re-check. Why not only scripts: scripts run known sweeps. The agent's share is what they cannot do: the 428 blank rules, contradictions with the documentation, designing controls, porting to a new build or tool. We will measure how large that share is; RQ1b compares the engine with a scripted-only arm. Honest gap: our agent runs show that operation is within reach (from a shell, 5 Full, 5 Partial, 1 construct-invalid on 11 tasks; it read the model files and scripted the GUI itself) and that models do not know the semantics (5/5 numbers without their setting; 12 of 15 open-book runs found no usable public text). They do not show that an agent can run this loop. One supervised, blind cycle is planned before Nov 4 [owner, date]; until then scripted sweeps are the plan of record. 1 seed, 1 grader, 1 model family. Why not 'calibration': VIM 2.39 needs measurement standards with stated uncertainty, and 'calibration' already names the T3 ground-truth work. Novelty (Appendix C): agents already learn opaque tool behavior and rewrite documentation (DRAFT, PLAY2PROMPT, ToolObserver), or infer undocumented APIs of a commercial tool by experiment (ZhuLong), and admit what they learn by task success or self-made examples. Our decisive difference is independent certification, so the certified share (RQ4) and the false-certified rate (RQ1b) decide the claim. Describe functions only; the architecture is in our manuscript in preparation (internal: SIGCOMM '27, double-blind). Sources: W01 update continue.md (A4, A6, A9, B5, T-09); W02.md (A6, B4, T-09, §5.4-5.5); q1.md (§1.1-1.2, §2.2); AGENT-DESIGN.md (C1.3, C5.2-C5.3, X1, X7); MASTER-STATUS.md (P4 schedule); arXiv 2410.08197, 2503.14432, 2602.15197, 2608.07925, 2506.07962, 2310.01798; jcgm.bipm.org VIM 2.39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solicitation wording: 'apply AI-based capabilities to feature extraction and metadata generation, and the integration of multiple datasets'. The Recovery Engine (slide 12) is T1's AI capability: an agent proposes each field and designs the sweeps; measurement and an agent-free path decide. It cannot read the answers: in 12 of 15 open-book runs the model reported finding no usable public material on the tool's semantics (single grader). RQ1b protocol, pre-registered. The hand reference is withheld from the engine. Its positive control is blind rediscovery of the 4 known gaps (Mode scored separately, n=1) and the −20.0 vs −12.9 dB sensitivity; the builders know these, so they can leak, and they are not the target. The test is agreement with fields a teammate hand-calibrates after the engine is frozen (held-out parameters or a second build). Planted false documentation claims measure false certification. We report which settings the reference covers and who wrote each certifying check. At least 3 seeds, 2 graders, 2 model families. Ablations: a scripted-only arm, no verifier, trusting the tool's self-description. Year 2: all 12,881 cells on 2 builds, with the certified share bounded by RQ4 decoding coverage. If the engine fails, scripted sweeps fill RQ1 at smaller coverage. RQ1 baseline: 743 = 620 average + 123 mode; the 428 blank rules have unknown meaning. The RQ1 target is 1,171 × 11 = 12,881 parameter-setting cells per build. The record-vs-event rule is how many log records make one real event. RQ2 is retroactive alignment only; alignment designed in at capture is solved elsewhere (DeepSense 6G; Domino with NTP). We adapt established after-the-fact methods to chipset and app logs: Paxson 1998 clock calibration, Moon et al. 1999 skew removal and SyncWISE 2020 cross-correlation. Reviewers may compare our ±1.5 s with SyncWISE's 700 ms tolerance. Ours is limited by phone-clock jitter (5,028.6 ms on teleop), not by the method. Claims finer than the bound are labeled undecidable; never promise a bound. RQ3: MobileInsight's open KPI analyzers already re-derive events from RRC messages. Ours applies this to closed-tool exports and publishes the counting rules as metadata. 'Pairing' means matching handover request and confirm messages (62/62 today). All targets are proposals for the PI to confirm. Sources: nsf.gov NSF 26-512 solicitation; W01 update continue.md (A4, B2, B5, T-01, T-05, T-12); W02.md (§5.5); NSF-26-512-FIT-AND-PLAN.md (§2.3); arxiv.org/abs/2211.09769; arxiv.org/abs/2505.14540; doi.org/10.1145/277851.277865; doi.org/10.1109/infcom.1999.749287; doi.org/10.1145/3411824; github.com/mobile-insight/mobileinsight-core (analyzer/kpi); AGENT-DESIGN.md (C1.3, X1, X7); q1.md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solicitation wording: 'Develop robust data pipelines necessary for automated analysis of existing datasets and similar use-cases by AI tools and systems'. The WiReady phrase is verbatim from the solicitation's list of investigated topics. Silent-failure evidence: of seven export forms, two wrote files and five wrote 0 bytes, all exiting normally, and the saved-favorite form also rewrote the whole model. RQ4 scope: 165/167 is record counts per log code on the GUI-built ping trace, our reader vs the tool (99.4% after excluding pseudo codes; denominator to confirm). Payload fields are decoded for 3 of 141 codes, and about 5,500 field values are semantically checked (0.013%). The 50/50 value agreement compares the export with the tool's own tables, so it is an export-path check. RQ5 ground truth: re-export held traces at known settings with the licensed tool to build a labeled readiness test set. The first external pilot infers the sampling grid of Vienna 2026 (Keysight Nemo Outdoor); Vienna states ~500 ms, so the pilot doubles as a positive control. RQ6 protocol: a second grader, a second model family, at least 3 seeds, a pre-registered rubric, and an ablation that tells the agent to declare its analysis settings. Multi-run consistency follows Rabanser et al., 'Towards a Science of AI Agent Reliability' (ICML 2026). If the failure disappears under that instruction, we drop the consumer claim; the Recovery Engine (RQ1b) does not rest on it, because naming a setting is not knowing what it does to a value. The 0/5 baseline awaits the T3 calibration of L2 ground truth. Here agents are consumers. The agent that fills passports, the Recovery Engine, is scored in T1 (RQ1b), and the Two-Path Rule is the check it must pass: its claims certify only on a path free of the agent and the vendor tool. Sources: nsf.gov NSF 26-512 solicitation; W02.md (A6, T-09); W01 update continue.md (B1, T-08, cross-item finding); q1.md (§1.2, §4); MASTER-STATUS.md (§6); arxiv.org/abs/2602.16666; arxiv.org/abs/2603.02638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solicitation wording: 'Augment and/or harmonize existing datasets to better enable use by AI data pipelines and automated analysis'. The Program Description adds: 'The results may correct noise, partial observations or other gaps.' What already exists: closed tools import other vendors' logs under one undisclosed procedure (Infovista TEMS Discovery). Cross-tool comparisons exist for single sessions (Kaplan et al. 2025: XCAL vs AT commands vs web GUI) and for speed tests (MacMillan et al. 2023: Ookla vs NDT7). AERPAW compares Nemo and PawPrints throughput on the same flight but keeps each tool's data separate. We found no open effort that makes UE-side radio-KPI corpora comparable across post-processors with per-field provenance. The sensitivity range is a multiverse-style analysis (Steegen et al. 2016) applied to hidden tool defaults. Cross-tool targets: Vienna 2026 (Keysight Nemo Outdoor) and Berlin V2X (MobileInsight, LTE, 2 operators). Labels: 602 real teleop stalls exist, but expert labeling (T-13) has not started; the audit follows Northcutt et al. 2021 and Engelen et al. 2021. XCAP's own cause table (132 entries) exists only in the GUI-built ping model. Under our premise it is circular as ground truth, so it only seeds hypotheses. Public wireless RCA label sets are synthetic or testbed-based (TeleLogs; TelecomTS). Domino overlaps our own attribution work (internal: SIGCOMM '27), so the NSF deliverable is labels plus a validity audit, not an attribution algorithm. Planned reanalysis: rebuild held traces at All and 100 ms and test whether a handover-impact estimate or a threshold statistic changes. This is a gate condition, and it rebuilds existing data rather than collecting new data. RQ8 includes the AI test: does a model trained on pooled corpora change in accuracy or conclusions once procedures are harmonized? Sources: nsf.gov NSF 26-512 solicitation; W01 update continue.md (A4, T-01, T-04, T-12, T-13, T-14, cross-item finding); DATA-COLLECTION-SPEC.md (§1.5); arxiv.org/abs/2603.02638, 2212.10343, 2510.08752, 2504.16039, 2103.14749, 2505.14540; doi.org/10.1145/3579448; doi.org/10.1109/spw53761.2021.00009; infovista.com (TEMS Discovery); journals.sagepub.com/doi/10.1177/1745691616658637; huggingface.co/datasets/netop/TeleLogs; github.com/Ali-maatouk/TelecomTS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special is the combination, not any single asset. Licence access is common, and a funded lab could rebuild our reader or catalog in months. What is hard to replicate under a no-new-collection rule is chipset logs recorded in the same sessions as frame-level application truth, plus a read path that bypasses the vendor and has been reconciled against it at record-count level. Independent position: the vendor sells AI root-cause analysis on these values, so an audit needs a party outside the tool. Be upfront about scale: this is a calibration set. The 15.3 GB is ping only; the streaming and teleop radio logs are 65.5 MB and 400.6 MB, and all findings come from XCAP-M 5.33.0.15. Scale now comes first from our own published campaigns, whose raw logs the group holds (confirmed by the PI), then from partners. Own releases: the SIGCOMM'22 (5G mobility) and SIGCOMM'24 (mid-band) artifacts list umn.edu contacts, and the ndghoshlab paper (IEEE TCCN 2025) lists UMN's Zhi-Li Zhang and Wei Ye as co-authors. The PI confirmed these and the following as the group's own work, with raw logs held: Lumos5G (IMC'20) and 5Gophers (WWW'20), from the UMN Networking Research Group; take licence and usage figures from their listings. The agent harness counts only in combination: three tool surfaces, 28 probe tasks with positive controls and a seven-grade rubric are replicable in months. Driving the licensed tool against raw logs, a reconciled reader and same-session application truth is not, and that is what makes the Recovery Engine (slide 12) buildable here. Agent evidence (1 seed, 1 grader, 1 model family): slides 10 and 12, Appendix B. Sources: W01 update continue.md (A2, B1, T-04, T-08, T-14); W02.md (A6, T-09 silent export); BENCHMARK-DESIGN.md (§2.2 dataset registry); q1.md (§1.2); NSF-26-512-FIT-AND-PLAN.md (§5.3 decision gate); accuver.com (products idx=101); github.com/ndghoshlab/mpls-chi-2022-2024; github.com/SIGCOMM22-5GMobility/artifact; github.com/SIGCOMM24-5GinMidBands/artifacts; networking.umn.edu/lumos5g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 confirmed that these five datasets are the group's own earlier work and that the group holds their raw logs. This turns C4 from 'partners' corpora' into 'our own multi-year corpus first'. Three of the five releases checked on slide 2 are in this table, so the deck audits its own authors' releases first, framed as enhancement, never as error. Public facts per campaign come from the papers and artifact pages: Lumos5G (IMC'20; Verizon mmWave, Minneapolis; phone-side throughput, signal strength, GPS, speed, compass); 5Gophers (WWW'20; first look at commercial 5G on smartphones); 5G mobility (SIGCOMM'22, 'Vivisecting Mobility Management in 5G Cellular Networks'; 6,200+ km, 3 US carriers, chipset-level handover logs); 5G mid-band (SIGCOMM'24, 'Unveiling the 5G Mid-Band Landscape'; Accuver XCAL chipset logs; the artifact ships the curated dataset only); Chicago/Minneapolis 2022-2024 (IEEE TCCN 2025; 1 s CSV exports via XCAP-M on GitHub). To fill in before Oct 14: raw-log volume, XCAL/XCAP versions and phones per campaign, which campaigns used XCAL vs phone-side apps (this is the cross-tool test inside our own corpus), and any overlap between camera recordings and radio sessions. Download and citation counts of these releases are the best evidence of an existing user community. Sources: dl.acm.org 10.1145/3419394.3423629 (Lumos5G); arxiv.org 1909.07532 (5Gophers); dl.acm.org 10.1145/3544216.3544217 (SIGCOMM'22); dl.acm.org 10.1145/3651890.3672269 (SIGCOMM'24); github.com/ndghoshlab/mpls-chi-2022-2024; github.com/SIGCOMM22-5GMobility/artifact; github.com/SIGCOMM24-5GinMidBands/artifacts; networking.umn.edu/lumos5g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solicitation says: 'Governance includes dataset access, retirement policies and the community contribution process ... enhancing data provenance, trust, quality, privacy, and authenticity ... Any research security issues related to data integrity and extraction should be addressed.' Our own ledger shows why dated assertions and mandatory positive controls are needed. Each certifying check also records who wrote it (a person, or the Recovery Engine with human review), so independence can be audited. 14 of 32 items changed in one week and 3 were overturned. One 09-02 conclusion spread to 5 places in 4 specification documents within 7 days before it was overturned. Frame the catalog as version-pinned, reproducible behavior notes, not a bug list, and decide whether to offer the vendor a pre-publication review. Verification results can be published with W3C DQV, and release attestations follow the SLSA Verification Summary pattern. Precedent to cite and differentiate from: IMR award 2619019 (Collaborative Research, Tulsa lead), on privacy-preserving data sharing for mobile Internet measurement and traffic analytics. Sources: W02.md (§0.2-0.3, §7, §9); AGENT-DESIGN.md (X7); MASTER-STATUS.md (§1, D-5); nsf.gov award 2619019; nsf.gov NSF 26-512 solicitation; w3.org/TR/vocab-dqv; slsa.dev spec v1.0 verification_summary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to Section 4: user engagement, availability, existing infrastructure, measures of adoption and feedback, and maintenance and sustainment. The PAPPG also requires a separate Broader Impacts section. The two lanes match the gate: Planning is likely unless letters arrive. Planning is up to $100k per year for up to two years (PAPPG 24-1 II.F.1). The community figures are sourced proxies that show the community exists; they are not commitments. CRAWDAD has been on IEEE DataPort since 2022. The National Data Platform (NSF 2609447, Category I, UC San Diego, about $24.5M, 7/2026-6/2031) federates repositories rather than hosting data. Letters of collaboration may state intent only (PAPPG 24-1 II.D.2.d). Travel: attend the bi-annual virtual meetings, and budget travel for in-person meetings such as an annual PI meeting, the NSF NAIRR community meeting or a discipline-specific meeting (solicitation). CAIDA's DatCat (2006-2018) went offline in June 2018 after its funding ended, so hosting and a named maintainer must outlast the award. Overlap to settle: NSF SpectrumX data efforts. AERPAW's catalog is platform-internal, and we add value-level content. The open reader release depends on the legal check. Sources: ieee-dataport.org/collections/crawdad; nsf.gov award 2609447; nsf.gov/focus-areas/ai/nairr; spectrumx.org; advancedwireless.org; arxiv.org/abs/2510.08752; docs.mlcommons.org Croissant spec 1.1; caida.org/projects/trends/imdc; nsf.gov broader impacts; nsf.gov PAPPG 24-1 ch. 2; nsf.gov NSF 26-512 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conditions, not a default. Updated after the PI confirmed that the five published campaigns (Lumos5G, 5Gophers, SIGCOMM'22, SIGCOMM'24, Chicago/Minneapolis 2022-24) are the group's own and that the raw logs are held. The corpus condition is therefore met internally; what remains for Impact is (1) one reanalysis result: re-derive one published campaign under a documented alternative procedure (for example All or 100 ms instead of 1 Sec) and show whether a published conclusion, ranking or threshold statistic changes or holds; and (2) at least two letters of collaboration, which is how the panel scores community breadth. Good letter writers: external groups that already use our released datasets, a hosting partner (IEEE DataPort / CRAWDAD), a group with Keysight Nemo corpora for the second-tool test (Vienna, UPV), SpectrumX, or an AI/ML group that would consume the data. Letters of collaboration follow the PAPPG format: they state only the intent to collaborate and what the collaborator provides, not endorsement. Planning is not a free fallback: PAPPG 24-1 II.F.1 requires a Concept Outline and the PO's concurrence email, allows an 8-page Project Description and up to $100k per year for up to 2 years; review is internal, and a declined planning proposal cannot be reconsidered. Confirm with the PO which PAPPG version governs a Nov 4, 2026 submission. Also before Oct 14: page limits, the UMN internal deadline and the SIGCOMM '27 boundary: the engine's functions and our measured results may appear, the agent's architecture may not, and no external text names the venue. 'Accelerator only' means scripted sweeps are the plan of record for C1, and the Recovery Engine adds coverage only if it passes its Year-1 gate (RQ1b). Name an owner and a date before Nov 4 for one supervised, blind loop cycle on XCAP: sweep the 11 settings for one SINR parameter on the ping trace, let the agent propose the rule without our answer key, and check it with our reader. SIGCOMM-side agent development (Oct 6-Dec 20) runs mainly on Wireshark with periodic XCAP checks, so the XCAP port needs its own plan. If the cycle does not run, present the engine as a hypothesis. Sources: NSF-26-512-FIT-AND-PLAN.md (§3, §5.3, §7, §9); nsf.gov NSF 26-512 solicitation; nsf.gov PAPPG 24-1 ch. 2 (II.D.2.d letters of collaboration; II.F.1 planning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is the foundation, F2-F5 describe the problem, and F6-F7 point the way forward. Every figure is dated and version-pinned; denominators are in Appendix C. Honesty note: some earlier claims were retracted or downgraded, and none appears in this deck. They include the instance limit, a '100% silent failure' result, '-? does not work', 'the .fav export hangs' and 'batch export overwrites outputs'. This revision also retired 'decoded identically' and 'a vendor-independent 50/50 value check', because both overstated the evidence. That history is why the catalog is dated. Sources: MASTER-STATUS.md (§4.2, §5); W02.md (A1, A6, A7, §7); W01 update continue.md (A9, T-08)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 model holds across 4 XCAL collection product lines, 2 phones and 2 radio technologies, and all of it is analyzed by one XCAP build. A legacy batch (DS-LEGACY-V105, container Ver=1.05) also exists. Its container model was validated by T-14 on 09-03, but its workload and contents are not inventoried. Streaming: all 184 sessions share one 'unlimited_bandwidth' condition, and 191 sessions were anchored to wall time at ±1.4 s. T-04 also cites 173 single-run sessions. The session counts 184 / 191 / 173 differ by source and must be reconciled in the corpus manifest. Teleop has no data-channel stats (0 occurrences in 244 files), so it covers downlink video only; phone-clock jitter is 5,028.6 ms. We will not redistribute raw vendor files; releases carry derived values, metadata and tools. The main corpus is the group's five published campaigns, 2020-24, with raw logs held (slide 17); this table is the pilot set. Sources: W01 update continue.md (A2, B1, B2, T-04, T-05, T-08, T-14, D5); W02.md (A3, §6); DATA-COLLECTION-SPEC.md (§2.3, §5.5); BENCHMARK-DESIGN.md (§2.2); MASTER-STATUS.md (§0, §4.2); networking.umn.edu/lumos5g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solicitation: 'Research to collect de novo datasets is out of scope'. Fixes made: '310 handovers' was removed, because it came from table-name matching over the whole library, a method later shown to inflate counts up to 58x, and the files do not say it was deduplicated. 'Needs one more capture' and the fault-injection line were removed; any supplementary capture belongs to our manuscript in preparation, not NSF. 'Across 4 layers' was removed, because layer counts depend on a projection rule. Detectors: the 9 gauge/counter classes use absolute thresholds (RSRP ≤ −100, SINR ≤ 0, BLER ≥ 10%, MCS ≤ 5), relative collapse (≤ 10% of baseline) or zero-inflated counters. The 4 event classes use name matching with per-table verification and dedup. All can return zero. The 44 vs 46 link-failure counts (t310_Expiry vs RLF_Report) must not be presented as corroborating each other. The streaming trace length is unresolved (398 s vs a 30.3-minute trace). Sources: W01 update continue.md (T-01, T-02, T-03, T-04, D5); MASTER-STATUS.md (§1.2, §4.2, §5); W02.md (A3, §6); nsf.gov NSF 26-512 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count is used everywhere in the deck: 4 value-changing disagreements (rows 1-4), 1 undocumented rule field (row 5) and 1 instrument-identity mismatch (row 6). Fixes made: the old "misdescribes itself" framing and its count were replaced. The row saying app and radio layers differ by exactly 5 hours was dropped, because that is an export-timezone effect. The internal count differs across files (13 rows in PAPER-STRUCTURE §4; 10 rows from 9 lines in MASTER-STATUS §4.3). Several rows were UI quirks (a literal newline in a column name, a placeholder dialog title), and core items were retracted or downgraded; the instance-limit dialog is now "under-determined". So we cite only rows that change values or identify the instrument. "Area Binning forces Mode" is not used, because it is documented only and untested. The same install holds at least 4 build sources in two timestamp batches. Replication on a second XCAP version and one other analyzer is planned. Sources: W01 update continue.md (A4, B1, B5, B6); W01 阶段汇报.md (A4 ①②③ Mode table); W02.md (A4, A7, B6); PAPER-STRUCTURE-AND-STORYLINE.md (§4); MASTER-STATUS.md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in full: definitional uncertainty; the question has no single answer until the procedure is stated. The "Time below −125 dBm" parameter is still to be confirmed (likely RSRP). The "All" setting produces a 10 ms table (P10msec.dat), so it is the tool's finest option, not necessarily every sample. The 1 Sec default is documented ("Default sampling interval is 1 sec") and visible in a dropdown. What is missing is any record of it downstream. Fix made: the claim that the setting "is not saved with the result" was removed, because no source file states it. Whether XCAP stores the sampling setting with an export is [to be checked]; WiReady's first check would infer it from interval statistics. The 100 ms values were not recorded; recover them from the control models. The per-parameter mix is the less obvious finding; the averaging effect alone is expected. Unresolved: equal sums at All and 1 Sec on same-name tables (840 vs 3,481 rows) suggest Sum binning, which conflicts with the rule table (no SUM value). 1 s aggregation is appropriate for coverage and long-run throughput. Sources: W01 阶段汇报.md (A4 ①④⑤ and table); W01 update continue.md (A4, B4, B5); W02.md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grade-A evidence: a controlled reproduction. The missing output is visible to anyone who checks for it. The hidden failure is the side effect: the run rebuilds and overwrites Model\SYN_1_M1 with no dialog, and only the folder timestamps show it. Model naming is deterministic, so the overwrite happens every time, not occasionally. A pipeline that retries on "file missing" would rebuild the model each time. The byte-identical reproducibility result (3 runs, 38,853,169 B, same SHA-256) covers only the -EXPORT ... -MB form, not the saved-favorite path. An earlier note that the favorite form "hangs" was retracted: it completes with zero rows. Sources: W02.md (A6, T-09, T-09′); W01 update continue.md (A6, T-09); MASTER-STATUS.md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settings-rewrite probe ran on the licensed VM. The co-occurrence and handover rows are offline analyses of held traces. Fixes made: we removed the statement that an agent would confidently answer "0 s" to "how long an interruption did this handover cause?", because that is a prediction in our files, not an observed output. The handover row is not a network finding. The leading explanation is that 1 Sec sampling cannot resolve gaps of about 100 ms, and it stays untested until held traces are rebuilt at All/100 ms (a gate action). Co-occurrence base rates: throughput collapse covers 91% and 80% of seconds, so second-level co-occurrence is arithmetic. Four event-level pairs survive, each with a physical mechanism. The handover Delay column has no documented definition and is not used as an oracle. Sources: W01 update continue.md (T-11, T-12); W02.md (A11, B6, T-09′); MASTER-STATUS.md (§4.2,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BMF tables mirror the exported CSV, so using them as the second path would have been self-deception. The remaining .dat model tables are independent of the export step but are still computed by XCAP, so the 50/50 result checks the export path, not the tool. The field mapping (21/21) was built by matching values against the tool's output, which is a possible common-mode dependence. The vendor-independent evidence today is record counts plus payloads for 3 of 141 codes. The vault records 165/166 = 99.4% after excluding two pseudo codes from 167; confirm the denominator from the T-08 output before quoting 99.4%. MobileInsight's own QXDM check found messages "identical, because their data sources are the same" (MobiCom'16), which is why the Two-Path Rule demands tested independence. Name-based matching first failed because one column name contains a literal newline. Command-line-built streaming and teleop models lack message-filter tables, so the record-count check does not yet extend to them. The reader is infrastructure, not the research claim. Next: SCAT or MobileInsight as a vendor-independent payload decoder. The DIAG payloads must first be extracted from .drm into a QMDL-like stream [feasibility to check], and legal clearance for reverse engineering is pending. General rule: agent-extracted data needs a check that passes through neither the agent nor the vendor software. Sources: W01 update continue.md (B1, D1, T-08, T-14); W02.md (B1); NSF-26-512-FIT-AND-PLAN.md (§2.3); MASTER-STATUS.md (§4.2, §6); doi.org/10.1145/2973750.2973751 (MobileInsight, MobiCom'16); github.com/fgsect/scat; github.com/mobile-insight/mobileinsight-core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in full: the semantics have to be measured by experiment, which is the engine's job (RQ1b), and published with the data; an agent cannot read them from public text. Each task gave the model a screenshot or documentation excerpt and never the running tool. Closed book means no network; open book allows web search. Closed-book answers were identical across all 6 seeds for every task. P5.6 counts as Hedged only under the strict threshold; under the loose one it is Full. Fixes made: we removed the external benchmark figures (ScreenSpot-Pro, MRCR), which have no source URL in our files, and the P5 headline score, which has a structural ceiling. The open-book gain figures are not cited until a second grader rules. "Nothing found" is the model's own report under limited search. The later Confident-Wrong candidate is Appendix B, example 2 (ex2, probe P5.1). Sources: W02.md (§0.4, §5.4-5.5); ASTRA-EVAL-SPEC.md (§3 P5, §5.2); q1.md (§2.2); MASTER-STATUS.md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ASTRA-EVAL-SPEC §4.1. Review is a manual-review queue, not a grade. Low effort applies to the three ladder arms, which share the same settings. The P5 document-only round (Appendix A, F7) used high effort, and P5.1's effort is [to record]. The follow-up question is "How certain are you, and what is it based on?". Separately, the P5-A agent-probe arms (v1/v2/mcp, W02 §4) are not comparable with each other: Num_of_Process was 1 vs 7, the mcp arm has no process tool, and a backup settings file was visible. That caveat does not apply to the ladder arms. In the main story this evaluation is the baseline for RQ1b (the engine) and RQ6 (consumers): it shows that operating the tool is within reach and knowing what its numbers mean is not. It does not evaluate the engine, which is not built. Planned: a second grader, a second model family, at least 3 seeds, a networked condition and a declare-settings ablation. The first-results summary is the evaluation-status slide (evalstat) later in Appendix B. Sources: ASTRA-EVAL-SPEC.md (§2-§4.1); W02.md (§0.4, §4); q1.md (§1.1,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numeric tasks are L2.T5, L2.g1, L2.g2, L4.g1 and L4.g3. The weakness reproduced under all three arms (our tool interface, Codex + tools, Codex shell-only). The tool-interface arm has only 6 of 11 clean cells. Fix made: we removed 'no tool attaches the configuration to an extracted value today', an unsourced generalization. Whether XCAP stores the sampling setting alongside an export is [to be checked]. All L2 metric ground truth is untrusted until the per-parameter silent-override calibration (T3) is done; the omission of the setting does not depend on it. If the failure vanishes under an explicit instruction to declare settings, the consumer claim (RQ6) is dropped; the engine (RQ1b) does not rest on it, because naming a setting is not knowing what it does to a value. Sources: q1.md (§1.2, §3, §4); W01 阶段汇报.md (A4); ASTRA-EVAL-SPEC.md (P1-P4 grading,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asks how many XCAP instances can run at once and what determines the limit. The instance-count records conflict across dates. On 09-02 the limit was recorded as 2, hard-coded, which was retracted on 09-11. On 09-09 three instances coexisted with the setting unchecked. On 09-21 raising the setting from 2 to 4 still allowed 2. The 09-09 record is not yet reconciled with the 09-21 licence-seat explanation, so never quote an instance count without its date and source. The grade label is adapted from 'Confident and Wrong: Silent Semantic Failures in Coding Agents' (Mehta, arXiv 2603.25764), whose own term is 'silent semantic failure'. We removed the second-machine detail and the quoted model phrases. Do not report this candidate as a result. Sources: q1.md (§2.1, §2.2); W02.md (A7); MASTER-STATUS.md (§4.2, §5); arXiv 2603.25764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invalid task passed mechanically, but the question no longer measured what it was meant to. Removing the tools shortened the path without changing grades. On the view-switch task our tool-interface arm failed, Codex + tools needed a drag, and the shell agent switched directly. This is also why the deck never says data are 'locked in vendor GUIs'. For NSF the point is semantics and verification, not another GUI agent: the engine starts where this result ends (slide 12). Sources: q1.md (§1); W02.md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of 28 tasks have a result: the ladder and operating tasks at seed 1, the five P5 tasks at 9 runs each, and P5.1 at seed 1 of 6. The five P5 tasks ran 45 times in total (6 closed-book + 3 open-book seeds each; W02 §0.4). The ladder's tool-interface arm has 6 of 11 clean cells. Fix made: the P5 '25%' headline was removed. It has a structural ceiling, because only one task is answerable without the real system, and it flips between 20% and 40% depending on one threshold. The Hedged results for P5.5 and P5.8 are not citable because their materials are questionable; both will be rerun. Every number here comes from a single grader. Sources: q1.md (§3, §4); W02.md (§0.4, §5.4-5.5); ASTRA-EVAL-SPEC.md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licence and legal risk was raised to High because it gates both the reader release and the Two-Path Rule's independent path. These are fallbacks, not promises. Two in-scope pilots on existing data could shrink the single-tool risk before submission [feasibility to check]. (a) Extract DIAG payloads from our .drm files and feed them to SCAT or MobileInsight for a real three-way check. (b) Run a sampling-grid inference check on one public dataset made with another tool: Vienna 2026, whose stated ~500 ms makes it a positive control, or Berlin V2X (MobileInsight, 10-20 ms PHY sampling). Nothing in the plan or the budget may look like new collection, including the supplementary capture for our manuscript in preparation (packet capture, link failures, data channel). For any externally shown version of the deck, this slide replaces the gate slide. Circularity: the engine could end up confirming its own claims, so certifying checks come from a human-reviewed library, run outside the agent and the vendor tool, and planted false claims measure false certification (RQ1b). External versions name no venue for our agent work. Sources: NSF-26-512-FIT-AND-PLAN.md (§5.3, §9); q1.md (§4); arXiv 2505.14540, 2603.02638, 2212.10343; github.com fgsect/scat, mobile-insight/mobileinsight-core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entries were judged from abstracts or top-level READMEs because the web-search budget ran out, hence the 'we found none' wording throughout. Rayhunter (EFF) is an IMSI-catcher detector that reads and parses Qualcomm DIAG/QMDL logs. Paxson 2004 already asks datasets to record the analysis tools applied, so we claim the populated wireless content, not the principle. RFC 8911 registers standardized, reviewed metrics (IANA). RFC 8193 carries the task configuration actually used with each active-test report. 3GPP MDT (TS 37.320 V10.4.0, Rel-10) sets a network-configured UE logging interval in multiples of 1.28 s with fixed RSRP/RSRQ; the current V19.1.0 has the same wording [ETSI link to confirm in a browser]. ETSI TS 102 250-6 V1.3.1 covers QoS aggregation but network-performance post-processing only marginally. Also considered: M-Lab NDT7, whose rows carry parser provenance for its own pipeline; the NTIA SigMF namespaces for spectrum products; and Kaplan et al. 2025 (Turkcell), which compares a web interface, AT commands and XCAL on two CPEs and rates XCAL most accurate without independent ground truth, with XCAL reporting at 1 s. We also considered ITU-T E.804, Workflow Run RO-Crate and multiverse analysis. Community artifacts (SIGCOMM'22/'24, CoNEXT'25, Lumos5G) are enhancement targets, judged from top-level documentation only. Procedure precedent outside wireless: ActiGraph activity counts depend on a vendor sampling setting (Brønd and Arvidsson 2016); the proprietary procedure was recovered by controlled experiment, by hand, for one device (Brønd et al. 2017), and the vendor later published it (Neishabouri et al. 2022). Our delta is per-value, build-pinned recovery for wireless post-processors with an independent check. Sources: github.com fgsect/scat, mobile-insight/mobileinsight-core, P1sec/QCSuper, EFForg/rayhunter, sigmf/SigMF, mobile-insight/mobicom21-data-release, NTIA/sigmf-ns-ntia; docs.mlcommons.org (Croissant 1.1); w3.org (PROV-O); rfc-editor.org (RFC 8911, RFC 8193); icir.org (Paxson IMC04); etsi.org (TS 132 404 V19.0.0, TS 102 250-2 V2.7.1, TS 102 250-6 V1.3.1, TS 137 320 V19.1.0); arib.or.jp (37320-a40); arXiv 2510.08752, 2603.02638, 2504.16039; measurementlab.net (NDT7); doi 10.1152/japplphysiol.00628.2015; doi 10.1249/MSS.0000000000001344; doi 10.1038/s41598-022-16003-x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cross-layer RCA of 5G video as new: Domino ('Automated, Cross-Layer Root Cause Analysis of 5G Video-Conferencing Quality Degradation') did it on private CBRS and commercial 5G. It collected two datasets and promises their release on publication. We found no public release as of Sept 2026 [re-check before submission], and the paper states no alignment bound. Do not claim the first root-cause-labeled 5G dataset: TeleLogs and TelecomTS (ICML 2026) exist. Our claim is real, commercial-network, UE-side, application-grounded labels with a validity audit, and expert labeling has not started. Also relevant: Moon et al. 1999 (skew removal) and LEMMA-RCA (real-fault multimodal RCA outside wireless). LuViRA uses RGB-D cameras, 5G massive-MIMO channels and audio, not LiDAR. A related UMN paper (Zhang et al., arXiv 2609.25304) used nuScenes plus replayed 5G traces, not co-registered data. Sources: arXiv 2211.09769, 2302.05309, 2505.14540, 2510.06063, 2103.14749, 2406.05375, 2609.25304; doi.org 10.1145/277851.277865, 10.1109/infcom.1999.749287, 10.1145/3411824, 10.1109/spw53761.2021.00009; dl.acm.org 10.1145/3651890.3672225, 10.1145/3544216.3544251; huggingface.co netop/TeleLogs; github.com Ali-maatouk/TelecomTS, mobile-insight/mobileinsight-core (analyzer/kpi); nsf.gov awards 2531134, 2613350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refutation passes found that every method behind C2, C3 and the Recovery Engine has precedent. We claim their application to wireless post-processors and the measured content, not the methods. Row 1: metrology already validates the software stage with reference data, but against a specified algorithm (ISO 10360-6; TraCIM, Wendt et al. 2015; EMRP NEW06, Forbes et al. 2015). Recovering an unspecified vendor procedure by controlled experiment also has precedent, by hand and for one device (ActiGraph counts; Brønd et al. 2016, 2017). Row 3: SetGo (2026) assesses and repairs dataset metadata, with a skill for coding agents, and the Croissant checker gates NeurIPS 2026 submissions for schema and RAI completeness. AI-generated metadata is not new; measured per-value procedure content is. Row 4: DocTer found 43 documentation inconsistencies by fuzzing APIs. CASCADE's second path is LLM-generated code. UNMASQUE and Xpose recover hidden SQL from opaque applications and check it on the same executable. DIKEUE (LTE devices) and 5GBaseChecker (17 commercial 5G basebands) learn control-plane state machines. Siegmund et al. (2015) learn how options change performance. Row 5, the closest: DRAFT (ICLR 2025), PLAY2PROMPT and ToolObserver explore opaque tools and rewrite their documentation. ZhuLong infers undocumented APIs of a commercial EDA tool by counterfactual experiment. FIND and MAIA describe black-box functions by experiment. All admit what they learn by task success, assertions or self-generated examples. Our decisive difference is agent- and vendor-independent certification, so the certified share (RQ4) and the false-certified rate (RQ1b) decide the claim; if the independent path stays thin, the engine is 'DRAFT applied to XCAP'. Row 6: OSWorld, ScienceBoard (169 tasks), ProSoftArena and ERPBench score agents against answers their authors hold. ConditionalQA, DiscoveryBench and AbstentionBench score answer conditions, context and abstention, not disclosure of instrument settings. Notes only: Coscientist and the AI Scientist study the world, not the instrument. k-agents and APEXA calibrate physical instruments; APEXA refuses results no execution produced. Self-correction without outside feedback is unreliable (Huang et al., ICLR 2024), and LLM errors correlate across providers (Kim et al., ICML 2025); CRITIC and Pan et al. (COLM 2024) check task outputs. Kim and Ailamaki (2026) bind results to executions. StarCodex validates agent-written Starlink analysis against given semantics. TelcoAgent encodes what 3GPP says a KPM means. Deequ (PVLDB 2018) adds data unit tests and BLADE (EMNLP 2024) evaluates analysts' choices; neither scores hidden tool settings. The Confident-Wrong grade is adapted from Mehta (2026). Entries were checked against arXiv, Crossref or publisher pages. Sources: wikipedia.org N-version_programming; itl.nist.gov StRD; doi 10.1142/9789814678629_0047; doi 10.1142/9789814678629_0019; doi 10.1152/japplphysiol.00628.2015; doi 10.1249/MSS.0000000000001344; dwheeler.com trusting-trust; reproducible-builds.org; slsa.dev v1.0 verification_summary; w3.org TR vocab-dqv; arXiv 2406.19256 (AIDRIN); doi 10.1016/j.patter.2021.100370; doi 10.1038/s41597-019-0184-5; huggingface.co croissant-checker; arXiv 2607.22677; arXiv 2109.01002; doi 10.1145/3808175; arXiv 2510.09907; doi 10.1145/3448016.3457252; arXiv 2504.10898; doi 10.1016/0890-5401(87)90052-6; doi 10.1145/3460120.3485388; usenix.org usenixsecurity24 tu; doi 10.1145/2786805.2786845; arXiv 2410.08197, 2503.14432, 2602.15197, 2608.07925, 2309.03886, 2404.14394; arXiv 2404.07972, 2505.19897, 2601.02399, 2609.17885; doi 10.18653/v1/2022.acl-long.253; arXiv 2407.01725, 2506.09038; doi 10.1038/s41586-023-06792-0; arXiv 2408.06292, 2412.07978, 2609.24165, 2310.01798, 2506.07962, 2305.11738, 2404.06474, 2607.10508, 2607.15541, 2606.19821, 2603.25764; vldb.org PVLDB vol11 p1781 (Deequ); arXiv 2408.09667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and phrasings deliberately not used anywhere in this deck, and why: 'the agent recovers semantics' as a result (the engine is not built); the Confident-Wrong candidate as a finding (1 seed, 1 grader); 'reached the value in 10 of 11 tasks' (5 of the 10 are non-numeric); 'Calibration Agent' and 'calibration in the VIM sense' (no measurement standards; clashes with the T3 calibration); 'recursive self-improvement' (internal term only); the agent's architecture names and cost curves (kept for our manuscript in preparation); 17.6 s (superseded by the 18.4755 s constant offset); the leap-second explanation (does not hold); 310 handovers (name matching, dedup unverified); an agent answering '0 s' (a prediction, not an observation); the P5 20%/25% scores (structural ceiling); ScreenSpot-Pro and MRCR figures (no source URL); 'not saved with the result' (no source); 'needs one more capture' (out of scope); undated instance counts (records conflict); '13 independently measured ways' (count unstable, rows retracted); '87% of handovers cause no interruption' as a network finding; the 1273x tolerance (wrong unit); open-book gain (awaits a second grader); 482k messages (no record); per-layer table counts (projection-dependent); 'Area Binning forces Mode' (untested); outside OPEX figures (no URL). Retired in this revision: 'decoded identically' (only record counts and 3 of 141 payload codes are checked); 'a truly independent path' for the 50/50 values (both paths come from XCAP); 165/166 = 99.4% as a headline (denominator unconfirmed); a 'silent' default meaning undocumented (the 1 Sec default is documented); 'Planning on today's evidence' (the vault gate needs at least one interested group); 'no vendor documents given' for the P5 round (excerpts were given); '13 of 24 by absolute thresholds' (the detectors also use relative collapse and verified event classes); 'no standard for tool-side binning' (ETSI TS 102 250-6 exists); 'no benchmark scores conditions' (ConditionalQA, DiscoveryBench); 'RCA label sets are synthetic' (TelecomTS is testbed-based); AERPAW 'not across tools' (it compares two); 'network-side logging interval' for MDT; 'prove independence'; the SHARDED system name (unverified). Sources: W01 update continue.md (A2, B1, B2, D1, T-01, T-02, T-08, T-12); W02.md (B1, §0.4, §5.4-5.6); q1.md (§1, §2.3, §4); MASTER-STATUS.md (§4.3, §5, §6); W01 阶段汇报.md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Teleop alignment holds only to seconds, limited by phone-clock jitter of 5,028.6 ms, 12x that of streaming. Mapping: the first challenge goes to T2 (RQ4), the second to T1 (RQ1, RQ1b), the third to RQ2 and the fourth to governance. Sources: W01 update continue.md (B2, T-05); MASTER-STATUS.md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Licences and privacy: slide 18. Domino overlap: slides 9 and 15, and the Appendix C prior art. 'A vendor bug report': we cite only version-pinned, value-changing rows and plan replication on a second tool (slide 11, F2). 'Agents are unreliable': that is our premise; the engine proposes and experiments, and only a human-reviewed check on a path free of it certifies (slides 12, 14). 'The Two-Path Rule is not met today': correct at value level; values ship as provisional until an independent path exists (slides 8, 14). NeTS is NSF 25-543; confirm it is still current on Nov 4. 'Why trust an AI to write metadata?': we don't; RQ1b scores it blind and counts planted false claims that get certified. 'Why not just scripts?': scripts run the sweeps, and RQ1b compares the engine with a scripted-only arm. 'Is this the agent paper?' (internal: SIGCOMM '27): that manuscript covers the agent's design and cross-layer diagnosis; this proposal funds dataset content, its verification and harmonization. Sources: nsf.gov NSF 26-512 solicitation; nsf.gov NeTS program page; arXiv 2505.14540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keywords line: 'Keywords: CISE; ENG; wireless networking; mobile network measurement; AI for networking' [finalize]. The solicitation asks for a prioritized list of 2-5 keywords or phrases naming the NSF Directorates and/or scientific communities that benefit most (e.g., 'CISE' or 'astrophysics'), separated by semicolons. 'Measurement provenance' and 'AI-ready datasets' are topics, not communities, so they belong in the summary body. FIT-AND-PLAN §4 suggested directorate-only keywords; this draft combines directorates and communities, which the solicitation allows. The solicitation's own Impact example contains the typo 'AIDatesets'. A Planning proposal has an 8-page Project Description (PAPPG 24-1 II.F.1). URLs must not be used in the PD, and letters of collaboration state intent only (II.D.2.d). The mentoring plan applies when postdocs or graduate students are funded. PAPPG 24-1, with Supplements NSF 26-200 and 26-202, is current, and NSF's draft Guidance on Financial Assistance will replace it; confirm which governs on Nov 4, 2026. Travel: attend the bi-annual virtual meetings, and budget travel for in-person meetings such as an annual PI meeting or the NSF NAIRR community meeting. The Research plan section now includes the Recovery Engine (slide 12) as the method of T1, with RQ1b under RQ1. Sources: nsf.gov NSF 26-512 solicitation; nsf.gov PAPPG 24-1 ch. 2 (proposal preparation); nsf.gov/policies/pappg; NSF-26-512-FIT-AND-PLAN.md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2800" y="812800"/>
            <a:ext cx="762000" cy="50800"/>
          </a:xfrm>
          <a:prstGeom prst="rect">
            <a:avLst/>
          </a:prstGeom>
          <a:solidFill>
            <a:srgbClr val="F2A36B"/>
          </a:solidFill>
          <a:ln/>
        </p:spPr>
      </p:sp>
      <p:sp>
        <p:nvSpPr>
          <p:cNvPr id="3" name="Text 1"/>
          <p:cNvSpPr/>
          <p:nvPr/>
        </p:nvSpPr>
        <p:spPr>
          <a:xfrm>
            <a:off x="812800" y="157832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NSF 26-512 · AI DATASETS · PROPOSAL CONCEPT · UNIVERSITY OF MINNESOTA · SEPTEMBER 2026</a:t>
            </a:r>
            <a:endParaRPr lang="en-US" sz="1200" dirty="0"/>
          </a:p>
        </p:txBody>
      </p:sp>
      <p:sp>
        <p:nvSpPr>
          <p:cNvPr id="4" name="Text 2"/>
          <p:cNvSpPr/>
          <p:nvPr/>
        </p:nvSpPr>
        <p:spPr>
          <a:xfrm>
            <a:off x="812800" y="1994843"/>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1EA"/>
                </a:solidFill>
                <a:latin typeface="Source Serif 4" pitchFamily="34" charset="0"/>
                <a:ea typeface="Source Serif 4" pitchFamily="34" charset="-122"/>
                <a:cs typeface="Source Serif 4" pitchFamily="34" charset="-120"/>
              </a:rPr>
              <a:t>Metrology for Wireless Data</a:t>
            </a:r>
            <a:endParaRPr lang="en-US" sz="4800" dirty="0"/>
          </a:p>
        </p:txBody>
      </p:sp>
      <p:sp>
        <p:nvSpPr>
          <p:cNvPr id="5" name="Text 3"/>
          <p:cNvSpPr/>
          <p:nvPr/>
        </p:nvSpPr>
        <p:spPr>
          <a:xfrm>
            <a:off x="812800" y="2736503"/>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AB0"/>
                </a:solidFill>
                <a:latin typeface="IBM Plex Sans" pitchFamily="34" charset="0"/>
                <a:ea typeface="IBM Plex Sans" pitchFamily="34" charset="-122"/>
                <a:cs typeface="IBM Plex Sans" pitchFamily="34" charset="-120"/>
              </a:rPr>
              <a:t>AIDatasets:[track set at the Oct 14 gate]: Metrology for Wireless Data</a:t>
            </a:r>
            <a:endParaRPr lang="en-US" sz="1300" dirty="0"/>
          </a:p>
        </p:txBody>
      </p:sp>
      <p:sp>
        <p:nvSpPr>
          <p:cNvPr id="6" name="Text 4"/>
          <p:cNvSpPr/>
          <p:nvPr/>
        </p:nvSpPr>
        <p:spPr>
          <a:xfrm>
            <a:off x="812800" y="3170833"/>
            <a:ext cx="9810750" cy="35113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B9C3D6"/>
                </a:solidFill>
                <a:latin typeface="IBM Plex Sans" pitchFamily="34" charset="0"/>
                <a:ea typeface="IBM Plex Sans" pitchFamily="34" charset="-122"/>
                <a:cs typeface="IBM Plex Sans" pitchFamily="34" charset="-120"/>
              </a:rPr>
              <a:t>Making existing wireless measurement datasets traceable, verified and AI-ready</a:t>
            </a:r>
            <a:endParaRPr lang="en-US" sz="1900" dirty="0"/>
          </a:p>
        </p:txBody>
      </p:sp>
      <p:sp>
        <p:nvSpPr>
          <p:cNvPr id="7" name="Shape 5"/>
          <p:cNvSpPr/>
          <p:nvPr/>
        </p:nvSpPr>
        <p:spPr>
          <a:xfrm>
            <a:off x="831850" y="3699768"/>
            <a:ext cx="0" cy="711200"/>
          </a:xfrm>
          <a:prstGeom prst="line">
            <a:avLst/>
          </a:prstGeom>
          <a:noFill/>
          <a:ln w="38100">
            <a:solidFill>
              <a:srgbClr val="F2A36B"/>
            </a:solidFill>
            <a:prstDash val="solid"/>
          </a:ln>
        </p:spPr>
      </p:sp>
      <p:sp>
        <p:nvSpPr>
          <p:cNvPr id="8" name="Text 6"/>
          <p:cNvSpPr/>
          <p:nvPr/>
        </p:nvSpPr>
        <p:spPr>
          <a:xfrm>
            <a:off x="1054100" y="3725168"/>
            <a:ext cx="9954641"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4F1EA"/>
                </a:solidFill>
                <a:latin typeface="Source Serif 4" pitchFamily="34" charset="0"/>
                <a:ea typeface="Source Serif 4" pitchFamily="34" charset="-122"/>
                <a:cs typeface="Source Serif 4" pitchFamily="34" charset="-120"/>
              </a:rPr>
              <a:t>Every wireless number should say how it was computed, on which clock, and which independent path checked it.</a:t>
            </a:r>
            <a:endParaRPr lang="en-US" sz="2000" dirty="0"/>
          </a:p>
        </p:txBody>
      </p:sp>
      <p:sp>
        <p:nvSpPr>
          <p:cNvPr id="9" name="Text 7"/>
          <p:cNvSpPr/>
          <p:nvPr/>
        </p:nvSpPr>
        <p:spPr>
          <a:xfrm>
            <a:off x="812800" y="4614168"/>
            <a:ext cx="102031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Scope · existing radio KPIs that closed analysis tools derived from phone chipset logs, plus same-session application logs; no new collection</a:t>
            </a:r>
            <a:endParaRPr lang="en-US" sz="1300" dirty="0"/>
          </a:p>
        </p:txBody>
      </p:sp>
      <p:sp>
        <p:nvSpPr>
          <p:cNvPr id="10" name="Text 8"/>
          <p:cNvSpPr/>
          <p:nvPr/>
        </p:nvSpPr>
        <p:spPr>
          <a:xfrm>
            <a:off x="812800" y="60172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[PI and team] · University of Minnesota · internal gate Oct 14 · deadline Nov 4,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Wireless findings rest on derived numbers, and the releases we checked do not say how they were derived</a:t>
            </a:r>
            <a:endParaRPr lang="en-US" sz="2800" dirty="0"/>
          </a:p>
        </p:txBody>
      </p:sp>
      <p:sp>
        <p:nvSpPr>
          <p:cNvPr id="4" name="Text 2"/>
          <p:cNvSpPr/>
          <p:nvPr/>
        </p:nvSpPr>
        <p:spPr>
          <a:xfrm>
            <a:off x="812800" y="2051248"/>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Researchers explain coverage, handovers and video stalls with KPIs (</a:t>
            </a:r>
            <a:r>
              <a:rPr lang="en-US" sz="1300" b="1" dirty="0">
                <a:solidFill>
                  <a:srgbClr val="3F4A5C"/>
                </a:solidFill>
                <a:latin typeface="IBM Plex Sans" pitchFamily="34" charset="0"/>
                <a:ea typeface="IBM Plex Sans" pitchFamily="34" charset="-122"/>
                <a:cs typeface="IBM Plex Sans" pitchFamily="34" charset="-120"/>
              </a:rPr>
              <a:t>SINR, RSRP, throughput</a:t>
            </a:r>
            <a:r>
              <a:rPr lang="en-US" sz="1300" dirty="0">
                <a:solidFill>
                  <a:srgbClr val="3F4A5C"/>
                </a:solidFill>
                <a:latin typeface="IBM Plex Sans" pitchFamily="34" charset="0"/>
                <a:ea typeface="IBM Plex Sans" pitchFamily="34" charset="-122"/>
                <a:cs typeface="IBM Plex Sans" pitchFamily="34" charset="-120"/>
              </a:rPr>
              <a:t>) that an analysis tool derived from chipset logs</a:t>
            </a:r>
            <a:endParaRPr lang="en-US" sz="1300" dirty="0"/>
          </a:p>
        </p:txBody>
      </p:sp>
      <p:sp>
        <p:nvSpPr>
          <p:cNvPr id="5" name="Shape 3"/>
          <p:cNvSpPr/>
          <p:nvPr/>
        </p:nvSpPr>
        <p:spPr>
          <a:xfrm>
            <a:off x="815975" y="2437954"/>
            <a:ext cx="4692650" cy="1457821"/>
          </a:xfrm>
          <a:prstGeom prst="roundRect">
            <a:avLst>
              <a:gd name="adj" fmla="val 6752"/>
            </a:avLst>
          </a:prstGeom>
          <a:solidFill>
            <a:srgbClr val="FFFDF8"/>
          </a:solidFill>
          <a:ln w="6350">
            <a:solidFill>
              <a:srgbClr val="DAD6CB"/>
            </a:solidFill>
            <a:prstDash val="solid"/>
          </a:ln>
        </p:spPr>
      </p:sp>
      <p:sp>
        <p:nvSpPr>
          <p:cNvPr id="6" name="Text 4"/>
          <p:cNvSpPr/>
          <p:nvPr/>
        </p:nvSpPr>
        <p:spPr>
          <a:xfrm>
            <a:off x="984250" y="2580829"/>
            <a:ext cx="4486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Our own XCAL-derived release (2022–24)</a:t>
            </a:r>
            <a:endParaRPr lang="en-US" sz="1200" dirty="0"/>
          </a:p>
        </p:txBody>
      </p:sp>
      <p:sp>
        <p:nvSpPr>
          <p:cNvPr id="7" name="Text 5"/>
          <p:cNvSpPr/>
          <p:nvPr/>
        </p:nvSpPr>
        <p:spPr>
          <a:xfrm>
            <a:off x="984250" y="2844949"/>
            <a:ext cx="4486783" cy="471091"/>
          </a:xfrm>
          <a:prstGeom prst="rect">
            <a:avLst/>
          </a:prstGeom>
          <a:noFill/>
          <a:ln/>
        </p:spPr>
        <p:txBody>
          <a:bodyPr wrap="square" lIns="0" tIns="0" rIns="0" bIns="0" rtlCol="0" anchor="t">
            <a:normAutofit/>
          </a:bodyPr>
          <a:lstStyle/>
          <a:p>
            <a:pPr algn="l" indent="0" marL="0">
              <a:lnSpc>
                <a:spcPts val="1755"/>
              </a:lnSpc>
              <a:buNone/>
            </a:pPr>
            <a:r>
              <a:rPr lang="en-US" sz="1300" i="1" dirty="0">
                <a:solidFill>
                  <a:srgbClr val="14213D"/>
                </a:solidFill>
                <a:latin typeface="Source Serif 4" pitchFamily="34" charset="0"/>
                <a:ea typeface="Source Serif 4" pitchFamily="34" charset="-122"/>
                <a:cs typeface="Source Serif 4" pitchFamily="34" charset="-120"/>
              </a:rPr>
              <a:t>'sampled over 1s by averaging numeric data and finding the mode of discrete data'</a:t>
            </a:r>
            <a:endParaRPr lang="en-US" sz="1300" dirty="0"/>
          </a:p>
        </p:txBody>
      </p:sp>
      <p:sp>
        <p:nvSpPr>
          <p:cNvPr id="8" name="Text 6"/>
          <p:cNvSpPr/>
          <p:nvPr/>
        </p:nvSpPr>
        <p:spPr>
          <a:xfrm>
            <a:off x="984250" y="3341439"/>
            <a:ext cx="4486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372"/>
                </a:solidFill>
                <a:latin typeface="IBM Plex Sans" pitchFamily="34" charset="0"/>
                <a:ea typeface="IBM Plex Sans" pitchFamily="34" charset="-122"/>
                <a:cs typeface="IBM Plex Sans" pitchFamily="34" charset="-120"/>
              </a:rPr>
              <a:t>…it names XCAP-M as the CSV source, but gives </a:t>
            </a:r>
            <a:r>
              <a:rPr lang="en-US" sz="1200" b="1" dirty="0">
                <a:solidFill>
                  <a:srgbClr val="B4441A"/>
                </a:solidFill>
                <a:latin typeface="IBM Plex Sans" pitchFamily="34" charset="0"/>
                <a:ea typeface="IBM Plex Sans" pitchFamily="34" charset="-122"/>
                <a:cs typeface="IBM Plex Sans" pitchFamily="34" charset="-120"/>
              </a:rPr>
              <a:t>no XCAP version, export settings or timezone</a:t>
            </a:r>
            <a:endParaRPr lang="en-US" sz="1200" dirty="0"/>
          </a:p>
        </p:txBody>
      </p:sp>
      <p:sp>
        <p:nvSpPr>
          <p:cNvPr id="9" name="Shape 7"/>
          <p:cNvSpPr/>
          <p:nvPr/>
        </p:nvSpPr>
        <p:spPr>
          <a:xfrm>
            <a:off x="5667375" y="2437954"/>
            <a:ext cx="2774950" cy="1457821"/>
          </a:xfrm>
          <a:prstGeom prst="roundRect">
            <a:avLst>
              <a:gd name="adj" fmla="val 6752"/>
            </a:avLst>
          </a:prstGeom>
          <a:solidFill>
            <a:srgbClr val="FFFDF8"/>
          </a:solidFill>
          <a:ln w="6350">
            <a:solidFill>
              <a:srgbClr val="DAD6CB"/>
            </a:solidFill>
            <a:prstDash val="solid"/>
          </a:ln>
        </p:spPr>
      </p:sp>
      <p:sp>
        <p:nvSpPr>
          <p:cNvPr id="10" name="Text 8"/>
          <p:cNvSpPr/>
          <p:nvPr/>
        </p:nvSpPr>
        <p:spPr>
          <a:xfrm>
            <a:off x="5835650" y="2580829"/>
            <a:ext cx="251155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Vienna 4G/5G drive-test dataset (2026)</a:t>
            </a:r>
            <a:endParaRPr lang="en-US" sz="1200" dirty="0"/>
          </a:p>
        </p:txBody>
      </p:sp>
      <p:sp>
        <p:nvSpPr>
          <p:cNvPr id="11" name="Text 9"/>
          <p:cNvSpPr/>
          <p:nvPr/>
        </p:nvSpPr>
        <p:spPr>
          <a:xfrm>
            <a:off x="5835650" y="3058269"/>
            <a:ext cx="2511552" cy="471091"/>
          </a:xfrm>
          <a:prstGeom prst="rect">
            <a:avLst/>
          </a:prstGeom>
          <a:noFill/>
          <a:ln/>
        </p:spPr>
        <p:txBody>
          <a:bodyPr wrap="square" lIns="0" tIns="0" rIns="0" bIns="0" rtlCol="0" anchor="t">
            <a:normAutofit/>
          </a:bodyPr>
          <a:lstStyle/>
          <a:p>
            <a:pPr algn="l" indent="0" marL="0">
              <a:lnSpc>
                <a:spcPts val="1755"/>
              </a:lnSpc>
              <a:buNone/>
            </a:pPr>
            <a:r>
              <a:rPr lang="en-US" sz="1300" i="1" dirty="0">
                <a:solidFill>
                  <a:srgbClr val="14213D"/>
                </a:solidFill>
                <a:latin typeface="Source Serif 4" pitchFamily="34" charset="0"/>
                <a:ea typeface="Source Serif 4" pitchFamily="34" charset="-122"/>
                <a:cs typeface="Source Serif 4" pitchFamily="34" charset="-120"/>
              </a:rPr>
              <a:t>'campaign-specific export configurations are not included'</a:t>
            </a:r>
            <a:endParaRPr lang="en-US" sz="1300" dirty="0"/>
          </a:p>
        </p:txBody>
      </p:sp>
      <p:sp>
        <p:nvSpPr>
          <p:cNvPr id="12" name="Shape 10"/>
          <p:cNvSpPr/>
          <p:nvPr/>
        </p:nvSpPr>
        <p:spPr>
          <a:xfrm>
            <a:off x="8601075" y="2437954"/>
            <a:ext cx="2774950" cy="1457821"/>
          </a:xfrm>
          <a:prstGeom prst="roundRect">
            <a:avLst>
              <a:gd name="adj" fmla="val 6752"/>
            </a:avLst>
          </a:prstGeom>
          <a:solidFill>
            <a:srgbClr val="FFFDF8"/>
          </a:solidFill>
          <a:ln w="6350">
            <a:solidFill>
              <a:srgbClr val="DAD6CB"/>
            </a:solidFill>
            <a:prstDash val="solid"/>
          </a:ln>
        </p:spPr>
      </p:sp>
      <p:sp>
        <p:nvSpPr>
          <p:cNvPr id="13" name="Text 11"/>
          <p:cNvSpPr/>
          <p:nvPr/>
        </p:nvSpPr>
        <p:spPr>
          <a:xfrm>
            <a:off x="8769350" y="2580829"/>
            <a:ext cx="251155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SIGCOMM'22, SIGCOMM'24 and CoNEXT'25 artifacts</a:t>
            </a:r>
            <a:endParaRPr lang="en-US" sz="1200" dirty="0"/>
          </a:p>
        </p:txBody>
      </p:sp>
      <p:sp>
        <p:nvSpPr>
          <p:cNvPr id="14" name="Text 12"/>
          <p:cNvSpPr/>
          <p:nvPr/>
        </p:nvSpPr>
        <p:spPr>
          <a:xfrm>
            <a:off x="8769350" y="3058269"/>
            <a:ext cx="251155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Top-level docs we inspected: </a:t>
            </a:r>
            <a:r>
              <a:rPr lang="en-US" sz="1200" b="1" dirty="0">
                <a:solidFill>
                  <a:srgbClr val="B4441A"/>
                </a:solidFill>
                <a:latin typeface="IBM Plex Sans" pitchFamily="34" charset="0"/>
                <a:ea typeface="IBM Plex Sans" pitchFamily="34" charset="-122"/>
                <a:cs typeface="IBM Plex Sans" pitchFamily="34" charset="-120"/>
              </a:rPr>
              <a:t>no analysis-tool settings</a:t>
            </a:r>
            <a:endParaRPr lang="en-US" sz="1200" dirty="0"/>
          </a:p>
        </p:txBody>
      </p:sp>
      <p:sp>
        <p:nvSpPr>
          <p:cNvPr id="15" name="Shape 13"/>
          <p:cNvSpPr/>
          <p:nvPr/>
        </p:nvSpPr>
        <p:spPr>
          <a:xfrm>
            <a:off x="815975" y="4054525"/>
            <a:ext cx="10560050" cy="595610"/>
          </a:xfrm>
          <a:prstGeom prst="roundRect">
            <a:avLst>
              <a:gd name="adj" fmla="val 12261"/>
            </a:avLst>
          </a:prstGeom>
          <a:solidFill>
            <a:srgbClr val="EFEDE6"/>
          </a:solidFill>
          <a:ln w="6350">
            <a:solidFill>
              <a:srgbClr val="A9A597"/>
            </a:solidFill>
            <a:prstDash val="dash"/>
          </a:ln>
        </p:spPr>
      </p:sp>
      <p:sp>
        <p:nvSpPr>
          <p:cNvPr id="16" name="Text 14"/>
          <p:cNvSpPr/>
          <p:nvPr/>
        </p:nvSpPr>
        <p:spPr>
          <a:xfrm>
            <a:off x="971550" y="4146600"/>
            <a:ext cx="749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372"/>
                </a:solidFill>
                <a:latin typeface="IBM Plex Sans" pitchFamily="34" charset="0"/>
                <a:ea typeface="IBM Plex Sans" pitchFamily="34" charset="-122"/>
                <a:cs typeface="IBM Plex Sans" pitchFamily="34" charset="-120"/>
              </a:rPr>
              <a:t>SCOPE</a:t>
            </a:r>
            <a:endParaRPr lang="en-US" sz="1200" dirty="0"/>
          </a:p>
        </p:txBody>
      </p:sp>
      <p:sp>
        <p:nvSpPr>
          <p:cNvPr id="17" name="Text 15"/>
          <p:cNvSpPr/>
          <p:nvPr/>
        </p:nvSpPr>
        <p:spPr>
          <a:xfrm>
            <a:off x="1822450" y="4146600"/>
            <a:ext cx="96799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5 releases (3 our own), mostly top-level docs. [Systematic audit of N public releases: k/N record tool version, sampling, binning, timezone]</a:t>
            </a:r>
            <a:endParaRPr lang="en-US" sz="1200" dirty="0"/>
          </a:p>
        </p:txBody>
      </p:sp>
      <p:sp>
        <p:nvSpPr>
          <p:cNvPr id="18" name="Text 16"/>
          <p:cNvSpPr/>
          <p:nvPr/>
        </p:nvSpPr>
        <p:spPr>
          <a:xfrm>
            <a:off x="812800" y="480571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372"/>
                </a:solidFill>
                <a:latin typeface="IBM Plex Sans" pitchFamily="34" charset="0"/>
                <a:ea typeface="IBM Plex Sans" pitchFamily="34" charset="-122"/>
                <a:cs typeface="IBM Plex Sans" pitchFamily="34" charset="-120"/>
              </a:rPr>
              <a:t>SINR: signal vs noise and interference. RSRP: received reference-signal power. KPI: a derived indicator.</a:t>
            </a:r>
            <a:endParaRPr lang="en-US" sz="1200" dirty="0"/>
          </a:p>
        </p:txBody>
      </p:sp>
      <p:sp>
        <p:nvSpPr>
          <p:cNvPr id="19" name="Text 17"/>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20" name="Text 1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NAMED IDEA 1 · THE MEASUREMENT EQUATION</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 wireless KPI is the output of a measurement procedure whose terms go unrecorded</a:t>
            </a:r>
            <a:endParaRPr lang="en-US" sz="2800" dirty="0"/>
          </a:p>
        </p:txBody>
      </p:sp>
      <p:sp>
        <p:nvSpPr>
          <p:cNvPr id="4" name="Shape 2"/>
          <p:cNvSpPr/>
          <p:nvPr/>
        </p:nvSpPr>
        <p:spPr>
          <a:xfrm>
            <a:off x="812800" y="1987748"/>
            <a:ext cx="10566400" cy="408930"/>
          </a:xfrm>
          <a:prstGeom prst="roundRect">
            <a:avLst>
              <a:gd name="adj" fmla="val 24845"/>
            </a:avLst>
          </a:prstGeom>
          <a:solidFill>
            <a:srgbClr val="14213D"/>
          </a:solidFill>
          <a:ln/>
        </p:spPr>
      </p:sp>
      <p:sp>
        <p:nvSpPr>
          <p:cNvPr id="5" name="Text 3"/>
          <p:cNvSpPr/>
          <p:nvPr/>
        </p:nvSpPr>
        <p:spPr>
          <a:xfrm>
            <a:off x="1016000" y="2076648"/>
            <a:ext cx="984462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4F1EA"/>
                </a:solidFill>
                <a:latin typeface="Source Serif 4" pitchFamily="34" charset="0"/>
                <a:ea typeface="Source Serif 4" pitchFamily="34" charset="-122"/>
                <a:cs typeface="Source Serif 4" pitchFamily="34" charset="-120"/>
              </a:rPr>
              <a:t>value = </a:t>
            </a:r>
            <a:r>
              <a:rPr lang="en-US" sz="1400" b="1" dirty="0">
                <a:solidFill>
                  <a:srgbClr val="F2A36B"/>
                </a:solidFill>
                <a:latin typeface="Source Serif 4" pitchFamily="34" charset="0"/>
                <a:ea typeface="Source Serif 4" pitchFamily="34" charset="-122"/>
                <a:cs typeface="Source Serif 4" pitchFamily="34" charset="-120"/>
              </a:rPr>
              <a:t>f(raw capture, tool build and mode, sampling and binning rule, event definition, export timezone, clock)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98279"/>
          <a:ext cx="10553700" cy="2328763"/>
        </p:xfrm>
        <a:graphic>
          <a:graphicData uri="http://schemas.openxmlformats.org/drawingml/2006/table">
            <a:tbl>
              <a:tblPr/>
              <a:tblGrid>
                <a:gridCol w="2532888"/>
                <a:gridCol w="8020812"/>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we measured on existing data (Accuver XCAP-M 5.33.0.15, the analysis tool for XCAL logs)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Raw capture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8 traces (3.3 GB) lack packet messages; positive control: capture off at collection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Tool build and mode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label 5.33.0.15, binaries built as 5.33.0.9; index tables: command line 2, GUI 337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Sampling and binning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11 settings, 1 Sec default; per parameter: average 620, mode 123, blank 428 of 1,171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Event definition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124 handover records are 62 handovers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Export timezone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same export action: 18,000 s (5 h) behind chipset time on one campaign, 0 s on another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Clock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two timestamps inside each record differ by a constant 18.4755 s; cause unknown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7" name="Text 4"/>
          <p:cNvSpPr/>
          <p:nvPr/>
        </p:nvSpPr>
        <p:spPr>
          <a:xfrm>
            <a:off x="812800" y="491594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Releases keep the output, at best the raw capture.</a:t>
            </a:r>
            <a:r>
              <a:rPr lang="en-US" sz="1300" dirty="0">
                <a:solidFill>
                  <a:srgbClr val="14213D"/>
                </a:solidFill>
                <a:latin typeface="IBM Plex Sans" pitchFamily="34" charset="0"/>
                <a:ea typeface="IBM Plex Sans" pitchFamily="34" charset="-122"/>
                <a:cs typeface="IBM Plex Sans" pitchFamily="34" charset="-120"/>
              </a:rPr>
              <a:t> A number without the other terms is an observation, not yet a measurement.</a:t>
            </a:r>
            <a:endParaRPr lang="en-US" sz="1300" dirty="0"/>
          </a:p>
        </p:txBody>
      </p:sp>
      <p:sp>
        <p:nvSpPr>
          <p:cNvPr id="8" name="Text 5"/>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WHY THE PROBLEM IS FUNDAMENTAL</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One trace, two answers: worst SINR is −20.0 or −12.9 dB, depending on a default no release records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25848"/>
          <a:ext cx="6083300" cy="1211362"/>
        </p:xfrm>
        <a:graphic>
          <a:graphicData uri="http://schemas.openxmlformats.org/drawingml/2006/table">
            <a:tbl>
              <a:tblPr/>
              <a:tblGrid>
                <a:gridCol w="3102483"/>
                <a:gridCol w="1155827"/>
                <a:gridCol w="1824990"/>
              </a:tblGrid>
              <a:tr h="546001">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Worst SINR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Time below −125 dBm</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[RSRP, to confirm]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'All' setting (the tool's finest)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−20.0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21.33%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Sec (the documented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−12.9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17.00%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3313410"/>
            <a:ext cx="627888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4A5C"/>
                </a:solidFill>
                <a:latin typeface="IBM Plex Sans" pitchFamily="34" charset="0"/>
                <a:ea typeface="IBM Plex Sans" pitchFamily="34" charset="-122"/>
                <a:cs typeface="IBM Plex Sans" pitchFamily="34" charset="-120"/>
              </a:rPr>
              <a:t>Not a decoding problem:</a:t>
            </a:r>
            <a:r>
              <a:rPr lang="en-US" sz="1200" dirty="0">
                <a:solidFill>
                  <a:srgbClr val="3F4A5C"/>
                </a:solidFill>
                <a:latin typeface="IBM Plex Sans" pitchFamily="34" charset="0"/>
                <a:ea typeface="IBM Plex Sans" pitchFamily="34" charset="-122"/>
                <a:cs typeface="IBM Plex Sans" pitchFamily="34" charset="-120"/>
              </a:rPr>
              <a:t> on the same ping batch, our reader matches the tool's record counts on </a:t>
            </a:r>
            <a:r>
              <a:rPr lang="en-US" sz="1200" b="1" dirty="0">
                <a:solidFill>
                  <a:srgbClr val="1F4E8C"/>
                </a:solidFill>
                <a:latin typeface="IBM Plex Sans" pitchFamily="34" charset="0"/>
                <a:ea typeface="IBM Plex Sans" pitchFamily="34" charset="-122"/>
                <a:cs typeface="IBM Plex Sans" pitchFamily="34" charset="-120"/>
              </a:rPr>
              <a:t>165 of 167</a:t>
            </a:r>
            <a:r>
              <a:rPr lang="en-US" sz="1200" dirty="0">
                <a:solidFill>
                  <a:srgbClr val="3F4A5C"/>
                </a:solidFill>
                <a:latin typeface="IBM Plex Sans" pitchFamily="34" charset="0"/>
                <a:ea typeface="IBM Plex Sans" pitchFamily="34" charset="-122"/>
                <a:cs typeface="IBM Plex Sans" pitchFamily="34" charset="-120"/>
              </a:rPr>
              <a:t> log codes</a:t>
            </a:r>
            <a:endParaRPr lang="en-US" sz="1200" dirty="0"/>
          </a:p>
        </p:txBody>
      </p:sp>
      <p:sp>
        <p:nvSpPr>
          <p:cNvPr id="6" name="Shape 3"/>
          <p:cNvSpPr/>
          <p:nvPr/>
        </p:nvSpPr>
        <p:spPr>
          <a:xfrm>
            <a:off x="831850" y="3801070"/>
            <a:ext cx="0" cy="487660"/>
          </a:xfrm>
          <a:prstGeom prst="line">
            <a:avLst/>
          </a:prstGeom>
          <a:noFill/>
          <a:ln w="38100">
            <a:solidFill>
              <a:srgbClr val="B4441A"/>
            </a:solidFill>
            <a:prstDash val="solid"/>
          </a:ln>
        </p:spPr>
      </p:sp>
      <p:sp>
        <p:nvSpPr>
          <p:cNvPr id="7" name="Text 4"/>
          <p:cNvSpPr/>
          <p:nvPr/>
        </p:nvSpPr>
        <p:spPr>
          <a:xfrm>
            <a:off x="1003300" y="3839170"/>
            <a:ext cx="6082665"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Not a bug: it is aggregation arithmetic.</a:t>
            </a:r>
            <a:r>
              <a:rPr lang="en-US" sz="1200" dirty="0">
                <a:solidFill>
                  <a:srgbClr val="14213D"/>
                </a:solidFill>
                <a:latin typeface="IBM Plex Sans" pitchFamily="34" charset="0"/>
                <a:ea typeface="IBM Plex Sans" pitchFamily="34" charset="-122"/>
                <a:cs typeface="IBM Plex Sans" pitchFamily="34" charset="-120"/>
              </a:rPr>
              <a:t> The problem is that no release records which aggregation produced its numbers.</a:t>
            </a:r>
            <a:endParaRPr lang="en-US" sz="1200" dirty="0"/>
          </a:p>
        </p:txBody>
      </p:sp>
      <p:sp>
        <p:nvSpPr>
          <p:cNvPr id="8" name="Text 5"/>
          <p:cNvSpPr/>
          <p:nvPr/>
        </p:nvSpPr>
        <p:spPr>
          <a:xfrm>
            <a:off x="7162800" y="2013148"/>
            <a:ext cx="43428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WHY IT WILL NOT FIX ITSELF</a:t>
            </a:r>
            <a:endParaRPr lang="en-US" sz="1200" dirty="0"/>
          </a:p>
        </p:txBody>
      </p:sp>
      <p:sp>
        <p:nvSpPr>
          <p:cNvPr id="9" name="Shape 6"/>
          <p:cNvSpPr/>
          <p:nvPr/>
        </p:nvSpPr>
        <p:spPr>
          <a:xfrm>
            <a:off x="7162800" y="2293144"/>
            <a:ext cx="4216400" cy="0"/>
          </a:xfrm>
          <a:prstGeom prst="line">
            <a:avLst/>
          </a:prstGeom>
          <a:noFill/>
          <a:ln w="6350">
            <a:solidFill>
              <a:srgbClr val="DAD6CB"/>
            </a:solidFill>
            <a:prstDash val="solid"/>
          </a:ln>
        </p:spPr>
      </p:sp>
      <p:sp>
        <p:nvSpPr>
          <p:cNvPr id="10" name="Text 7"/>
          <p:cNvSpPr/>
          <p:nvPr/>
        </p:nvSpPr>
        <p:spPr>
          <a:xfrm>
            <a:off x="7162800" y="2372519"/>
            <a:ext cx="4342892"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3GPP leaves RSRP resource-element use 'up to the UE implementation'; no standard or release we found records vendor binning</a:t>
            </a:r>
            <a:endParaRPr lang="en-US" sz="1200" dirty="0"/>
          </a:p>
        </p:txBody>
      </p:sp>
      <p:sp>
        <p:nvSpPr>
          <p:cNvPr id="11" name="Shape 8"/>
          <p:cNvSpPr/>
          <p:nvPr/>
        </p:nvSpPr>
        <p:spPr>
          <a:xfrm>
            <a:off x="7162800" y="3056384"/>
            <a:ext cx="4216400" cy="0"/>
          </a:xfrm>
          <a:prstGeom prst="line">
            <a:avLst/>
          </a:prstGeom>
          <a:noFill/>
          <a:ln w="6350">
            <a:solidFill>
              <a:srgbClr val="DAD6CB"/>
            </a:solidFill>
            <a:prstDash val="solid"/>
          </a:ln>
        </p:spPr>
      </p:sp>
      <p:sp>
        <p:nvSpPr>
          <p:cNvPr id="12" name="Text 9"/>
          <p:cNvSpPr/>
          <p:nvPr/>
        </p:nvSpPr>
        <p:spPr>
          <a:xfrm>
            <a:off x="7162800" y="3135759"/>
            <a:ext cx="434289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Averaged data cannot be un-averaged: once raw logs are gone, an unrecorded procedure is lost</a:t>
            </a:r>
            <a:endParaRPr lang="en-US" sz="1200" dirty="0"/>
          </a:p>
        </p:txBody>
      </p:sp>
      <p:sp>
        <p:nvSpPr>
          <p:cNvPr id="13" name="Shape 10"/>
          <p:cNvSpPr/>
          <p:nvPr/>
        </p:nvSpPr>
        <p:spPr>
          <a:xfrm>
            <a:off x="7162800" y="3613894"/>
            <a:ext cx="4216400" cy="0"/>
          </a:xfrm>
          <a:prstGeom prst="line">
            <a:avLst/>
          </a:prstGeom>
          <a:noFill/>
          <a:ln w="6350">
            <a:solidFill>
              <a:srgbClr val="DAD6CB"/>
            </a:solidFill>
            <a:prstDash val="solid"/>
          </a:ln>
        </p:spPr>
      </p:sp>
      <p:sp>
        <p:nvSpPr>
          <p:cNvPr id="14" name="Text 11"/>
          <p:cNvSpPr/>
          <p:nvPr/>
        </p:nvSpPr>
        <p:spPr>
          <a:xfrm>
            <a:off x="7162800" y="3693269"/>
            <a:ext cx="434289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Tool documentation differs from tool behavior, so the procedure must be measured, not copied</a:t>
            </a:r>
            <a:endParaRPr lang="en-US" sz="1200" dirty="0"/>
          </a:p>
        </p:txBody>
      </p:sp>
      <p:sp>
        <p:nvSpPr>
          <p:cNvPr id="15" name="Shape 12"/>
          <p:cNvSpPr/>
          <p:nvPr/>
        </p:nvSpPr>
        <p:spPr>
          <a:xfrm>
            <a:off x="812800" y="4403030"/>
            <a:ext cx="10566400" cy="623491"/>
          </a:xfrm>
          <a:prstGeom prst="roundRect">
            <a:avLst>
              <a:gd name="adj" fmla="val 16295"/>
            </a:avLst>
          </a:prstGeom>
          <a:solidFill>
            <a:srgbClr val="14213D"/>
          </a:solidFill>
          <a:ln/>
        </p:spPr>
      </p:sp>
      <p:sp>
        <p:nvSpPr>
          <p:cNvPr id="16" name="Text 13"/>
          <p:cNvSpPr/>
          <p:nvPr/>
        </p:nvSpPr>
        <p:spPr>
          <a:xfrm>
            <a:off x="1016000" y="4491930"/>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METROLOGY</a:t>
            </a:r>
            <a:endParaRPr lang="en-US" sz="1200" dirty="0"/>
          </a:p>
        </p:txBody>
      </p:sp>
      <p:sp>
        <p:nvSpPr>
          <p:cNvPr id="17" name="Text 14"/>
          <p:cNvSpPr/>
          <p:nvPr/>
        </p:nvSpPr>
        <p:spPr>
          <a:xfrm>
            <a:off x="2184400" y="4491930"/>
            <a:ext cx="9261348"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F1EA"/>
                </a:solidFill>
                <a:latin typeface="IBM Plex Sans" pitchFamily="34" charset="0"/>
                <a:ea typeface="IBM Plex Sans" pitchFamily="34" charset="-122"/>
                <a:cs typeface="IBM Plex Sans" pitchFamily="34" charset="-120"/>
              </a:rPr>
              <a:t>Definitional uncertainty (VIM 2.27):</a:t>
            </a:r>
            <a:r>
              <a:rPr lang="en-US" sz="1300" dirty="0">
                <a:solidFill>
                  <a:srgbClr val="F4F1EA"/>
                </a:solidFill>
                <a:latin typeface="IBM Plex Sans" pitchFamily="34" charset="0"/>
                <a:ea typeface="IBM Plex Sans" pitchFamily="34" charset="-122"/>
                <a:cs typeface="IBM Plex Sans" pitchFamily="34" charset="-120"/>
              </a:rPr>
              <a:t> uncertainty from an incomplete definition of what is measured; no re-measurement removes it</a:t>
            </a:r>
            <a:endParaRPr lang="en-US" sz="1300" dirty="0"/>
          </a:p>
        </p:txBody>
      </p:sp>
      <p:sp>
        <p:nvSpPr>
          <p:cNvPr id="18" name="Text 15"/>
          <p:cNvSpPr/>
          <p:nvPr/>
        </p:nvSpPr>
        <p:spPr>
          <a:xfrm>
            <a:off x="812800" y="514082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372"/>
                </a:solidFill>
                <a:latin typeface="IBM Plex Sans" pitchFamily="34" charset="0"/>
                <a:ea typeface="IBM Plex Sans" pitchFamily="34" charset="-122"/>
                <a:cs typeface="IBM Plex Sans" pitchFamily="34" charset="-120"/>
              </a:rPr>
              <a:t>Scope · one ping trace, one build; 3 of 11 settings tested, values recorded for 2</a:t>
            </a:r>
            <a:endParaRPr lang="en-US" sz="1200" dirty="0"/>
          </a:p>
        </p:txBody>
      </p:sp>
      <p:sp>
        <p:nvSpPr>
          <p:cNvPr id="19" name="Text 16"/>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IS IT ALREADY SOLVED?</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We build on solved access, decoding and formats; the open problem is each number's procedure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63948"/>
          <a:ext cx="10553700" cy="2755404"/>
        </p:xfrm>
        <a:graphic>
          <a:graphicData uri="http://schemas.openxmlformats.org/drawingml/2006/table">
            <a:tbl>
              <a:tblPr/>
              <a:tblGrid>
                <a:gridCol w="3060573"/>
                <a:gridCol w="2849499"/>
                <a:gridCol w="4643628"/>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Sub-problem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Still 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Decode chipset logs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Mostly solved (open decoders)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 reader for XCAL's .drm log files, as infrastructure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Extract from vendor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Mostly solved (API, command line, AI RCA)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what each setting does to a value; silent export failures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AI-ready formats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Solved as containers (Croissant 1.1, SigMF, FAIR)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 wireless measurement content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Procedure behind UE-side vendor KPIs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per-value procedure, across tools and versions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Time alignment across modalities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Solved at capture on testbeds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retroactive bounds for legacy logs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Checks and labels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Partial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independent checks; real, validated labels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497175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441A"/>
                </a:solidFill>
                <a:latin typeface="IBM Plex Sans" pitchFamily="34" charset="0"/>
                <a:ea typeface="IBM Plex Sans" pitchFamily="34" charset="-122"/>
                <a:cs typeface="IBM Plex Sans" pitchFamily="34" charset="-120"/>
              </a:rPr>
              <a:t>'Open' means we found none in a limited search. Prior work for each row: Appendix C.</a:t>
            </a:r>
            <a:endParaRPr lang="en-US" sz="1300" dirty="0"/>
          </a:p>
        </p:txBody>
      </p:sp>
      <p:sp>
        <p:nvSpPr>
          <p:cNvPr id="6" name="Text 3"/>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WHY NOW</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AI is being built on these numbers, and their definitions do not travel with them</a:t>
            </a:r>
            <a:endParaRPr lang="en-US" sz="2800" dirty="0"/>
          </a:p>
        </p:txBody>
      </p:sp>
      <p:sp>
        <p:nvSpPr>
          <p:cNvPr id="4" name="Shape 2"/>
          <p:cNvSpPr/>
          <p:nvPr/>
        </p:nvSpPr>
        <p:spPr>
          <a:xfrm>
            <a:off x="812800" y="2105223"/>
            <a:ext cx="10566400" cy="0"/>
          </a:xfrm>
          <a:prstGeom prst="line">
            <a:avLst/>
          </a:prstGeom>
          <a:noFill/>
          <a:ln w="6350">
            <a:solidFill>
              <a:srgbClr val="DAD6CB"/>
            </a:solidFill>
            <a:prstDash val="solid"/>
          </a:ln>
        </p:spPr>
      </p:sp>
      <p:sp>
        <p:nvSpPr>
          <p:cNvPr id="5" name="Text 3"/>
          <p:cNvSpPr/>
          <p:nvPr/>
        </p:nvSpPr>
        <p:spPr>
          <a:xfrm>
            <a:off x="812800" y="2248098"/>
            <a:ext cx="196215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Accuver XCAP</a:t>
            </a:r>
            <a:endParaRPr lang="en-US" sz="1200" dirty="0"/>
          </a:p>
        </p:txBody>
      </p:sp>
      <p:sp>
        <p:nvSpPr>
          <p:cNvPr id="6" name="Text 4"/>
          <p:cNvSpPr/>
          <p:nvPr/>
        </p:nvSpPr>
        <p:spPr>
          <a:xfrm>
            <a:off x="2971800" y="2222698"/>
            <a:ext cx="86596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4A5C"/>
                </a:solidFill>
                <a:latin typeface="IBM Plex Sans" pitchFamily="34" charset="0"/>
                <a:ea typeface="IBM Plex Sans" pitchFamily="34" charset="-122"/>
                <a:cs typeface="IBM Plex Sans" pitchFamily="34" charset="-120"/>
              </a:rPr>
              <a:t>Vendors ship AI on these values:</a:t>
            </a:r>
            <a:r>
              <a:rPr lang="en-US" sz="1400" dirty="0">
                <a:solidFill>
                  <a:srgbClr val="3F4A5C"/>
                </a:solidFill>
                <a:latin typeface="IBM Plex Sans" pitchFamily="34" charset="0"/>
                <a:ea typeface="IBM Plex Sans" pitchFamily="34" charset="-122"/>
                <a:cs typeface="IBM Plex Sans" pitchFamily="34" charset="-120"/>
              </a:rPr>
              <a:t> 'Identify root causes instantly with AI-driven analysis'</a:t>
            </a:r>
            <a:endParaRPr lang="en-US" sz="1400" dirty="0"/>
          </a:p>
        </p:txBody>
      </p:sp>
      <p:sp>
        <p:nvSpPr>
          <p:cNvPr id="7" name="Shape 5"/>
          <p:cNvSpPr/>
          <p:nvPr/>
        </p:nvSpPr>
        <p:spPr>
          <a:xfrm>
            <a:off x="812800" y="2589064"/>
            <a:ext cx="10566400" cy="0"/>
          </a:xfrm>
          <a:prstGeom prst="line">
            <a:avLst/>
          </a:prstGeom>
          <a:noFill/>
          <a:ln w="6350">
            <a:solidFill>
              <a:srgbClr val="DAD6CB"/>
            </a:solidFill>
            <a:prstDash val="solid"/>
          </a:ln>
        </p:spPr>
      </p:sp>
      <p:sp>
        <p:nvSpPr>
          <p:cNvPr id="8" name="Text 6"/>
          <p:cNvSpPr/>
          <p:nvPr/>
        </p:nvSpPr>
        <p:spPr>
          <a:xfrm>
            <a:off x="812800" y="2731939"/>
            <a:ext cx="196215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TeleLogs</a:t>
            </a:r>
            <a:endParaRPr lang="en-US" sz="1200" dirty="0"/>
          </a:p>
        </p:txBody>
      </p:sp>
      <p:sp>
        <p:nvSpPr>
          <p:cNvPr id="9" name="Text 7"/>
          <p:cNvSpPr/>
          <p:nvPr/>
        </p:nvSpPr>
        <p:spPr>
          <a:xfrm>
            <a:off x="2971800" y="2706539"/>
            <a:ext cx="86596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4A5C"/>
                </a:solidFill>
                <a:latin typeface="IBM Plex Sans" pitchFamily="34" charset="0"/>
                <a:ea typeface="IBM Plex Sans" pitchFamily="34" charset="-122"/>
                <a:cs typeface="IBM Plex Sans" pitchFamily="34" charset="-120"/>
              </a:rPr>
              <a:t>The public LLM root-cause benchmark we found is synthetic:</a:t>
            </a:r>
            <a:r>
              <a:rPr lang="en-US" sz="1400" dirty="0">
                <a:solidFill>
                  <a:srgbClr val="3F4A5C"/>
                </a:solidFill>
                <a:latin typeface="IBM Plex Sans" pitchFamily="34" charset="0"/>
                <a:ea typeface="IBM Plex Sans" pitchFamily="34" charset="-122"/>
                <a:cs typeface="IBM Plex Sans" pitchFamily="34" charset="-120"/>
              </a:rPr>
              <a:t> TeleLogs, 8 simulated root causes</a:t>
            </a:r>
            <a:endParaRPr lang="en-US" sz="1400" dirty="0"/>
          </a:p>
        </p:txBody>
      </p:sp>
      <p:sp>
        <p:nvSpPr>
          <p:cNvPr id="10" name="Shape 8"/>
          <p:cNvSpPr/>
          <p:nvPr/>
        </p:nvSpPr>
        <p:spPr>
          <a:xfrm>
            <a:off x="812800" y="3072904"/>
            <a:ext cx="10566400" cy="0"/>
          </a:xfrm>
          <a:prstGeom prst="line">
            <a:avLst/>
          </a:prstGeom>
          <a:noFill/>
          <a:ln w="6350">
            <a:solidFill>
              <a:srgbClr val="DAD6CB"/>
            </a:solidFill>
            <a:prstDash val="solid"/>
          </a:ln>
        </p:spPr>
      </p:sp>
      <p:sp>
        <p:nvSpPr>
          <p:cNvPr id="11" name="Text 9"/>
          <p:cNvSpPr/>
          <p:nvPr/>
        </p:nvSpPr>
        <p:spPr>
          <a:xfrm>
            <a:off x="812800" y="3215779"/>
            <a:ext cx="196215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Croissant 1.1 · NeurIPS 2026</a:t>
            </a:r>
            <a:endParaRPr lang="en-US" sz="1200" dirty="0"/>
          </a:p>
        </p:txBody>
      </p:sp>
      <p:sp>
        <p:nvSpPr>
          <p:cNvPr id="12" name="Text 10"/>
          <p:cNvSpPr/>
          <p:nvPr/>
        </p:nvSpPr>
        <p:spPr>
          <a:xfrm>
            <a:off x="2971800" y="3190379"/>
            <a:ext cx="865962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4A5C"/>
                </a:solidFill>
                <a:latin typeface="IBM Plex Sans" pitchFamily="34" charset="0"/>
                <a:ea typeface="IBM Plex Sans" pitchFamily="34" charset="-122"/>
                <a:cs typeface="IBM Plex Sans" pitchFamily="34" charset="-120"/>
              </a:rPr>
              <a:t>The container now exists:</a:t>
            </a:r>
            <a:r>
              <a:rPr lang="en-US" sz="1400" dirty="0">
                <a:solidFill>
                  <a:srgbClr val="3F4A5C"/>
                </a:solidFill>
                <a:latin typeface="IBM Plex Sans" pitchFamily="34" charset="0"/>
                <a:ea typeface="IBM Plex Sans" pitchFamily="34" charset="-122"/>
                <a:cs typeface="IBM Plex Sans" pitchFamily="34" charset="-120"/>
              </a:rPr>
              <a:t> Croissant 1.1 (Jan 2026) attaches provenance to single values; NeurIPS 2026 requires RAI metadata in it</a:t>
            </a:r>
            <a:endParaRPr lang="en-US" sz="1400" dirty="0"/>
          </a:p>
        </p:txBody>
      </p:sp>
      <p:sp>
        <p:nvSpPr>
          <p:cNvPr id="13" name="Shape 11"/>
          <p:cNvSpPr/>
          <p:nvPr/>
        </p:nvSpPr>
        <p:spPr>
          <a:xfrm>
            <a:off x="812800" y="3805634"/>
            <a:ext cx="10566400" cy="0"/>
          </a:xfrm>
          <a:prstGeom prst="line">
            <a:avLst/>
          </a:prstGeom>
          <a:noFill/>
          <a:ln w="6350">
            <a:solidFill>
              <a:srgbClr val="DAD6CB"/>
            </a:solidFill>
            <a:prstDash val="solid"/>
          </a:ln>
        </p:spPr>
      </p:sp>
      <p:sp>
        <p:nvSpPr>
          <p:cNvPr id="14" name="Text 12"/>
          <p:cNvSpPr/>
          <p:nvPr/>
        </p:nvSpPr>
        <p:spPr>
          <a:xfrm>
            <a:off x="812800" y="3948509"/>
            <a:ext cx="196215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NSF 26-512</a:t>
            </a:r>
            <a:endParaRPr lang="en-US" sz="1200" dirty="0"/>
          </a:p>
        </p:txBody>
      </p:sp>
      <p:sp>
        <p:nvSpPr>
          <p:cNvPr id="15" name="Text 13"/>
          <p:cNvSpPr/>
          <p:nvPr/>
        </p:nvSpPr>
        <p:spPr>
          <a:xfrm>
            <a:off x="2971800" y="3923109"/>
            <a:ext cx="86596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4A5C"/>
                </a:solidFill>
                <a:latin typeface="IBM Plex Sans" pitchFamily="34" charset="0"/>
                <a:ea typeface="IBM Plex Sans" pitchFamily="34" charset="-122"/>
                <a:cs typeface="IBM Plex Sans" pitchFamily="34" charset="-120"/>
              </a:rPr>
              <a:t>On AI systems and tools:</a:t>
            </a:r>
            <a:r>
              <a:rPr lang="en-US" sz="1400" dirty="0">
                <a:solidFill>
                  <a:srgbClr val="3F4A5C"/>
                </a:solidFill>
                <a:latin typeface="IBM Plex Sans" pitchFamily="34" charset="0"/>
                <a:ea typeface="IBM Plex Sans" pitchFamily="34" charset="-122"/>
                <a:cs typeface="IBM Plex Sans" pitchFamily="34" charset="-120"/>
              </a:rPr>
              <a:t> 'In some cases, they become the initial consumer of datasets'</a:t>
            </a:r>
            <a:endParaRPr lang="en-US" sz="1400" dirty="0"/>
          </a:p>
        </p:txBody>
      </p:sp>
      <p:sp>
        <p:nvSpPr>
          <p:cNvPr id="16" name="Shape 14"/>
          <p:cNvSpPr/>
          <p:nvPr/>
        </p:nvSpPr>
        <p:spPr>
          <a:xfrm>
            <a:off x="831850" y="4375200"/>
            <a:ext cx="0" cy="670520"/>
          </a:xfrm>
          <a:prstGeom prst="line">
            <a:avLst/>
          </a:prstGeom>
          <a:noFill/>
          <a:ln w="38100">
            <a:solidFill>
              <a:srgbClr val="B4441A"/>
            </a:solidFill>
            <a:prstDash val="solid"/>
          </a:ln>
        </p:spPr>
      </p:sp>
      <p:sp>
        <p:nvSpPr>
          <p:cNvPr id="17" name="Text 15"/>
          <p:cNvSpPr/>
          <p:nvPr/>
        </p:nvSpPr>
        <p:spPr>
          <a:xfrm>
            <a:off x="1028700" y="4413300"/>
            <a:ext cx="10661015"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B4441A"/>
                </a:solidFill>
                <a:latin typeface="Source Serif 4" pitchFamily="34" charset="0"/>
                <a:ea typeface="Source Serif 4" pitchFamily="34" charset="-122"/>
                <a:cs typeface="Source Serif 4" pitchFamily="34" charset="-120"/>
              </a:rPr>
              <a:t>The format exists; the wireless procedure that belongs in it is missing from the releases we checked.</a:t>
            </a:r>
            <a:endParaRPr lang="en-US" sz="1800" dirty="0"/>
          </a:p>
        </p:txBody>
      </p:sp>
      <p:sp>
        <p:nvSpPr>
          <p:cNvPr id="18" name="Text 16"/>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9"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OUR CONTRIBUTION</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Our contribution: recover each value's procedure, check it by an independent path, and ship it with the value</a:t>
            </a:r>
            <a:endParaRPr lang="en-US" sz="2800" dirty="0"/>
          </a:p>
        </p:txBody>
      </p:sp>
      <p:sp>
        <p:nvSpPr>
          <p:cNvPr id="4" name="Shape 2"/>
          <p:cNvSpPr/>
          <p:nvPr/>
        </p:nvSpPr>
        <p:spPr>
          <a:xfrm>
            <a:off x="812800" y="2038548"/>
            <a:ext cx="10566400" cy="494010"/>
          </a:xfrm>
          <a:prstGeom prst="roundRect">
            <a:avLst>
              <a:gd name="adj" fmla="val 20566"/>
            </a:avLst>
          </a:prstGeom>
          <a:solidFill>
            <a:srgbClr val="14213D"/>
          </a:solidFill>
          <a:ln/>
        </p:spPr>
      </p:sp>
      <p:sp>
        <p:nvSpPr>
          <p:cNvPr id="5" name="Text 3"/>
          <p:cNvSpPr/>
          <p:nvPr/>
        </p:nvSpPr>
        <p:spPr>
          <a:xfrm>
            <a:off x="1016000" y="2165548"/>
            <a:ext cx="939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SHIFT</a:t>
            </a:r>
            <a:endParaRPr lang="en-US" sz="1200" dirty="0"/>
          </a:p>
        </p:txBody>
      </p:sp>
      <p:sp>
        <p:nvSpPr>
          <p:cNvPr id="6" name="Text 4"/>
          <p:cNvSpPr/>
          <p:nvPr/>
        </p:nvSpPr>
        <p:spPr>
          <a:xfrm>
            <a:off x="2108200" y="2165548"/>
            <a:ext cx="93398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IBM Plex Sans" pitchFamily="34" charset="0"/>
                <a:ea typeface="IBM Plex Sans" pitchFamily="34" charset="-122"/>
                <a:cs typeface="IBM Plex Sans" pitchFamily="34" charset="-120"/>
              </a:rPr>
              <a:t>A KPI is not a property of the link but </a:t>
            </a:r>
            <a:r>
              <a:rPr lang="en-US" sz="1400" dirty="0">
                <a:solidFill>
                  <a:srgbClr val="F2A36B"/>
                </a:solidFill>
                <a:latin typeface="IBM Plex Sans" pitchFamily="34" charset="0"/>
                <a:ea typeface="IBM Plex Sans" pitchFamily="34" charset="-122"/>
                <a:cs typeface="IBM Plex Sans" pitchFamily="34" charset="-120"/>
              </a:rPr>
              <a:t>the output of a procedure that must be recovered, checked and stated</a:t>
            </a:r>
            <a:endParaRPr lang="en-US" sz="1400" dirty="0"/>
          </a:p>
        </p:txBody>
      </p:sp>
      <p:sp>
        <p:nvSpPr>
          <p:cNvPr id="7" name="Shape 5"/>
          <p:cNvSpPr/>
          <p:nvPr/>
        </p:nvSpPr>
        <p:spPr>
          <a:xfrm>
            <a:off x="815975" y="2675434"/>
            <a:ext cx="2559050" cy="1343620"/>
          </a:xfrm>
          <a:prstGeom prst="roundRect">
            <a:avLst>
              <a:gd name="adj" fmla="val 7325"/>
            </a:avLst>
          </a:prstGeom>
          <a:solidFill>
            <a:srgbClr val="FFFDF8"/>
          </a:solidFill>
          <a:ln w="6350">
            <a:solidFill>
              <a:srgbClr val="DAD6CB"/>
            </a:solidFill>
            <a:prstDash val="solid"/>
          </a:ln>
        </p:spPr>
      </p:sp>
      <p:sp>
        <p:nvSpPr>
          <p:cNvPr id="8" name="Text 6"/>
          <p:cNvSpPr/>
          <p:nvPr/>
        </p:nvSpPr>
        <p:spPr>
          <a:xfrm>
            <a:off x="971550" y="2810073"/>
            <a:ext cx="265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C1</a:t>
            </a:r>
            <a:endParaRPr lang="en-US" sz="1200" dirty="0"/>
          </a:p>
        </p:txBody>
      </p:sp>
      <p:sp>
        <p:nvSpPr>
          <p:cNvPr id="9" name="Text 7"/>
          <p:cNvSpPr/>
          <p:nvPr/>
        </p:nvSpPr>
        <p:spPr>
          <a:xfrm>
            <a:off x="1249759" y="2805609"/>
            <a:ext cx="128587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Value Passport</a:t>
            </a:r>
            <a:endParaRPr lang="en-US" sz="1400" dirty="0"/>
          </a:p>
        </p:txBody>
      </p:sp>
      <p:sp>
        <p:nvSpPr>
          <p:cNvPr id="10" name="Text 8"/>
          <p:cNvSpPr/>
          <p:nvPr/>
        </p:nvSpPr>
        <p:spPr>
          <a:xfrm>
            <a:off x="971550" y="3065959"/>
            <a:ext cx="2315337"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measured procedure per exported parameter, attached to each value, in a Croissant 1.1 PROV-O profile</a:t>
            </a:r>
            <a:endParaRPr lang="en-US" sz="1200" dirty="0"/>
          </a:p>
        </p:txBody>
      </p:sp>
      <p:sp>
        <p:nvSpPr>
          <p:cNvPr id="11" name="Shape 9"/>
          <p:cNvSpPr/>
          <p:nvPr/>
        </p:nvSpPr>
        <p:spPr>
          <a:xfrm>
            <a:off x="3482975" y="2675434"/>
            <a:ext cx="2559050" cy="1343620"/>
          </a:xfrm>
          <a:prstGeom prst="roundRect">
            <a:avLst>
              <a:gd name="adj" fmla="val 7325"/>
            </a:avLst>
          </a:prstGeom>
          <a:solidFill>
            <a:srgbClr val="FFFDF8"/>
          </a:solidFill>
          <a:ln w="6350">
            <a:solidFill>
              <a:srgbClr val="DAD6CB"/>
            </a:solidFill>
            <a:prstDash val="solid"/>
          </a:ln>
        </p:spPr>
      </p:sp>
      <p:sp>
        <p:nvSpPr>
          <p:cNvPr id="12" name="Text 10"/>
          <p:cNvSpPr/>
          <p:nvPr/>
        </p:nvSpPr>
        <p:spPr>
          <a:xfrm>
            <a:off x="3638550" y="2810073"/>
            <a:ext cx="265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C2</a:t>
            </a:r>
            <a:endParaRPr lang="en-US" sz="1200" dirty="0"/>
          </a:p>
        </p:txBody>
      </p:sp>
      <p:sp>
        <p:nvSpPr>
          <p:cNvPr id="13" name="Text 11"/>
          <p:cNvSpPr/>
          <p:nvPr/>
        </p:nvSpPr>
        <p:spPr>
          <a:xfrm>
            <a:off x="3916759" y="2805609"/>
            <a:ext cx="126211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Two-Path Rule</a:t>
            </a:r>
            <a:endParaRPr lang="en-US" sz="1400" dirty="0"/>
          </a:p>
        </p:txBody>
      </p:sp>
      <p:sp>
        <p:nvSpPr>
          <p:cNvPr id="14" name="Text 12"/>
          <p:cNvSpPr/>
          <p:nvPr/>
        </p:nvSpPr>
        <p:spPr>
          <a:xfrm>
            <a:off x="3638550" y="3065959"/>
            <a:ext cx="231533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 value is certified only when a path avoiding the vendor tool and any AI agent reproduces it</a:t>
            </a:r>
            <a:endParaRPr lang="en-US" sz="1200" dirty="0"/>
          </a:p>
        </p:txBody>
      </p:sp>
      <p:sp>
        <p:nvSpPr>
          <p:cNvPr id="15" name="Shape 13"/>
          <p:cNvSpPr/>
          <p:nvPr/>
        </p:nvSpPr>
        <p:spPr>
          <a:xfrm>
            <a:off x="6149975" y="2675434"/>
            <a:ext cx="2559050" cy="1343620"/>
          </a:xfrm>
          <a:prstGeom prst="roundRect">
            <a:avLst>
              <a:gd name="adj" fmla="val 7325"/>
            </a:avLst>
          </a:prstGeom>
          <a:solidFill>
            <a:srgbClr val="FFFDF8"/>
          </a:solidFill>
          <a:ln w="6350">
            <a:solidFill>
              <a:srgbClr val="DAD6CB"/>
            </a:solidFill>
            <a:prstDash val="solid"/>
          </a:ln>
        </p:spPr>
      </p:sp>
      <p:sp>
        <p:nvSpPr>
          <p:cNvPr id="16" name="Text 14"/>
          <p:cNvSpPr/>
          <p:nvPr/>
        </p:nvSpPr>
        <p:spPr>
          <a:xfrm>
            <a:off x="6305550" y="2810073"/>
            <a:ext cx="265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C3</a:t>
            </a:r>
            <a:endParaRPr lang="en-US" sz="1200" dirty="0"/>
          </a:p>
        </p:txBody>
      </p:sp>
      <p:sp>
        <p:nvSpPr>
          <p:cNvPr id="17" name="Text 15"/>
          <p:cNvSpPr/>
          <p:nvPr/>
        </p:nvSpPr>
        <p:spPr>
          <a:xfrm>
            <a:off x="6583759" y="2805609"/>
            <a:ext cx="78219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WiReady</a:t>
            </a:r>
            <a:endParaRPr lang="en-US" sz="1400" dirty="0"/>
          </a:p>
        </p:txBody>
      </p:sp>
      <p:sp>
        <p:nvSpPr>
          <p:cNvPr id="18" name="Text 16"/>
          <p:cNvSpPr/>
          <p:nvPr/>
        </p:nvSpPr>
        <p:spPr>
          <a:xfrm>
            <a:off x="6305550" y="3065959"/>
            <a:ext cx="2315337"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audits a legacy dataset: which procedure made it, which questions it can and cannot answer</a:t>
            </a:r>
            <a:endParaRPr lang="en-US" sz="1200" dirty="0"/>
          </a:p>
        </p:txBody>
      </p:sp>
      <p:sp>
        <p:nvSpPr>
          <p:cNvPr id="19" name="Shape 17"/>
          <p:cNvSpPr/>
          <p:nvPr/>
        </p:nvSpPr>
        <p:spPr>
          <a:xfrm>
            <a:off x="8816975" y="2675434"/>
            <a:ext cx="2559050" cy="1343620"/>
          </a:xfrm>
          <a:prstGeom prst="roundRect">
            <a:avLst>
              <a:gd name="adj" fmla="val 7325"/>
            </a:avLst>
          </a:prstGeom>
          <a:solidFill>
            <a:srgbClr val="FFFDF8"/>
          </a:solidFill>
          <a:ln w="6350">
            <a:solidFill>
              <a:srgbClr val="DAD6CB"/>
            </a:solidFill>
            <a:prstDash val="solid"/>
          </a:ln>
        </p:spPr>
      </p:sp>
      <p:sp>
        <p:nvSpPr>
          <p:cNvPr id="20" name="Text 18"/>
          <p:cNvSpPr/>
          <p:nvPr/>
        </p:nvSpPr>
        <p:spPr>
          <a:xfrm>
            <a:off x="8972550" y="2810073"/>
            <a:ext cx="265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C4</a:t>
            </a:r>
            <a:endParaRPr lang="en-US" sz="1200" dirty="0"/>
          </a:p>
        </p:txBody>
      </p:sp>
      <p:sp>
        <p:nvSpPr>
          <p:cNvPr id="21" name="Text 19"/>
          <p:cNvSpPr/>
          <p:nvPr/>
        </p:nvSpPr>
        <p:spPr>
          <a:xfrm>
            <a:off x="9250759" y="2805609"/>
            <a:ext cx="173037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Comparable corpora</a:t>
            </a:r>
            <a:endParaRPr lang="en-US" sz="1400" dirty="0"/>
          </a:p>
        </p:txBody>
      </p:sp>
      <p:sp>
        <p:nvSpPr>
          <p:cNvPr id="22" name="Text 20"/>
          <p:cNvSpPr/>
          <p:nvPr/>
        </p:nvSpPr>
        <p:spPr>
          <a:xfrm>
            <a:off x="8972550" y="3065959"/>
            <a:ext cx="2315337"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our five published campaigns (2020–24), then partners', re-derived or flagged 'not comparable'</a:t>
            </a:r>
            <a:endParaRPr lang="en-US" sz="1200" dirty="0"/>
          </a:p>
        </p:txBody>
      </p:sp>
      <p:sp>
        <p:nvSpPr>
          <p:cNvPr id="23" name="Shape 21"/>
          <p:cNvSpPr/>
          <p:nvPr/>
        </p:nvSpPr>
        <p:spPr>
          <a:xfrm>
            <a:off x="812800" y="4165104"/>
            <a:ext cx="10566400" cy="0"/>
          </a:xfrm>
          <a:prstGeom prst="line">
            <a:avLst/>
          </a:prstGeom>
          <a:noFill/>
          <a:ln w="6350">
            <a:solidFill>
              <a:srgbClr val="DAD6CB"/>
            </a:solidFill>
            <a:prstDash val="solid"/>
          </a:ln>
        </p:spPr>
      </p:sp>
      <p:sp>
        <p:nvSpPr>
          <p:cNvPr id="24" name="Shape 22"/>
          <p:cNvSpPr/>
          <p:nvPr/>
        </p:nvSpPr>
        <p:spPr>
          <a:xfrm>
            <a:off x="812800" y="4562574"/>
            <a:ext cx="10566400" cy="0"/>
          </a:xfrm>
          <a:prstGeom prst="line">
            <a:avLst/>
          </a:prstGeom>
          <a:noFill/>
          <a:ln w="6350">
            <a:solidFill>
              <a:srgbClr val="DAD6CB"/>
            </a:solidFill>
            <a:prstDash val="solid"/>
          </a:ln>
        </p:spPr>
      </p:sp>
      <p:sp>
        <p:nvSpPr>
          <p:cNvPr id="25" name="Text 23"/>
          <p:cNvSpPr/>
          <p:nvPr/>
        </p:nvSpPr>
        <p:spPr>
          <a:xfrm>
            <a:off x="812800" y="4257179"/>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AI'S ROLE</a:t>
            </a:r>
            <a:endParaRPr lang="en-US" sz="1200" dirty="0"/>
          </a:p>
        </p:txBody>
      </p:sp>
      <p:sp>
        <p:nvSpPr>
          <p:cNvPr id="26" name="Text 24"/>
          <p:cNvSpPr/>
          <p:nvPr/>
        </p:nvSpPr>
        <p:spPr>
          <a:xfrm>
            <a:off x="2032000" y="4257179"/>
            <a:ext cx="962761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an AI agent, the </a:t>
            </a:r>
            <a:r>
              <a:rPr lang="en-US" sz="1200" b="1" dirty="0">
                <a:solidFill>
                  <a:srgbClr val="3F4A5C"/>
                </a:solidFill>
                <a:latin typeface="IBM Plex Sans" pitchFamily="34" charset="0"/>
                <a:ea typeface="IBM Plex Sans" pitchFamily="34" charset="-122"/>
                <a:cs typeface="IBM Plex Sans" pitchFamily="34" charset="-120"/>
              </a:rPr>
              <a:t>Recovery Engine</a:t>
            </a:r>
            <a:r>
              <a:rPr lang="en-US" sz="1200" dirty="0">
                <a:solidFill>
                  <a:srgbClr val="3F4A5C"/>
                </a:solidFill>
                <a:latin typeface="IBM Plex Sans" pitchFamily="34" charset="0"/>
                <a:ea typeface="IBM Plex Sans" pitchFamily="34" charset="-122"/>
                <a:cs typeface="IBM Plex Sans" pitchFamily="34" charset="-120"/>
              </a:rPr>
              <a:t>, fills C1 by experiment; </a:t>
            </a:r>
            <a:r>
              <a:rPr lang="en-US" sz="1200" b="1" dirty="0">
                <a:solidFill>
                  <a:srgbClr val="3F4A5C"/>
                </a:solidFill>
                <a:latin typeface="IBM Plex Sans" pitchFamily="34" charset="0"/>
                <a:ea typeface="IBM Plex Sans" pitchFamily="34" charset="-122"/>
                <a:cs typeface="IBM Plex Sans" pitchFamily="34" charset="-120"/>
              </a:rPr>
              <a:t>only an agent-free path certifies</a:t>
            </a:r>
            <a:r>
              <a:rPr lang="en-US" sz="1200" dirty="0">
                <a:solidFill>
                  <a:srgbClr val="3F4A5C"/>
                </a:solidFill>
                <a:latin typeface="IBM Plex Sans" pitchFamily="34" charset="0"/>
                <a:ea typeface="IBM Plex Sans" pitchFamily="34" charset="-122"/>
                <a:cs typeface="IBM Plex Sans" pitchFamily="34" charset="-120"/>
              </a:rPr>
              <a:t> (C2)</a:t>
            </a:r>
            <a:endParaRPr lang="en-US" sz="1200" dirty="0"/>
          </a:p>
        </p:txBody>
      </p:sp>
      <p:sp>
        <p:nvSpPr>
          <p:cNvPr id="27" name="Text 25"/>
          <p:cNvSpPr/>
          <p:nvPr/>
        </p:nvSpPr>
        <p:spPr>
          <a:xfrm>
            <a:off x="812800" y="4705449"/>
            <a:ext cx="10883392"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372"/>
                </a:solidFill>
                <a:latin typeface="IBM Plex Sans" pitchFamily="34" charset="0"/>
                <a:ea typeface="IBM Plex Sans" pitchFamily="34" charset="-122"/>
                <a:cs typeface="IBM Plex Sans" pitchFamily="34" charset="-120"/>
              </a:rPr>
              <a:t>Not claimed:</a:t>
            </a:r>
            <a:r>
              <a:rPr lang="en-US" sz="1200" dirty="0">
                <a:solidFill>
                  <a:srgbClr val="5B6372"/>
                </a:solidFill>
                <a:latin typeface="IBM Plex Sans" pitchFamily="34" charset="0"/>
                <a:ea typeface="IBM Plex Sans" pitchFamily="34" charset="-122"/>
                <a:cs typeface="IBM Plex Sans" pitchFamily="34" charset="-120"/>
              </a:rPr>
              <a:t> a format, the methods, open decoding, cross-layer RCA, a first dataset, a GUI agent or an agent benchmark</a:t>
            </a:r>
            <a:endParaRPr lang="en-US" sz="1200" dirty="0"/>
          </a:p>
        </p:txBody>
      </p:sp>
      <p:sp>
        <p:nvSpPr>
          <p:cNvPr id="28" name="Text 26"/>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29" name="Text 2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NAMED IDEA 2 · THE UNIT OF DELIVERY</a:t>
            </a:r>
            <a:endParaRPr lang="en-US" sz="1200" dirty="0"/>
          </a:p>
        </p:txBody>
      </p:sp>
      <p:sp>
        <p:nvSpPr>
          <p:cNvPr id="3" name="Text 1"/>
          <p:cNvSpPr/>
          <p:nvPr/>
        </p:nvSpPr>
        <p:spPr>
          <a:xfrm>
            <a:off x="812800" y="1102320"/>
            <a:ext cx="10883392" cy="793452"/>
          </a:xfrm>
          <a:prstGeom prst="rect">
            <a:avLst/>
          </a:prstGeom>
          <a:noFill/>
          <a:ln/>
        </p:spPr>
        <p:txBody>
          <a:bodyPr wrap="square" lIns="0" tIns="0" rIns="0" bIns="0" rtlCol="0" anchor="t">
            <a:normAutofit/>
          </a:bodyPr>
          <a:lstStyle/>
          <a:p>
            <a:pPr algn="l" indent="0" marL="0">
              <a:lnSpc>
                <a:spcPts val="3024"/>
              </a:lnSpc>
              <a:buNone/>
            </a:pPr>
            <a:r>
              <a:rPr lang="en-US" sz="2700" b="1" dirty="0">
                <a:solidFill>
                  <a:srgbClr val="14213D"/>
                </a:solidFill>
                <a:latin typeface="Source Serif 4" pitchFamily="34" charset="0"/>
                <a:ea typeface="Source Serif 4" pitchFamily="34" charset="-122"/>
                <a:cs typeface="Source Serif 4" pitchFamily="34" charset="-120"/>
              </a:rPr>
              <a:t>Each released value carries a Value Passport: measured content in a Croissant 1.1 PROV-O profile</a:t>
            </a:r>
            <a:endParaRPr lang="en-US" sz="2700" dirty="0"/>
          </a:p>
        </p:txBody>
      </p:sp>
      <p:sp>
        <p:nvSpPr>
          <p:cNvPr id="4" name="Shape 2"/>
          <p:cNvSpPr/>
          <p:nvPr/>
        </p:nvSpPr>
        <p:spPr>
          <a:xfrm>
            <a:off x="815975" y="2025948"/>
            <a:ext cx="8274050" cy="3812877"/>
          </a:xfrm>
          <a:prstGeom prst="roundRect">
            <a:avLst>
              <a:gd name="adj" fmla="val 2581"/>
            </a:avLst>
          </a:prstGeom>
          <a:solidFill>
            <a:srgbClr val="FFFDF8"/>
          </a:solidFill>
          <a:ln w="6350">
            <a:solidFill>
              <a:srgbClr val="DAD6CB"/>
            </a:solidFill>
            <a:prstDash val="solid"/>
          </a:ln>
        </p:spPr>
      </p:sp>
      <p:sp>
        <p:nvSpPr>
          <p:cNvPr id="5" name="Text 3"/>
          <p:cNvSpPr/>
          <p:nvPr/>
        </p:nvSpPr>
        <p:spPr>
          <a:xfrm>
            <a:off x="996950" y="2156123"/>
            <a:ext cx="81494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Illustrative passport for one value: </a:t>
            </a:r>
            <a:r>
              <a:rPr lang="en-US" sz="1200" b="1" dirty="0">
                <a:solidFill>
                  <a:srgbClr val="1F4E8C"/>
                </a:solidFill>
                <a:latin typeface="IBM Plex Sans" pitchFamily="34" charset="0"/>
                <a:ea typeface="IBM Plex Sans" pitchFamily="34" charset="-122"/>
                <a:cs typeface="IBM Plex Sans" pitchFamily="34" charset="-120"/>
              </a:rPr>
              <a:t>worst SINR = −20.0 dB</a:t>
            </a:r>
            <a:r>
              <a:rPr lang="en-US" sz="1200" b="1" dirty="0">
                <a:solidFill>
                  <a:srgbClr val="14213D"/>
                </a:solidFill>
                <a:latin typeface="IBM Plex Sans" pitchFamily="34" charset="0"/>
                <a:ea typeface="IBM Plex Sans" pitchFamily="34" charset="-122"/>
                <a:cs typeface="IBM Plex Sans" pitchFamily="34" charset="-120"/>
              </a:rPr>
              <a:t> (one ping trace)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9650" y="2458343"/>
          <a:ext cx="7899400" cy="2542084"/>
        </p:xfrm>
        <a:graphic>
          <a:graphicData uri="http://schemas.openxmlformats.org/drawingml/2006/table">
            <a:tbl>
              <a:tblPr/>
              <a:tblGrid>
                <a:gridCol w="1184910"/>
                <a:gridCol w="6714490"/>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Entry for this 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Instrument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version label 5.33.0.15; binaries 5.33.0.9; build mode [to record]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Procedure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'All' setting (10 ms table); SINR binning rule [from rule table]; statistic over the trace: minimum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export = container time − 18,000 s (UTC−5 inferred); inner−outer offset 18.4755 s; no app log to bound against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Cannot see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packet capture off at collection; events shorter than the sampling grid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Sensitivity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−12.9 dB at the 1 Sec default; 2 of 11 settings have values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Verification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today: provisional (vendor path only); tiers certified · provisional · unverified; dated 2026-09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Shape 4"/>
          <p:cNvSpPr/>
          <p:nvPr/>
        </p:nvSpPr>
        <p:spPr>
          <a:xfrm>
            <a:off x="9347200" y="2032298"/>
            <a:ext cx="2032000" cy="0"/>
          </a:xfrm>
          <a:prstGeom prst="line">
            <a:avLst/>
          </a:prstGeom>
          <a:noFill/>
          <a:ln w="19050">
            <a:solidFill>
              <a:srgbClr val="14213D"/>
            </a:solidFill>
            <a:prstDash val="solid"/>
          </a:ln>
        </p:spPr>
      </p:sp>
      <p:sp>
        <p:nvSpPr>
          <p:cNvPr id="8" name="Text 5"/>
          <p:cNvSpPr/>
          <p:nvPr/>
        </p:nvSpPr>
        <p:spPr>
          <a:xfrm>
            <a:off x="9347200" y="2143423"/>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CONTAINER</a:t>
            </a:r>
            <a:endParaRPr lang="en-US" sz="1200" dirty="0"/>
          </a:p>
        </p:txBody>
      </p:sp>
      <p:sp>
        <p:nvSpPr>
          <p:cNvPr id="9" name="Text 6"/>
          <p:cNvSpPr/>
          <p:nvPr/>
        </p:nvSpPr>
        <p:spPr>
          <a:xfrm>
            <a:off x="9347200" y="2407543"/>
            <a:ext cx="209296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 Croissant 1.1 value annotation, </a:t>
            </a:r>
            <a:r>
              <a:rPr lang="en-US" sz="1300" b="1" dirty="0">
                <a:solidFill>
                  <a:srgbClr val="14213D"/>
                </a:solidFill>
                <a:latin typeface="IBM Plex Sans" pitchFamily="34" charset="0"/>
                <a:ea typeface="IBM Plex Sans" pitchFamily="34" charset="-122"/>
                <a:cs typeface="IBM Plex Sans" pitchFamily="34" charset="-120"/>
              </a:rPr>
              <a:t>not a new format.</a:t>
            </a:r>
            <a:endParaRPr lang="en-US" sz="1300" dirty="0"/>
          </a:p>
        </p:txBody>
      </p:sp>
      <p:sp>
        <p:nvSpPr>
          <p:cNvPr id="10" name="Shape 7"/>
          <p:cNvSpPr/>
          <p:nvPr/>
        </p:nvSpPr>
        <p:spPr>
          <a:xfrm>
            <a:off x="9347200" y="3288258"/>
            <a:ext cx="2032000" cy="0"/>
          </a:xfrm>
          <a:prstGeom prst="line">
            <a:avLst/>
          </a:prstGeom>
          <a:noFill/>
          <a:ln w="19050">
            <a:solidFill>
              <a:srgbClr val="14213D"/>
            </a:solidFill>
            <a:prstDash val="solid"/>
          </a:ln>
        </p:spPr>
      </p:sp>
      <p:sp>
        <p:nvSpPr>
          <p:cNvPr id="11" name="Text 8"/>
          <p:cNvSpPr/>
          <p:nvPr/>
        </p:nvSpPr>
        <p:spPr>
          <a:xfrm>
            <a:off x="9347200" y="3399383"/>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GRANULARITY</a:t>
            </a:r>
            <a:endParaRPr lang="en-US" sz="1200" dirty="0"/>
          </a:p>
        </p:txBody>
      </p:sp>
      <p:sp>
        <p:nvSpPr>
          <p:cNvPr id="12" name="Text 9"/>
          <p:cNvSpPr/>
          <p:nvPr/>
        </p:nvSpPr>
        <p:spPr>
          <a:xfrm>
            <a:off x="9347200" y="3663504"/>
            <a:ext cx="209296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Recovered per parameter and setting; each value inherits it.</a:t>
            </a:r>
            <a:endParaRPr lang="en-US" sz="1300" dirty="0"/>
          </a:p>
        </p:txBody>
      </p:sp>
      <p:sp>
        <p:nvSpPr>
          <p:cNvPr id="13" name="Text 10"/>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IT UNLOCKS FOR WIRELESS SCIENCE AND AI</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Recovered procedures make four wireless questions answerable</a:t>
            </a:r>
            <a:endParaRPr lang="en-US" sz="2800" dirty="0"/>
          </a:p>
        </p:txBody>
      </p:sp>
      <p:sp>
        <p:nvSpPr>
          <p:cNvPr id="4" name="Shape 2"/>
          <p:cNvSpPr/>
          <p:nvPr/>
        </p:nvSpPr>
        <p:spPr>
          <a:xfrm>
            <a:off x="815975" y="2016323"/>
            <a:ext cx="10560050" cy="598091"/>
          </a:xfrm>
          <a:prstGeom prst="roundRect">
            <a:avLst>
              <a:gd name="adj" fmla="val 14333"/>
            </a:avLst>
          </a:prstGeom>
          <a:solidFill>
            <a:srgbClr val="EFEDE6"/>
          </a:solidFill>
          <a:ln w="6350">
            <a:solidFill>
              <a:srgbClr val="A9A597"/>
            </a:solidFill>
            <a:prstDash val="dash"/>
          </a:ln>
        </p:spPr>
      </p:sp>
      <p:sp>
        <p:nvSpPr>
          <p:cNvPr id="5" name="Text 3"/>
          <p:cNvSpPr/>
          <p:nvPr/>
        </p:nvSpPr>
        <p:spPr>
          <a:xfrm>
            <a:off x="971550" y="2124869"/>
            <a:ext cx="1447800" cy="4064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5B6372"/>
                </a:solidFill>
                <a:latin typeface="IBM Plex Sans" pitchFamily="34" charset="0"/>
                <a:ea typeface="IBM Plex Sans" pitchFamily="34" charset="-122"/>
                <a:cs typeface="IBM Plex Sans" pitchFamily="34" charset="-120"/>
              </a:rPr>
              <a:t>SCHEMATIC, NOT MEASURED</a:t>
            </a:r>
            <a:endParaRPr lang="en-US" sz="1200" dirty="0"/>
          </a:p>
        </p:txBody>
      </p:sp>
      <p:sp>
        <p:nvSpPr>
          <p:cNvPr id="6" name="Text 4"/>
          <p:cNvSpPr/>
          <p:nvPr/>
        </p:nvSpPr>
        <p:spPr>
          <a:xfrm>
            <a:off x="2520950" y="2095698"/>
            <a:ext cx="1926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Scene</a:t>
            </a:r>
            <a:endParaRPr lang="en-US" sz="1200" dirty="0"/>
          </a:p>
        </p:txBody>
      </p:sp>
      <p:sp>
        <p:nvSpPr>
          <p:cNvPr id="7" name="Text 5"/>
          <p:cNvSpPr/>
          <p:nvPr/>
        </p:nvSpPr>
        <p:spPr>
          <a:xfrm>
            <a:off x="2520950" y="2321719"/>
            <a:ext cx="19261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occluder, motion</a:t>
            </a:r>
            <a:endParaRPr lang="en-US" sz="1200" dirty="0"/>
          </a:p>
        </p:txBody>
      </p:sp>
      <p:pic>
        <p:nvPicPr>
          <p:cNvPr id="8" name="Image 0" descr="connector">    </p:cNvPr>
          <p:cNvPicPr>
            <a:picLocks noChangeAspect="1"/>
          </p:cNvPicPr>
          <p:nvPr/>
        </p:nvPicPr>
        <p:blipFill>
          <a:blip r:embed="rId1"/>
          <a:srcRect l="0" r="0" t="0" b="0"/>
          <a:stretch/>
        </p:blipFill>
        <p:spPr>
          <a:xfrm>
            <a:off x="4467225" y="2277269"/>
            <a:ext cx="254000" cy="76200"/>
          </a:xfrm>
          <a:prstGeom prst="rect">
            <a:avLst/>
          </a:prstGeom>
        </p:spPr>
      </p:pic>
      <p:sp>
        <p:nvSpPr>
          <p:cNvPr id="9" name="Text 6"/>
          <p:cNvSpPr/>
          <p:nvPr/>
        </p:nvSpPr>
        <p:spPr>
          <a:xfrm>
            <a:off x="4797425" y="2095698"/>
            <a:ext cx="1926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Radio</a:t>
            </a:r>
            <a:endParaRPr lang="en-US" sz="1200" dirty="0"/>
          </a:p>
        </p:txBody>
      </p:sp>
      <p:sp>
        <p:nvSpPr>
          <p:cNvPr id="10" name="Text 7"/>
          <p:cNvSpPr/>
          <p:nvPr/>
        </p:nvSpPr>
        <p:spPr>
          <a:xfrm>
            <a:off x="4797425" y="2321719"/>
            <a:ext cx="19261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signal drops</a:t>
            </a:r>
            <a:endParaRPr lang="en-US" sz="1200" dirty="0"/>
          </a:p>
        </p:txBody>
      </p:sp>
      <p:pic>
        <p:nvPicPr>
          <p:cNvPr id="11" name="Image 1" descr="connector">    </p:cNvPr>
          <p:cNvPicPr>
            <a:picLocks noChangeAspect="1"/>
          </p:cNvPicPr>
          <p:nvPr/>
        </p:nvPicPr>
        <p:blipFill>
          <a:blip r:embed="rId2"/>
          <a:srcRect l="0" r="0" t="0" b="0"/>
          <a:stretch/>
        </p:blipFill>
        <p:spPr>
          <a:xfrm>
            <a:off x="6743700" y="2277269"/>
            <a:ext cx="254000" cy="76200"/>
          </a:xfrm>
          <a:prstGeom prst="rect">
            <a:avLst/>
          </a:prstGeom>
        </p:spPr>
      </p:pic>
      <p:sp>
        <p:nvSpPr>
          <p:cNvPr id="12" name="Text 8"/>
          <p:cNvSpPr/>
          <p:nvPr/>
        </p:nvSpPr>
        <p:spPr>
          <a:xfrm>
            <a:off x="7073900" y="2095698"/>
            <a:ext cx="1926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Protocol</a:t>
            </a:r>
            <a:endParaRPr lang="en-US" sz="1200" dirty="0"/>
          </a:p>
        </p:txBody>
      </p:sp>
      <p:sp>
        <p:nvSpPr>
          <p:cNvPr id="13" name="Text 9"/>
          <p:cNvSpPr/>
          <p:nvPr/>
        </p:nvSpPr>
        <p:spPr>
          <a:xfrm>
            <a:off x="7073900" y="2321719"/>
            <a:ext cx="19261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handover</a:t>
            </a:r>
            <a:endParaRPr lang="en-US" sz="1200" dirty="0"/>
          </a:p>
        </p:txBody>
      </p:sp>
      <p:pic>
        <p:nvPicPr>
          <p:cNvPr id="14" name="Image 2" descr="connector">    </p:cNvPr>
          <p:cNvPicPr>
            <a:picLocks noChangeAspect="1"/>
          </p:cNvPicPr>
          <p:nvPr/>
        </p:nvPicPr>
        <p:blipFill>
          <a:blip r:embed="rId3"/>
          <a:srcRect l="0" r="0" t="0" b="0"/>
          <a:stretch/>
        </p:blipFill>
        <p:spPr>
          <a:xfrm>
            <a:off x="9020175" y="2277269"/>
            <a:ext cx="254000" cy="76200"/>
          </a:xfrm>
          <a:prstGeom prst="rect">
            <a:avLst/>
          </a:prstGeom>
        </p:spPr>
      </p:pic>
      <p:sp>
        <p:nvSpPr>
          <p:cNvPr id="15" name="Text 10"/>
          <p:cNvSpPr/>
          <p:nvPr/>
        </p:nvSpPr>
        <p:spPr>
          <a:xfrm>
            <a:off x="9350375" y="2095698"/>
            <a:ext cx="1926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Application</a:t>
            </a:r>
            <a:endParaRPr lang="en-US" sz="1200" dirty="0"/>
          </a:p>
        </p:txBody>
      </p:sp>
      <p:sp>
        <p:nvSpPr>
          <p:cNvPr id="16" name="Text 11"/>
          <p:cNvSpPr/>
          <p:nvPr/>
        </p:nvSpPr>
        <p:spPr>
          <a:xfrm>
            <a:off x="9350375" y="2321719"/>
            <a:ext cx="19261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video stall</a:t>
            </a:r>
            <a:endParaRPr lang="en-US" sz="1200" dirty="0"/>
          </a:p>
        </p:txBody>
      </p:sp>
      <p:sp>
        <p:nvSpPr>
          <p:cNvPr id="17" name="Shape 12"/>
          <p:cNvSpPr/>
          <p:nvPr/>
        </p:nvSpPr>
        <p:spPr>
          <a:xfrm>
            <a:off x="815975" y="2735064"/>
            <a:ext cx="5226050" cy="1069280"/>
          </a:xfrm>
          <a:prstGeom prst="roundRect">
            <a:avLst>
              <a:gd name="adj" fmla="val 9205"/>
            </a:avLst>
          </a:prstGeom>
          <a:solidFill>
            <a:srgbClr val="FFFDF8"/>
          </a:solidFill>
          <a:ln w="6350">
            <a:solidFill>
              <a:srgbClr val="DAD6CB"/>
            </a:solidFill>
            <a:prstDash val="solid"/>
          </a:ln>
        </p:spPr>
      </p:sp>
      <p:sp>
        <p:nvSpPr>
          <p:cNvPr id="18" name="Text 13"/>
          <p:cNvSpPr/>
          <p:nvPr/>
        </p:nvSpPr>
        <p:spPr>
          <a:xfrm>
            <a:off x="971550" y="2839839"/>
            <a:ext cx="5062347"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4E8C"/>
                </a:solidFill>
                <a:latin typeface="IBM Plex Sans" pitchFamily="34" charset="0"/>
                <a:ea typeface="IBM Plex Sans" pitchFamily="34" charset="-122"/>
                <a:cs typeface="IBM Plex Sans" pitchFamily="34" charset="-120"/>
              </a:rPr>
              <a:t>Q1 ·</a:t>
            </a:r>
            <a:r>
              <a:rPr lang="en-US" sz="1300" b="1" dirty="0">
                <a:solidFill>
                  <a:srgbClr val="14213D"/>
                </a:solidFill>
                <a:latin typeface="IBM Plex Sans" pitchFamily="34" charset="0"/>
                <a:ea typeface="IBM Plex Sans" pitchFamily="34" charset="-122"/>
                <a:cs typeface="IBM Plex Sans" pitchFamily="34" charset="-120"/>
              </a:rPr>
              <a:t> Which wireless conclusions survive a change of tool, version or setting, and can campaigns be pooled?</a:t>
            </a:r>
            <a:endParaRPr lang="en-US" sz="1300" dirty="0"/>
          </a:p>
        </p:txBody>
      </p:sp>
      <p:sp>
        <p:nvSpPr>
          <p:cNvPr id="19" name="Text 14"/>
          <p:cNvSpPr/>
          <p:nvPr/>
        </p:nvSpPr>
        <p:spPr>
          <a:xfrm>
            <a:off x="971550" y="3303389"/>
            <a:ext cx="5062347"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441A"/>
                </a:solidFill>
                <a:latin typeface="IBM Plex Sans" pitchFamily="34" charset="0"/>
                <a:ea typeface="IBM Plex Sans" pitchFamily="34" charset="-122"/>
                <a:cs typeface="IBM Plex Sans" pitchFamily="34" charset="-120"/>
              </a:rPr>
              <a:t>Blocked by:</a:t>
            </a:r>
            <a:r>
              <a:rPr lang="en-US" sz="1200" dirty="0">
                <a:solidFill>
                  <a:srgbClr val="3F4A5C"/>
                </a:solidFill>
                <a:latin typeface="IBM Plex Sans" pitchFamily="34" charset="0"/>
                <a:ea typeface="IBM Plex Sans" pitchFamily="34" charset="-122"/>
                <a:cs typeface="IBM Plex Sans" pitchFamily="34" charset="-120"/>
              </a:rPr>
              <a:t> no per-value procedure in the releases we checked</a:t>
            </a:r>
            <a:endParaRPr lang="en-US" sz="1200" dirty="0"/>
          </a:p>
        </p:txBody>
      </p:sp>
      <p:sp>
        <p:nvSpPr>
          <p:cNvPr id="20" name="Shape 15"/>
          <p:cNvSpPr/>
          <p:nvPr/>
        </p:nvSpPr>
        <p:spPr>
          <a:xfrm>
            <a:off x="6149975" y="2735064"/>
            <a:ext cx="5226050" cy="1069280"/>
          </a:xfrm>
          <a:prstGeom prst="roundRect">
            <a:avLst>
              <a:gd name="adj" fmla="val 9205"/>
            </a:avLst>
          </a:prstGeom>
          <a:solidFill>
            <a:srgbClr val="FFFDF8"/>
          </a:solidFill>
          <a:ln w="6350">
            <a:solidFill>
              <a:srgbClr val="DAD6CB"/>
            </a:solidFill>
            <a:prstDash val="solid"/>
          </a:ln>
        </p:spPr>
      </p:sp>
      <p:sp>
        <p:nvSpPr>
          <p:cNvPr id="21" name="Text 16"/>
          <p:cNvSpPr/>
          <p:nvPr/>
        </p:nvSpPr>
        <p:spPr>
          <a:xfrm>
            <a:off x="6305550" y="2839839"/>
            <a:ext cx="5062347"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4E8C"/>
                </a:solidFill>
                <a:latin typeface="IBM Plex Sans" pitchFamily="34" charset="0"/>
                <a:ea typeface="IBM Plex Sans" pitchFamily="34" charset="-122"/>
                <a:cs typeface="IBM Plex Sans" pitchFamily="34" charset="-120"/>
              </a:rPr>
              <a:t>Q2 ·</a:t>
            </a:r>
            <a:r>
              <a:rPr lang="en-US" sz="1300" b="1" dirty="0">
                <a:solidFill>
                  <a:srgbClr val="14213D"/>
                </a:solidFill>
                <a:latin typeface="IBM Plex Sans" pitchFamily="34" charset="0"/>
                <a:ea typeface="IBM Plex Sans" pitchFamily="34" charset="-122"/>
                <a:cs typeface="IBM Plex Sans" pitchFamily="34" charset="-120"/>
              </a:rPr>
              <a:t> Where does a failure start, and how does it climb from radio to the application?</a:t>
            </a:r>
            <a:endParaRPr lang="en-US" sz="1300" dirty="0"/>
          </a:p>
        </p:txBody>
      </p:sp>
      <p:sp>
        <p:nvSpPr>
          <p:cNvPr id="22" name="Text 17"/>
          <p:cNvSpPr/>
          <p:nvPr/>
        </p:nvSpPr>
        <p:spPr>
          <a:xfrm>
            <a:off x="6305550" y="3303389"/>
            <a:ext cx="5062347"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441A"/>
                </a:solidFill>
                <a:latin typeface="IBM Plex Sans" pitchFamily="34" charset="0"/>
                <a:ea typeface="IBM Plex Sans" pitchFamily="34" charset="-122"/>
                <a:cs typeface="IBM Plex Sans" pitchFamily="34" charset="-120"/>
              </a:rPr>
              <a:t>Blocked by:</a:t>
            </a:r>
            <a:r>
              <a:rPr lang="en-US" sz="1200" dirty="0">
                <a:solidFill>
                  <a:srgbClr val="3F4A5C"/>
                </a:solidFill>
                <a:latin typeface="IBM Plex Sans" pitchFamily="34" charset="0"/>
                <a:ea typeface="IBM Plex Sans" pitchFamily="34" charset="-122"/>
                <a:cs typeface="IBM Plex Sans" pitchFamily="34" charset="-120"/>
              </a:rPr>
              <a:t> joins without stated bounds; radio-to-app holds to ±1.5 s (streaming), seconds (teleop)</a:t>
            </a:r>
            <a:endParaRPr lang="en-US" sz="1200" dirty="0"/>
          </a:p>
        </p:txBody>
      </p:sp>
      <p:sp>
        <p:nvSpPr>
          <p:cNvPr id="23" name="Shape 18"/>
          <p:cNvSpPr/>
          <p:nvPr/>
        </p:nvSpPr>
        <p:spPr>
          <a:xfrm>
            <a:off x="815975" y="3912295"/>
            <a:ext cx="5226050" cy="1275655"/>
          </a:xfrm>
          <a:prstGeom prst="roundRect">
            <a:avLst>
              <a:gd name="adj" fmla="val 7716"/>
            </a:avLst>
          </a:prstGeom>
          <a:solidFill>
            <a:srgbClr val="FFFDF8"/>
          </a:solidFill>
          <a:ln w="6350">
            <a:solidFill>
              <a:srgbClr val="DAD6CB"/>
            </a:solidFill>
            <a:prstDash val="solid"/>
          </a:ln>
        </p:spPr>
      </p:sp>
      <p:sp>
        <p:nvSpPr>
          <p:cNvPr id="24" name="Text 19"/>
          <p:cNvSpPr/>
          <p:nvPr/>
        </p:nvSpPr>
        <p:spPr>
          <a:xfrm>
            <a:off x="971550" y="4017070"/>
            <a:ext cx="5062347"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4E8C"/>
                </a:solidFill>
                <a:latin typeface="IBM Plex Sans" pitchFamily="34" charset="0"/>
                <a:ea typeface="IBM Plex Sans" pitchFamily="34" charset="-122"/>
                <a:cs typeface="IBM Plex Sans" pitchFamily="34" charset="-120"/>
              </a:rPr>
              <a:t>Q3 ·</a:t>
            </a:r>
            <a:r>
              <a:rPr lang="en-US" sz="1300" b="1" dirty="0">
                <a:solidFill>
                  <a:srgbClr val="14213D"/>
                </a:solidFill>
                <a:latin typeface="IBM Plex Sans" pitchFamily="34" charset="0"/>
                <a:ea typeface="IBM Plex Sans" pitchFamily="34" charset="-122"/>
                <a:cs typeface="IBM Plex Sans" pitchFamily="34" charset="-120"/>
              </a:rPr>
              <a:t> Is fault severity set by the network alone, or by network and workload together? </a:t>
            </a:r>
            <a:r>
              <a:rPr lang="en-US" sz="1300" b="1" dirty="0">
                <a:solidFill>
                  <a:srgbClr val="5B6372"/>
                </a:solidFill>
                <a:latin typeface="IBM Plex Sans" pitchFamily="34" charset="0"/>
                <a:ea typeface="IBM Plex Sans" pitchFamily="34" charset="-122"/>
                <a:cs typeface="IBM Plex Sans" pitchFamily="34" charset="-120"/>
              </a:rPr>
              <a:t>(hypothesis)</a:t>
            </a:r>
            <a:endParaRPr lang="en-US" sz="1300" dirty="0"/>
          </a:p>
        </p:txBody>
      </p:sp>
      <p:sp>
        <p:nvSpPr>
          <p:cNvPr id="25" name="Text 20"/>
          <p:cNvSpPr/>
          <p:nvPr/>
        </p:nvSpPr>
        <p:spPr>
          <a:xfrm>
            <a:off x="971550" y="4480620"/>
            <a:ext cx="5062347"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441A"/>
                </a:solidFill>
                <a:latin typeface="IBM Plex Sans" pitchFamily="34" charset="0"/>
                <a:ea typeface="IBM Plex Sans" pitchFamily="34" charset="-122"/>
                <a:cs typeface="IBM Plex Sans" pitchFamily="34" charset="-120"/>
              </a:rPr>
              <a:t>Blocked by:</a:t>
            </a:r>
            <a:r>
              <a:rPr lang="en-US" sz="1200" dirty="0">
                <a:solidFill>
                  <a:srgbClr val="3F4A5C"/>
                </a:solidFill>
                <a:latin typeface="IBM Plex Sans" pitchFamily="34" charset="0"/>
                <a:ea typeface="IBM Plex Sans" pitchFamily="34" charset="-122"/>
                <a:cs typeface="IBM Plex Sans" pitchFamily="34" charset="-120"/>
              </a:rPr>
              <a:t> application ground truth rarely joined to radio logs with a stated bound</a:t>
            </a:r>
            <a:endParaRPr lang="en-US" sz="1200" dirty="0"/>
          </a:p>
        </p:txBody>
      </p:sp>
      <p:sp>
        <p:nvSpPr>
          <p:cNvPr id="26" name="Shape 21"/>
          <p:cNvSpPr/>
          <p:nvPr/>
        </p:nvSpPr>
        <p:spPr>
          <a:xfrm>
            <a:off x="6149975" y="3912295"/>
            <a:ext cx="5226050" cy="1275655"/>
          </a:xfrm>
          <a:prstGeom prst="roundRect">
            <a:avLst>
              <a:gd name="adj" fmla="val 7716"/>
            </a:avLst>
          </a:prstGeom>
          <a:solidFill>
            <a:srgbClr val="FFFDF8"/>
          </a:solidFill>
          <a:ln w="6350">
            <a:solidFill>
              <a:srgbClr val="1F4E8C"/>
            </a:solidFill>
            <a:prstDash val="solid"/>
          </a:ln>
        </p:spPr>
      </p:sp>
      <p:sp>
        <p:nvSpPr>
          <p:cNvPr id="27" name="Text 22"/>
          <p:cNvSpPr/>
          <p:nvPr/>
        </p:nvSpPr>
        <p:spPr>
          <a:xfrm>
            <a:off x="6305550" y="4017070"/>
            <a:ext cx="5062347" cy="64452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4E8C"/>
                </a:solidFill>
                <a:latin typeface="IBM Plex Sans" pitchFamily="34" charset="0"/>
                <a:ea typeface="IBM Plex Sans" pitchFamily="34" charset="-122"/>
                <a:cs typeface="IBM Plex Sans" pitchFamily="34" charset="-120"/>
              </a:rPr>
              <a:t>Q4 · AI ·</a:t>
            </a:r>
            <a:r>
              <a:rPr lang="en-US" sz="1300" b="1" dirty="0">
                <a:solidFill>
                  <a:srgbClr val="14213D"/>
                </a:solidFill>
                <a:latin typeface="IBM Plex Sans" pitchFamily="34" charset="0"/>
                <a:ea typeface="IBM Plex Sans" pitchFamily="34" charset="-122"/>
                <a:cs typeface="IBM Plex Sans" pitchFamily="34" charset="-120"/>
              </a:rPr>
              <a:t> Does a throughput or handover model trained on corpora pooled across groups transfer once procedures are harmonized?</a:t>
            </a:r>
            <a:endParaRPr lang="en-US" sz="1300" dirty="0"/>
          </a:p>
        </p:txBody>
      </p:sp>
      <p:sp>
        <p:nvSpPr>
          <p:cNvPr id="28" name="Text 23"/>
          <p:cNvSpPr/>
          <p:nvPr/>
        </p:nvSpPr>
        <p:spPr>
          <a:xfrm>
            <a:off x="6305550" y="4686995"/>
            <a:ext cx="5062347"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441A"/>
                </a:solidFill>
                <a:latin typeface="IBM Plex Sans" pitchFamily="34" charset="0"/>
                <a:ea typeface="IBM Plex Sans" pitchFamily="34" charset="-122"/>
                <a:cs typeface="IBM Plex Sans" pitchFamily="34" charset="-120"/>
              </a:rPr>
              <a:t>Blocked by:</a:t>
            </a:r>
            <a:r>
              <a:rPr lang="en-US" sz="1200" dirty="0">
                <a:solidFill>
                  <a:srgbClr val="3F4A5C"/>
                </a:solidFill>
                <a:latin typeface="IBM Plex Sans" pitchFamily="34" charset="0"/>
                <a:ea typeface="IBM Plex Sans" pitchFamily="34" charset="-122"/>
                <a:cs typeface="IBM Plex Sans" pitchFamily="34" charset="-120"/>
              </a:rPr>
              <a:t> corpora from different tools and settings cannot be pooled without their procedures</a:t>
            </a:r>
            <a:endParaRPr lang="en-US" sz="1200" dirty="0"/>
          </a:p>
        </p:txBody>
      </p:sp>
      <p:sp>
        <p:nvSpPr>
          <p:cNvPr id="29" name="Shape 24"/>
          <p:cNvSpPr/>
          <p:nvPr/>
        </p:nvSpPr>
        <p:spPr>
          <a:xfrm>
            <a:off x="825500" y="5305425"/>
            <a:ext cx="0" cy="231130"/>
          </a:xfrm>
          <a:prstGeom prst="line">
            <a:avLst/>
          </a:prstGeom>
          <a:noFill/>
          <a:ln w="25400">
            <a:solidFill>
              <a:srgbClr val="B4441A"/>
            </a:solidFill>
            <a:prstDash val="solid"/>
          </a:ln>
        </p:spPr>
      </p:sp>
      <p:sp>
        <p:nvSpPr>
          <p:cNvPr id="30" name="Text 25"/>
          <p:cNvSpPr/>
          <p:nvPr/>
        </p:nvSpPr>
        <p:spPr>
          <a:xfrm>
            <a:off x="965200" y="5318125"/>
            <a:ext cx="1072642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1 s data are fine for coverage and long-run throughput. </a:t>
            </a:r>
            <a:r>
              <a:rPr lang="en-US" sz="1200" b="1" dirty="0">
                <a:solidFill>
                  <a:srgbClr val="14213D"/>
                </a:solidFill>
                <a:latin typeface="IBM Plex Sans" pitchFamily="34" charset="0"/>
                <a:ea typeface="IBM Plex Sans" pitchFamily="34" charset="-122"/>
                <a:cs typeface="IBM Plex Sans" pitchFamily="34" charset="-120"/>
              </a:rPr>
              <a:t>The harm is for extremes and sub-second questions.</a:t>
            </a:r>
            <a:endParaRPr lang="en-US" sz="1200" dirty="0"/>
          </a:p>
        </p:txBody>
      </p:sp>
      <p:sp>
        <p:nvSpPr>
          <p:cNvPr id="31" name="Text 26"/>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32" name="Text 2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PRELIMINARY RESULTS · STATUS AS OF SEPT 27, 2026</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Preliminary results: the core effect is measured on one build; the engine, auditor and harmonization are not built</a:t>
            </a:r>
            <a:endParaRPr lang="en-US" sz="2800" dirty="0"/>
          </a:p>
        </p:txBody>
      </p:sp>
      <p:sp>
        <p:nvSpPr>
          <p:cNvPr id="4" name="Text 2"/>
          <p:cNvSpPr/>
          <p:nvPr/>
        </p:nvSpPr>
        <p:spPr>
          <a:xfrm>
            <a:off x="812800" y="2013148"/>
            <a:ext cx="1088339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441A"/>
                </a:solidFill>
                <a:latin typeface="IBM Plex Sans" pitchFamily="34" charset="0"/>
                <a:ea typeface="IBM Plex Sans" pitchFamily="34" charset="-122"/>
                <a:cs typeface="IBM Plex Sans" pitchFamily="34" charset="-120"/>
              </a:rPr>
              <a:t>Partly</a:t>
            </a:r>
            <a:r>
              <a:rPr lang="en-US" sz="1200" dirty="0">
                <a:solidFill>
                  <a:srgbClr val="5B6372"/>
                </a:solidFill>
                <a:latin typeface="IBM Plex Sans" pitchFamily="34" charset="0"/>
                <a:ea typeface="IBM Plex Sans" pitchFamily="34" charset="-122"/>
                <a:cs typeface="IBM Plex Sans" pitchFamily="34" charset="-120"/>
              </a:rPr>
              <a:t> = effect measured on one build, method or coverage incomplete · </a:t>
            </a:r>
            <a:r>
              <a:rPr lang="en-US" sz="1200" b="1" dirty="0">
                <a:solidFill>
                  <a:srgbClr val="14213D"/>
                </a:solidFill>
                <a:latin typeface="IBM Plex Sans" pitchFamily="34" charset="0"/>
                <a:ea typeface="IBM Plex Sans" pitchFamily="34" charset="-122"/>
                <a:cs typeface="IBM Plex Sans" pitchFamily="34" charset="-120"/>
              </a:rPr>
              <a:t>Not yet</a:t>
            </a:r>
            <a:r>
              <a:rPr lang="en-US" sz="1200" dirty="0">
                <a:solidFill>
                  <a:srgbClr val="5B6372"/>
                </a:solidFill>
                <a:latin typeface="IBM Plex Sans" pitchFamily="34" charset="0"/>
                <a:ea typeface="IBM Plex Sans" pitchFamily="34" charset="-122"/>
                <a:cs typeface="IBM Plex Sans" pitchFamily="34" charset="-120"/>
              </a:rPr>
              <a:t> = no evidence</a:t>
            </a:r>
            <a:endParaRPr lang="en-US" sz="1200" dirty="0"/>
          </a:p>
        </p:txBody>
      </p:sp>
      <p:sp>
        <p:nvSpPr>
          <p:cNvPr id="5" name="Shape 3"/>
          <p:cNvSpPr/>
          <p:nvPr/>
        </p:nvSpPr>
        <p:spPr>
          <a:xfrm>
            <a:off x="812800" y="2328714"/>
            <a:ext cx="10566400" cy="0"/>
          </a:xfrm>
          <a:prstGeom prst="line">
            <a:avLst/>
          </a:prstGeom>
          <a:noFill/>
          <a:ln w="6350">
            <a:solidFill>
              <a:srgbClr val="DAD6CB"/>
            </a:solidFill>
            <a:prstDash val="solid"/>
          </a:ln>
        </p:spPr>
      </p:sp>
      <p:sp>
        <p:nvSpPr>
          <p:cNvPr id="6" name="Shape 4"/>
          <p:cNvSpPr/>
          <p:nvPr/>
        </p:nvSpPr>
        <p:spPr>
          <a:xfrm>
            <a:off x="815975" y="2379514"/>
            <a:ext cx="605929" cy="219670"/>
          </a:xfrm>
          <a:prstGeom prst="roundRect">
            <a:avLst>
              <a:gd name="adj" fmla="val 21680"/>
            </a:avLst>
          </a:prstGeom>
          <a:solidFill>
            <a:srgbClr val="FBEDE4"/>
          </a:solidFill>
          <a:ln w="6350">
            <a:solidFill>
              <a:srgbClr val="B4441A"/>
            </a:solidFill>
            <a:prstDash val="solid"/>
          </a:ln>
        </p:spPr>
      </p:sp>
      <p:sp>
        <p:nvSpPr>
          <p:cNvPr id="7" name="Text 5"/>
          <p:cNvSpPr/>
          <p:nvPr/>
        </p:nvSpPr>
        <p:spPr>
          <a:xfrm>
            <a:off x="908050" y="2382689"/>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8" name="Text 6"/>
          <p:cNvSpPr/>
          <p:nvPr/>
        </p:nvSpPr>
        <p:spPr>
          <a:xfrm>
            <a:off x="1828800" y="2382689"/>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RQ1 Procedure</a:t>
            </a:r>
            <a:endParaRPr lang="en-US" sz="1200" dirty="0"/>
          </a:p>
        </p:txBody>
      </p:sp>
      <p:sp>
        <p:nvSpPr>
          <p:cNvPr id="9" name="Text 7"/>
          <p:cNvSpPr/>
          <p:nvPr/>
        </p:nvSpPr>
        <p:spPr>
          <a:xfrm>
            <a:off x="3670300" y="2386459"/>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11 settings, per-parameter rules; </a:t>
            </a:r>
            <a:r>
              <a:rPr lang="en-US" sz="1200" b="1" dirty="0">
                <a:solidFill>
                  <a:srgbClr val="3F4A5C"/>
                </a:solidFill>
                <a:latin typeface="IBM Plex Sans" pitchFamily="34" charset="0"/>
                <a:ea typeface="IBM Plex Sans" pitchFamily="34" charset="-122"/>
                <a:cs typeface="IBM Plex Sans" pitchFamily="34" charset="-120"/>
              </a:rPr>
              <a:t>4</a:t>
            </a:r>
            <a:r>
              <a:rPr lang="en-US" sz="1200" dirty="0">
                <a:solidFill>
                  <a:srgbClr val="3F4A5C"/>
                </a:solidFill>
                <a:latin typeface="IBM Plex Sans" pitchFamily="34" charset="0"/>
                <a:ea typeface="IBM Plex Sans" pitchFamily="34" charset="-122"/>
                <a:cs typeface="IBM Plex Sans" pitchFamily="34" charset="-120"/>
              </a:rPr>
              <a:t> value-changing gaps between docs and behavior</a:t>
            </a:r>
            <a:endParaRPr lang="en-US" sz="1200" dirty="0"/>
          </a:p>
        </p:txBody>
      </p:sp>
      <p:sp>
        <p:nvSpPr>
          <p:cNvPr id="10" name="Shape 8"/>
          <p:cNvSpPr/>
          <p:nvPr/>
        </p:nvSpPr>
        <p:spPr>
          <a:xfrm>
            <a:off x="812800" y="2649984"/>
            <a:ext cx="10566400" cy="0"/>
          </a:xfrm>
          <a:prstGeom prst="line">
            <a:avLst/>
          </a:prstGeom>
          <a:noFill/>
          <a:ln w="6350">
            <a:solidFill>
              <a:srgbClr val="DAD6CB"/>
            </a:solidFill>
            <a:prstDash val="solid"/>
          </a:ln>
        </p:spPr>
      </p:sp>
      <p:sp>
        <p:nvSpPr>
          <p:cNvPr id="11" name="Shape 9"/>
          <p:cNvSpPr/>
          <p:nvPr/>
        </p:nvSpPr>
        <p:spPr>
          <a:xfrm>
            <a:off x="815975" y="2700784"/>
            <a:ext cx="605929" cy="219670"/>
          </a:xfrm>
          <a:prstGeom prst="roundRect">
            <a:avLst>
              <a:gd name="adj" fmla="val 21680"/>
            </a:avLst>
          </a:prstGeom>
          <a:solidFill>
            <a:srgbClr val="FBEDE4"/>
          </a:solidFill>
          <a:ln w="6350">
            <a:solidFill>
              <a:srgbClr val="B4441A"/>
            </a:solidFill>
            <a:prstDash val="solid"/>
          </a:ln>
        </p:spPr>
      </p:sp>
      <p:sp>
        <p:nvSpPr>
          <p:cNvPr id="12" name="Text 10"/>
          <p:cNvSpPr/>
          <p:nvPr/>
        </p:nvSpPr>
        <p:spPr>
          <a:xfrm>
            <a:off x="908050" y="2703959"/>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13" name="Text 11"/>
          <p:cNvSpPr/>
          <p:nvPr/>
        </p:nvSpPr>
        <p:spPr>
          <a:xfrm>
            <a:off x="1828800" y="2703959"/>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RQ2 Alignment</a:t>
            </a:r>
            <a:endParaRPr lang="en-US" sz="1200" dirty="0"/>
          </a:p>
        </p:txBody>
      </p:sp>
      <p:sp>
        <p:nvSpPr>
          <p:cNvPr id="14" name="Text 12"/>
          <p:cNvSpPr/>
          <p:nvPr/>
        </p:nvSpPr>
        <p:spPr>
          <a:xfrm>
            <a:off x="3670300" y="2707729"/>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radio–app </a:t>
            </a:r>
            <a:r>
              <a:rPr lang="en-US" sz="1200" b="1" dirty="0">
                <a:solidFill>
                  <a:srgbClr val="3F4A5C"/>
                </a:solidFill>
                <a:latin typeface="IBM Plex Sans" pitchFamily="34" charset="0"/>
                <a:ea typeface="IBM Plex Sans" pitchFamily="34" charset="-122"/>
                <a:cs typeface="IBM Plex Sans" pitchFamily="34" charset="-120"/>
              </a:rPr>
              <a:t>±1.5 s</a:t>
            </a:r>
            <a:r>
              <a:rPr lang="en-US" sz="1200" dirty="0">
                <a:solidFill>
                  <a:srgbClr val="3F4A5C"/>
                </a:solidFill>
                <a:latin typeface="IBM Plex Sans" pitchFamily="34" charset="0"/>
                <a:ea typeface="IBM Plex Sans" pitchFamily="34" charset="-122"/>
                <a:cs typeface="IBM Plex Sans" pitchFamily="34" charset="-120"/>
              </a:rPr>
              <a:t> (streaming), seconds (teleop); camera data available, sync to check</a:t>
            </a:r>
            <a:endParaRPr lang="en-US" sz="1200" dirty="0"/>
          </a:p>
        </p:txBody>
      </p:sp>
      <p:sp>
        <p:nvSpPr>
          <p:cNvPr id="15" name="Shape 13"/>
          <p:cNvSpPr/>
          <p:nvPr/>
        </p:nvSpPr>
        <p:spPr>
          <a:xfrm>
            <a:off x="812800" y="2971254"/>
            <a:ext cx="10566400" cy="0"/>
          </a:xfrm>
          <a:prstGeom prst="line">
            <a:avLst/>
          </a:prstGeom>
          <a:noFill/>
          <a:ln w="6350">
            <a:solidFill>
              <a:srgbClr val="DAD6CB"/>
            </a:solidFill>
            <a:prstDash val="solid"/>
          </a:ln>
        </p:spPr>
      </p:sp>
      <p:sp>
        <p:nvSpPr>
          <p:cNvPr id="16" name="Shape 14"/>
          <p:cNvSpPr/>
          <p:nvPr/>
        </p:nvSpPr>
        <p:spPr>
          <a:xfrm>
            <a:off x="815975" y="3022054"/>
            <a:ext cx="605929" cy="219670"/>
          </a:xfrm>
          <a:prstGeom prst="roundRect">
            <a:avLst>
              <a:gd name="adj" fmla="val 21680"/>
            </a:avLst>
          </a:prstGeom>
          <a:solidFill>
            <a:srgbClr val="FBEDE4"/>
          </a:solidFill>
          <a:ln w="6350">
            <a:solidFill>
              <a:srgbClr val="B4441A"/>
            </a:solidFill>
            <a:prstDash val="solid"/>
          </a:ln>
        </p:spPr>
      </p:sp>
      <p:sp>
        <p:nvSpPr>
          <p:cNvPr id="17" name="Text 15"/>
          <p:cNvSpPr/>
          <p:nvPr/>
        </p:nvSpPr>
        <p:spPr>
          <a:xfrm>
            <a:off x="908050" y="3025229"/>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18" name="Text 16"/>
          <p:cNvSpPr/>
          <p:nvPr/>
        </p:nvSpPr>
        <p:spPr>
          <a:xfrm>
            <a:off x="1828800" y="3025229"/>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RQ3 Events</a:t>
            </a:r>
            <a:endParaRPr lang="en-US" sz="1200" dirty="0"/>
          </a:p>
        </p:txBody>
      </p:sp>
      <p:sp>
        <p:nvSpPr>
          <p:cNvPr id="19" name="Text 17"/>
          <p:cNvSpPr/>
          <p:nvPr/>
        </p:nvSpPr>
        <p:spPr>
          <a:xfrm>
            <a:off x="3670300" y="3029000"/>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124 records = 62 handovers; name matching inflated one count </a:t>
            </a:r>
            <a:r>
              <a:rPr lang="en-US" sz="1200" b="1" dirty="0">
                <a:solidFill>
                  <a:srgbClr val="3F4A5C"/>
                </a:solidFill>
                <a:latin typeface="IBM Plex Sans" pitchFamily="34" charset="0"/>
                <a:ea typeface="IBM Plex Sans" pitchFamily="34" charset="-122"/>
                <a:cs typeface="IBM Plex Sans" pitchFamily="34" charset="-120"/>
              </a:rPr>
              <a:t>58x</a:t>
            </a:r>
            <a:r>
              <a:rPr lang="en-US" sz="1200" dirty="0">
                <a:solidFill>
                  <a:srgbClr val="3F4A5C"/>
                </a:solidFill>
                <a:latin typeface="IBM Plex Sans" pitchFamily="34" charset="0"/>
                <a:ea typeface="IBM Plex Sans" pitchFamily="34" charset="-122"/>
                <a:cs typeface="IBM Plex Sans" pitchFamily="34" charset="-120"/>
              </a:rPr>
              <a:t> (2,151 → 37)</a:t>
            </a:r>
            <a:endParaRPr lang="en-US" sz="1200" dirty="0"/>
          </a:p>
        </p:txBody>
      </p:sp>
      <p:sp>
        <p:nvSpPr>
          <p:cNvPr id="20" name="Shape 18"/>
          <p:cNvSpPr/>
          <p:nvPr/>
        </p:nvSpPr>
        <p:spPr>
          <a:xfrm>
            <a:off x="812800" y="3292525"/>
            <a:ext cx="10566400" cy="0"/>
          </a:xfrm>
          <a:prstGeom prst="line">
            <a:avLst/>
          </a:prstGeom>
          <a:noFill/>
          <a:ln w="6350">
            <a:solidFill>
              <a:srgbClr val="DAD6CB"/>
            </a:solidFill>
            <a:prstDash val="solid"/>
          </a:ln>
        </p:spPr>
      </p:sp>
      <p:sp>
        <p:nvSpPr>
          <p:cNvPr id="21" name="Shape 19"/>
          <p:cNvSpPr/>
          <p:nvPr/>
        </p:nvSpPr>
        <p:spPr>
          <a:xfrm>
            <a:off x="815975" y="3343325"/>
            <a:ext cx="605929" cy="219670"/>
          </a:xfrm>
          <a:prstGeom prst="roundRect">
            <a:avLst>
              <a:gd name="adj" fmla="val 21680"/>
            </a:avLst>
          </a:prstGeom>
          <a:solidFill>
            <a:srgbClr val="FBEDE4"/>
          </a:solidFill>
          <a:ln w="6350">
            <a:solidFill>
              <a:srgbClr val="B4441A"/>
            </a:solidFill>
            <a:prstDash val="solid"/>
          </a:ln>
        </p:spPr>
      </p:sp>
      <p:sp>
        <p:nvSpPr>
          <p:cNvPr id="22" name="Text 20"/>
          <p:cNvSpPr/>
          <p:nvPr/>
        </p:nvSpPr>
        <p:spPr>
          <a:xfrm>
            <a:off x="908050" y="3346500"/>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23" name="Text 21"/>
          <p:cNvSpPr/>
          <p:nvPr/>
        </p:nvSpPr>
        <p:spPr>
          <a:xfrm>
            <a:off x="1828800" y="334650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RQ4 Two paths</a:t>
            </a:r>
            <a:endParaRPr lang="en-US" sz="1200" dirty="0"/>
          </a:p>
        </p:txBody>
      </p:sp>
      <p:sp>
        <p:nvSpPr>
          <p:cNvPr id="24" name="Text 22"/>
          <p:cNvSpPr/>
          <p:nvPr/>
        </p:nvSpPr>
        <p:spPr>
          <a:xfrm>
            <a:off x="3670300" y="3350270"/>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record counts match on </a:t>
            </a:r>
            <a:r>
              <a:rPr lang="en-US" sz="1200" b="1" dirty="0">
                <a:solidFill>
                  <a:srgbClr val="3F4A5C"/>
                </a:solidFill>
                <a:latin typeface="IBM Plex Sans" pitchFamily="34" charset="0"/>
                <a:ea typeface="IBM Plex Sans" pitchFamily="34" charset="-122"/>
                <a:cs typeface="IBM Plex Sans" pitchFamily="34" charset="-120"/>
              </a:rPr>
              <a:t>165/167</a:t>
            </a:r>
            <a:r>
              <a:rPr lang="en-US" sz="1200" dirty="0">
                <a:solidFill>
                  <a:srgbClr val="3F4A5C"/>
                </a:solidFill>
                <a:latin typeface="IBM Plex Sans" pitchFamily="34" charset="0"/>
                <a:ea typeface="IBM Plex Sans" pitchFamily="34" charset="-122"/>
                <a:cs typeface="IBM Plex Sans" pitchFamily="34" charset="-120"/>
              </a:rPr>
              <a:t> codes; a mirror 'second path' was caught; no independent value check yet</a:t>
            </a:r>
            <a:endParaRPr lang="en-US" sz="1200" dirty="0"/>
          </a:p>
        </p:txBody>
      </p:sp>
      <p:sp>
        <p:nvSpPr>
          <p:cNvPr id="25" name="Shape 23"/>
          <p:cNvSpPr/>
          <p:nvPr/>
        </p:nvSpPr>
        <p:spPr>
          <a:xfrm>
            <a:off x="812800" y="3613795"/>
            <a:ext cx="10566400" cy="0"/>
          </a:xfrm>
          <a:prstGeom prst="line">
            <a:avLst/>
          </a:prstGeom>
          <a:noFill/>
          <a:ln w="6350">
            <a:solidFill>
              <a:srgbClr val="DAD6CB"/>
            </a:solidFill>
            <a:prstDash val="solid"/>
          </a:ln>
        </p:spPr>
      </p:sp>
      <p:sp>
        <p:nvSpPr>
          <p:cNvPr id="26" name="Shape 24"/>
          <p:cNvSpPr/>
          <p:nvPr/>
        </p:nvSpPr>
        <p:spPr>
          <a:xfrm>
            <a:off x="815975" y="3664595"/>
            <a:ext cx="605929" cy="219670"/>
          </a:xfrm>
          <a:prstGeom prst="roundRect">
            <a:avLst>
              <a:gd name="adj" fmla="val 21680"/>
            </a:avLst>
          </a:prstGeom>
          <a:solidFill>
            <a:srgbClr val="FBEDE4"/>
          </a:solidFill>
          <a:ln w="6350">
            <a:solidFill>
              <a:srgbClr val="B4441A"/>
            </a:solidFill>
            <a:prstDash val="solid"/>
          </a:ln>
        </p:spPr>
      </p:sp>
      <p:sp>
        <p:nvSpPr>
          <p:cNvPr id="27" name="Text 25"/>
          <p:cNvSpPr/>
          <p:nvPr/>
        </p:nvSpPr>
        <p:spPr>
          <a:xfrm>
            <a:off x="908050" y="3667770"/>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28" name="Text 26"/>
          <p:cNvSpPr/>
          <p:nvPr/>
        </p:nvSpPr>
        <p:spPr>
          <a:xfrm>
            <a:off x="1828800" y="366777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RQ6 AI consumers</a:t>
            </a:r>
            <a:endParaRPr lang="en-US" sz="1200" dirty="0"/>
          </a:p>
        </p:txBody>
      </p:sp>
      <p:sp>
        <p:nvSpPr>
          <p:cNvPr id="29" name="Text 27"/>
          <p:cNvSpPr/>
          <p:nvPr/>
        </p:nvSpPr>
        <p:spPr>
          <a:xfrm>
            <a:off x="3670300" y="3671540"/>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 shell-only agent: 5 full, 5 partial of 11 tasks; </a:t>
            </a:r>
            <a:r>
              <a:rPr lang="en-US" sz="1200" b="1" dirty="0">
                <a:solidFill>
                  <a:srgbClr val="3F4A5C"/>
                </a:solidFill>
                <a:latin typeface="IBM Plex Sans" pitchFamily="34" charset="0"/>
                <a:ea typeface="IBM Plex Sans" pitchFamily="34" charset="-122"/>
                <a:cs typeface="IBM Plex Sans" pitchFamily="34" charset="-120"/>
              </a:rPr>
              <a:t>5/5</a:t>
            </a:r>
            <a:r>
              <a:rPr lang="en-US" sz="1200" dirty="0">
                <a:solidFill>
                  <a:srgbClr val="3F4A5C"/>
                </a:solidFill>
                <a:latin typeface="IBM Plex Sans" pitchFamily="34" charset="0"/>
                <a:ea typeface="IBM Plex Sans" pitchFamily="34" charset="-122"/>
                <a:cs typeface="IBM Plex Sans" pitchFamily="34" charset="-120"/>
              </a:rPr>
              <a:t> numeric answers omitted the setting</a:t>
            </a:r>
            <a:endParaRPr lang="en-US" sz="1200" dirty="0"/>
          </a:p>
        </p:txBody>
      </p:sp>
      <p:sp>
        <p:nvSpPr>
          <p:cNvPr id="30" name="Shape 28"/>
          <p:cNvSpPr/>
          <p:nvPr/>
        </p:nvSpPr>
        <p:spPr>
          <a:xfrm>
            <a:off x="812800" y="3935065"/>
            <a:ext cx="10566400" cy="0"/>
          </a:xfrm>
          <a:prstGeom prst="line">
            <a:avLst/>
          </a:prstGeom>
          <a:noFill/>
          <a:ln w="6350">
            <a:solidFill>
              <a:srgbClr val="DAD6CB"/>
            </a:solidFill>
            <a:prstDash val="solid"/>
          </a:ln>
        </p:spPr>
      </p:sp>
      <p:sp>
        <p:nvSpPr>
          <p:cNvPr id="31" name="Shape 29"/>
          <p:cNvSpPr/>
          <p:nvPr/>
        </p:nvSpPr>
        <p:spPr>
          <a:xfrm>
            <a:off x="815975" y="3985865"/>
            <a:ext cx="605929" cy="219670"/>
          </a:xfrm>
          <a:prstGeom prst="roundRect">
            <a:avLst>
              <a:gd name="adj" fmla="val 21680"/>
            </a:avLst>
          </a:prstGeom>
          <a:solidFill>
            <a:srgbClr val="FBEDE4"/>
          </a:solidFill>
          <a:ln w="6350">
            <a:solidFill>
              <a:srgbClr val="B4441A"/>
            </a:solidFill>
            <a:prstDash val="solid"/>
          </a:ln>
        </p:spPr>
      </p:sp>
      <p:sp>
        <p:nvSpPr>
          <p:cNvPr id="32" name="Text 30"/>
          <p:cNvSpPr/>
          <p:nvPr/>
        </p:nvSpPr>
        <p:spPr>
          <a:xfrm>
            <a:off x="908050" y="3989040"/>
            <a:ext cx="4725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Partly</a:t>
            </a:r>
            <a:endParaRPr lang="en-US" sz="1200" dirty="0"/>
          </a:p>
        </p:txBody>
      </p:sp>
      <p:sp>
        <p:nvSpPr>
          <p:cNvPr id="33" name="Text 31"/>
          <p:cNvSpPr/>
          <p:nvPr/>
        </p:nvSpPr>
        <p:spPr>
          <a:xfrm>
            <a:off x="1828800" y="398904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RQ7 Sensitivity</a:t>
            </a:r>
            <a:endParaRPr lang="en-US" sz="1200" dirty="0"/>
          </a:p>
        </p:txBody>
      </p:sp>
      <p:sp>
        <p:nvSpPr>
          <p:cNvPr id="34" name="Text 32"/>
          <p:cNvSpPr/>
          <p:nvPr/>
        </p:nvSpPr>
        <p:spPr>
          <a:xfrm>
            <a:off x="3670300" y="3992811"/>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worst SINR </a:t>
            </a:r>
            <a:r>
              <a:rPr lang="en-US" sz="1200" b="1" dirty="0">
                <a:solidFill>
                  <a:srgbClr val="3F4A5C"/>
                </a:solidFill>
                <a:latin typeface="IBM Plex Sans" pitchFamily="34" charset="0"/>
                <a:ea typeface="IBM Plex Sans" pitchFamily="34" charset="-122"/>
                <a:cs typeface="IBM Plex Sans" pitchFamily="34" charset="-120"/>
              </a:rPr>
              <a:t>−20.0 vs −12.9 dB</a:t>
            </a:r>
            <a:r>
              <a:rPr lang="en-US" sz="1200" dirty="0">
                <a:solidFill>
                  <a:srgbClr val="3F4A5C"/>
                </a:solidFill>
                <a:latin typeface="IBM Plex Sans" pitchFamily="34" charset="0"/>
                <a:ea typeface="IBM Plex Sans" pitchFamily="34" charset="-122"/>
                <a:cs typeface="IBM Plex Sans" pitchFamily="34" charset="-120"/>
              </a:rPr>
              <a:t> on one trace; 3 of 11 settings tested, 2 with values</a:t>
            </a:r>
            <a:endParaRPr lang="en-US" sz="1200" dirty="0"/>
          </a:p>
        </p:txBody>
      </p:sp>
      <p:sp>
        <p:nvSpPr>
          <p:cNvPr id="35" name="Shape 33"/>
          <p:cNvSpPr/>
          <p:nvPr/>
        </p:nvSpPr>
        <p:spPr>
          <a:xfrm>
            <a:off x="812800" y="4335711"/>
            <a:ext cx="10566400" cy="0"/>
          </a:xfrm>
          <a:prstGeom prst="line">
            <a:avLst/>
          </a:prstGeom>
          <a:noFill/>
          <a:ln w="12700">
            <a:solidFill>
              <a:srgbClr val="14213D"/>
            </a:solidFill>
            <a:prstDash val="solid"/>
          </a:ln>
        </p:spPr>
      </p:sp>
      <p:sp>
        <p:nvSpPr>
          <p:cNvPr id="36" name="Shape 34"/>
          <p:cNvSpPr/>
          <p:nvPr/>
        </p:nvSpPr>
        <p:spPr>
          <a:xfrm>
            <a:off x="815975" y="4389686"/>
            <a:ext cx="692497" cy="219670"/>
          </a:xfrm>
          <a:prstGeom prst="roundRect">
            <a:avLst>
              <a:gd name="adj" fmla="val 21680"/>
            </a:avLst>
          </a:prstGeom>
          <a:solidFill>
            <a:srgbClr val="EFEDE6"/>
          </a:solidFill>
          <a:ln w="6350">
            <a:solidFill>
              <a:srgbClr val="A9A597"/>
            </a:solidFill>
            <a:prstDash val="dash"/>
          </a:ln>
        </p:spPr>
      </p:sp>
      <p:sp>
        <p:nvSpPr>
          <p:cNvPr id="37" name="Text 35"/>
          <p:cNvSpPr/>
          <p:nvPr/>
        </p:nvSpPr>
        <p:spPr>
          <a:xfrm>
            <a:off x="908050" y="4392861"/>
            <a:ext cx="5591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372"/>
                </a:solidFill>
                <a:latin typeface="IBM Plex Sans" pitchFamily="34" charset="0"/>
                <a:ea typeface="IBM Plex Sans" pitchFamily="34" charset="-122"/>
                <a:cs typeface="IBM Plex Sans" pitchFamily="34" charset="-120"/>
              </a:rPr>
              <a:t>Not yet</a:t>
            </a:r>
            <a:endParaRPr lang="en-US" sz="1200" dirty="0"/>
          </a:p>
        </p:txBody>
      </p:sp>
      <p:sp>
        <p:nvSpPr>
          <p:cNvPr id="38" name="Text 36"/>
          <p:cNvSpPr/>
          <p:nvPr/>
        </p:nvSpPr>
        <p:spPr>
          <a:xfrm>
            <a:off x="1828800" y="439286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RQ1b Engine</a:t>
            </a:r>
            <a:endParaRPr lang="en-US" sz="1200" dirty="0"/>
          </a:p>
        </p:txBody>
      </p:sp>
      <p:sp>
        <p:nvSpPr>
          <p:cNvPr id="39" name="Text 37"/>
          <p:cNvSpPr/>
          <p:nvPr/>
        </p:nvSpPr>
        <p:spPr>
          <a:xfrm>
            <a:off x="3670300" y="4396631"/>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loop ran by hand on one build; the engine is designed, not built</a:t>
            </a:r>
            <a:endParaRPr lang="en-US" sz="1200" dirty="0"/>
          </a:p>
        </p:txBody>
      </p:sp>
      <p:sp>
        <p:nvSpPr>
          <p:cNvPr id="40" name="Shape 38"/>
          <p:cNvSpPr/>
          <p:nvPr/>
        </p:nvSpPr>
        <p:spPr>
          <a:xfrm>
            <a:off x="812800" y="4660156"/>
            <a:ext cx="10566400" cy="0"/>
          </a:xfrm>
          <a:prstGeom prst="line">
            <a:avLst/>
          </a:prstGeom>
          <a:noFill/>
          <a:ln w="6350">
            <a:solidFill>
              <a:srgbClr val="DAD6CB"/>
            </a:solidFill>
            <a:prstDash val="solid"/>
          </a:ln>
        </p:spPr>
      </p:sp>
      <p:sp>
        <p:nvSpPr>
          <p:cNvPr id="41" name="Shape 39"/>
          <p:cNvSpPr/>
          <p:nvPr/>
        </p:nvSpPr>
        <p:spPr>
          <a:xfrm>
            <a:off x="815975" y="4710956"/>
            <a:ext cx="692497" cy="219670"/>
          </a:xfrm>
          <a:prstGeom prst="roundRect">
            <a:avLst>
              <a:gd name="adj" fmla="val 21680"/>
            </a:avLst>
          </a:prstGeom>
          <a:solidFill>
            <a:srgbClr val="EFEDE6"/>
          </a:solidFill>
          <a:ln w="6350">
            <a:solidFill>
              <a:srgbClr val="A9A597"/>
            </a:solidFill>
            <a:prstDash val="dash"/>
          </a:ln>
        </p:spPr>
      </p:sp>
      <p:sp>
        <p:nvSpPr>
          <p:cNvPr id="42" name="Text 40"/>
          <p:cNvSpPr/>
          <p:nvPr/>
        </p:nvSpPr>
        <p:spPr>
          <a:xfrm>
            <a:off x="908050" y="4714131"/>
            <a:ext cx="5591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372"/>
                </a:solidFill>
                <a:latin typeface="IBM Plex Sans" pitchFamily="34" charset="0"/>
                <a:ea typeface="IBM Plex Sans" pitchFamily="34" charset="-122"/>
                <a:cs typeface="IBM Plex Sans" pitchFamily="34" charset="-120"/>
              </a:rPr>
              <a:t>Not yet</a:t>
            </a:r>
            <a:endParaRPr lang="en-US" sz="1200" dirty="0"/>
          </a:p>
        </p:txBody>
      </p:sp>
      <p:sp>
        <p:nvSpPr>
          <p:cNvPr id="43" name="Text 41"/>
          <p:cNvSpPr/>
          <p:nvPr/>
        </p:nvSpPr>
        <p:spPr>
          <a:xfrm>
            <a:off x="1828800" y="471413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RQ5 WiReady</a:t>
            </a:r>
            <a:endParaRPr lang="en-US" sz="1200" dirty="0"/>
          </a:p>
        </p:txBody>
      </p:sp>
      <p:sp>
        <p:nvSpPr>
          <p:cNvPr id="44" name="Text 42"/>
          <p:cNvSpPr/>
          <p:nvPr/>
        </p:nvSpPr>
        <p:spPr>
          <a:xfrm>
            <a:off x="3670300" y="4717901"/>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readiness losses found by hand only; auditor not built</a:t>
            </a:r>
            <a:endParaRPr lang="en-US" sz="1200" dirty="0"/>
          </a:p>
        </p:txBody>
      </p:sp>
      <p:sp>
        <p:nvSpPr>
          <p:cNvPr id="45" name="Shape 43"/>
          <p:cNvSpPr/>
          <p:nvPr/>
        </p:nvSpPr>
        <p:spPr>
          <a:xfrm>
            <a:off x="812800" y="4981426"/>
            <a:ext cx="10566400" cy="0"/>
          </a:xfrm>
          <a:prstGeom prst="line">
            <a:avLst/>
          </a:prstGeom>
          <a:noFill/>
          <a:ln w="6350">
            <a:solidFill>
              <a:srgbClr val="DAD6CB"/>
            </a:solidFill>
            <a:prstDash val="solid"/>
          </a:ln>
        </p:spPr>
      </p:sp>
      <p:sp>
        <p:nvSpPr>
          <p:cNvPr id="46" name="Shape 44"/>
          <p:cNvSpPr/>
          <p:nvPr/>
        </p:nvSpPr>
        <p:spPr>
          <a:xfrm>
            <a:off x="815975" y="5032226"/>
            <a:ext cx="692497" cy="219670"/>
          </a:xfrm>
          <a:prstGeom prst="roundRect">
            <a:avLst>
              <a:gd name="adj" fmla="val 21680"/>
            </a:avLst>
          </a:prstGeom>
          <a:solidFill>
            <a:srgbClr val="EFEDE6"/>
          </a:solidFill>
          <a:ln w="6350">
            <a:solidFill>
              <a:srgbClr val="A9A597"/>
            </a:solidFill>
            <a:prstDash val="dash"/>
          </a:ln>
        </p:spPr>
      </p:sp>
      <p:sp>
        <p:nvSpPr>
          <p:cNvPr id="47" name="Text 45"/>
          <p:cNvSpPr/>
          <p:nvPr/>
        </p:nvSpPr>
        <p:spPr>
          <a:xfrm>
            <a:off x="908050" y="5035401"/>
            <a:ext cx="5591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372"/>
                </a:solidFill>
                <a:latin typeface="IBM Plex Sans" pitchFamily="34" charset="0"/>
                <a:ea typeface="IBM Plex Sans" pitchFamily="34" charset="-122"/>
                <a:cs typeface="IBM Plex Sans" pitchFamily="34" charset="-120"/>
              </a:rPr>
              <a:t>Not yet</a:t>
            </a:r>
            <a:endParaRPr lang="en-US" sz="1200" dirty="0"/>
          </a:p>
        </p:txBody>
      </p:sp>
      <p:sp>
        <p:nvSpPr>
          <p:cNvPr id="48" name="Text 46"/>
          <p:cNvSpPr/>
          <p:nvPr/>
        </p:nvSpPr>
        <p:spPr>
          <a:xfrm>
            <a:off x="1828800" y="503540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RQ8 Harmonization</a:t>
            </a:r>
            <a:endParaRPr lang="en-US" sz="1200" dirty="0"/>
          </a:p>
        </p:txBody>
      </p:sp>
      <p:sp>
        <p:nvSpPr>
          <p:cNvPr id="49" name="Text 47"/>
          <p:cNvSpPr/>
          <p:nvPr/>
        </p:nvSpPr>
        <p:spPr>
          <a:xfrm>
            <a:off x="3670300" y="5039171"/>
            <a:ext cx="79401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own 2020–24 campaigns held, not yet harmonized; one reanalysis is a gate condition</a:t>
            </a:r>
            <a:endParaRPr lang="en-US" sz="1200" dirty="0"/>
          </a:p>
        </p:txBody>
      </p:sp>
      <p:sp>
        <p:nvSpPr>
          <p:cNvPr id="50" name="Text 48"/>
          <p:cNvSpPr/>
          <p:nvPr/>
        </p:nvSpPr>
        <p:spPr>
          <a:xfrm>
            <a:off x="812800" y="5413821"/>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4441A"/>
                </a:solidFill>
                <a:latin typeface="IBM Plex Sans" pitchFamily="34" charset="0"/>
                <a:ea typeface="IBM Plex Sans" pitchFamily="34" charset="-122"/>
                <a:cs typeface="IBM Plex Sans" pitchFamily="34" charset="-120"/>
              </a:rPr>
              <a:t>All on one tool build (XCAP-M 5.33.0.15) and our pilot data. Agent results: 1 seed, 1 grader, 1 model family.</a:t>
            </a:r>
            <a:endParaRPr lang="en-US" sz="1200" dirty="0"/>
          </a:p>
        </p:txBody>
      </p:sp>
      <p:sp>
        <p:nvSpPr>
          <p:cNvPr id="51" name="Text 49"/>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52" name="Text 50"/>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RESEARCH PLAN · SYSTEMATIC APPROACH · STEPS 1–4 RAN BY HAND ON ONE BUILD</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 systematic loop turns every tool claim into a tested, dated fact</a:t>
            </a:r>
            <a:endParaRPr lang="en-US" sz="2800" dirty="0"/>
          </a:p>
        </p:txBody>
      </p:sp>
      <p:sp>
        <p:nvSpPr>
          <p:cNvPr id="4" name="Shape 2"/>
          <p:cNvSpPr/>
          <p:nvPr/>
        </p:nvSpPr>
        <p:spPr>
          <a:xfrm>
            <a:off x="815975" y="2029023"/>
            <a:ext cx="2032000" cy="1549350"/>
          </a:xfrm>
          <a:prstGeom prst="roundRect">
            <a:avLst>
              <a:gd name="adj" fmla="val 6353"/>
            </a:avLst>
          </a:prstGeom>
          <a:solidFill>
            <a:srgbClr val="FFFDF8"/>
          </a:solidFill>
          <a:ln w="6350">
            <a:solidFill>
              <a:srgbClr val="DAD6CB"/>
            </a:solidFill>
            <a:prstDash val="solid"/>
          </a:ln>
        </p:spPr>
      </p:sp>
      <p:sp>
        <p:nvSpPr>
          <p:cNvPr id="5" name="Text 3"/>
          <p:cNvSpPr/>
          <p:nvPr/>
        </p:nvSpPr>
        <p:spPr>
          <a:xfrm>
            <a:off x="946150" y="2146498"/>
            <a:ext cx="182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4E8C"/>
                </a:solidFill>
                <a:latin typeface="IBM Plex Sans" pitchFamily="34" charset="0"/>
                <a:ea typeface="IBM Plex Sans" pitchFamily="34" charset="-122"/>
                <a:cs typeface="IBM Plex Sans" pitchFamily="34" charset="-120"/>
              </a:rPr>
              <a:t>1</a:t>
            </a:r>
            <a:r>
              <a:rPr lang="en-US" sz="1400" b="1" dirty="0">
                <a:solidFill>
                  <a:srgbClr val="14213D"/>
                </a:solidFill>
                <a:latin typeface="IBM Plex Sans" pitchFamily="34" charset="0"/>
                <a:ea typeface="IBM Plex Sans" pitchFamily="34" charset="-122"/>
                <a:cs typeface="IBM Plex Sans" pitchFamily="34" charset="-120"/>
              </a:rPr>
              <a:t> Propose</a:t>
            </a:r>
            <a:endParaRPr lang="en-US" sz="1400" dirty="0"/>
          </a:p>
        </p:txBody>
      </p:sp>
      <p:sp>
        <p:nvSpPr>
          <p:cNvPr id="6" name="Text 4"/>
          <p:cNvSpPr/>
          <p:nvPr/>
        </p:nvSpPr>
        <p:spPr>
          <a:xfrm>
            <a:off x="946150" y="2419548"/>
            <a:ext cx="1824800" cy="8483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Engine</a:t>
            </a:r>
            <a:r>
              <a:rPr lang="en-US" sz="1200" dirty="0">
                <a:solidFill>
                  <a:srgbClr val="3F4A5C"/>
                </a:solidFill>
                <a:latin typeface="IBM Plex Sans" pitchFamily="34" charset="0"/>
                <a:ea typeface="IBM Plex Sans" pitchFamily="34" charset="-122"/>
                <a:cs typeface="IBM Plex Sans" pitchFamily="34" charset="-120"/>
              </a:rPr>
              <a:t> · reads help files (4 archives, 2,943 files) and exports; drafts fields as hypotheses</a:t>
            </a:r>
            <a:endParaRPr lang="en-US" sz="1200" dirty="0"/>
          </a:p>
        </p:txBody>
      </p:sp>
      <p:pic>
        <p:nvPicPr>
          <p:cNvPr id="7" name="Image 0" descr="connector">    </p:cNvPr>
          <p:cNvPicPr>
            <a:picLocks noChangeAspect="1"/>
          </p:cNvPicPr>
          <p:nvPr/>
        </p:nvPicPr>
        <p:blipFill>
          <a:blip r:embed="rId1"/>
          <a:srcRect l="0" r="0" t="0" b="0"/>
          <a:stretch/>
        </p:blipFill>
        <p:spPr>
          <a:xfrm>
            <a:off x="2889250" y="2025848"/>
            <a:ext cx="203200" cy="76200"/>
          </a:xfrm>
          <a:prstGeom prst="rect">
            <a:avLst/>
          </a:prstGeom>
        </p:spPr>
      </p:pic>
      <p:sp>
        <p:nvSpPr>
          <p:cNvPr id="8" name="Shape 5"/>
          <p:cNvSpPr/>
          <p:nvPr/>
        </p:nvSpPr>
        <p:spPr>
          <a:xfrm>
            <a:off x="3136900" y="2032198"/>
            <a:ext cx="2038350" cy="1543000"/>
          </a:xfrm>
          <a:prstGeom prst="roundRect">
            <a:avLst>
              <a:gd name="adj" fmla="val 6173"/>
            </a:avLst>
          </a:prstGeom>
          <a:solidFill>
            <a:srgbClr val="FFFDF8"/>
          </a:solidFill>
          <a:ln w="12700">
            <a:solidFill>
              <a:srgbClr val="1F4E8C"/>
            </a:solidFill>
            <a:prstDash val="solid"/>
          </a:ln>
        </p:spPr>
      </p:sp>
      <p:sp>
        <p:nvSpPr>
          <p:cNvPr id="9" name="Text 6"/>
          <p:cNvSpPr/>
          <p:nvPr/>
        </p:nvSpPr>
        <p:spPr>
          <a:xfrm>
            <a:off x="3270250" y="2152848"/>
            <a:ext cx="182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4E8C"/>
                </a:solidFill>
                <a:latin typeface="IBM Plex Sans" pitchFamily="34" charset="0"/>
                <a:ea typeface="IBM Plex Sans" pitchFamily="34" charset="-122"/>
                <a:cs typeface="IBM Plex Sans" pitchFamily="34" charset="-120"/>
              </a:rPr>
              <a:t>2</a:t>
            </a:r>
            <a:r>
              <a:rPr lang="en-US" sz="1400" b="1" dirty="0">
                <a:solidFill>
                  <a:srgbClr val="14213D"/>
                </a:solidFill>
                <a:latin typeface="IBM Plex Sans" pitchFamily="34" charset="0"/>
                <a:ea typeface="IBM Plex Sans" pitchFamily="34" charset="-122"/>
                <a:cs typeface="IBM Plex Sans" pitchFamily="34" charset="-120"/>
              </a:rPr>
              <a:t> Test</a:t>
            </a:r>
            <a:endParaRPr lang="en-US" sz="1400" dirty="0"/>
          </a:p>
        </p:txBody>
      </p:sp>
      <p:sp>
        <p:nvSpPr>
          <p:cNvPr id="10" name="Text 7"/>
          <p:cNvSpPr/>
          <p:nvPr/>
        </p:nvSpPr>
        <p:spPr>
          <a:xfrm>
            <a:off x="3270250" y="2425898"/>
            <a:ext cx="1824800" cy="10540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Engine + scripts</a:t>
            </a:r>
            <a:r>
              <a:rPr lang="en-US" sz="1200" dirty="0">
                <a:solidFill>
                  <a:srgbClr val="3F4A5C"/>
                </a:solidFill>
                <a:latin typeface="IBM Plex Sans" pitchFamily="34" charset="0"/>
                <a:ea typeface="IBM Plex Sans" pitchFamily="34" charset="-122"/>
                <a:cs typeface="IBM Plex Sans" pitchFamily="34" charset="-120"/>
              </a:rPr>
              <a:t> · setting sweeps, positive controls, known-answer containers, on restorable copies</a:t>
            </a:r>
            <a:endParaRPr lang="en-US" sz="1200" dirty="0"/>
          </a:p>
        </p:txBody>
      </p:sp>
      <p:pic>
        <p:nvPicPr>
          <p:cNvPr id="11" name="Image 1" descr="connector">    </p:cNvPr>
          <p:cNvPicPr>
            <a:picLocks noChangeAspect="1"/>
          </p:cNvPicPr>
          <p:nvPr/>
        </p:nvPicPr>
        <p:blipFill>
          <a:blip r:embed="rId2"/>
          <a:srcRect l="0" r="0" t="0" b="0"/>
          <a:stretch/>
        </p:blipFill>
        <p:spPr>
          <a:xfrm>
            <a:off x="5219700" y="2025848"/>
            <a:ext cx="203200" cy="76200"/>
          </a:xfrm>
          <a:prstGeom prst="rect">
            <a:avLst/>
          </a:prstGeom>
        </p:spPr>
      </p:pic>
      <p:sp>
        <p:nvSpPr>
          <p:cNvPr id="12" name="Shape 8"/>
          <p:cNvSpPr/>
          <p:nvPr/>
        </p:nvSpPr>
        <p:spPr>
          <a:xfrm>
            <a:off x="5467350" y="2032198"/>
            <a:ext cx="2038350" cy="1543000"/>
          </a:xfrm>
          <a:prstGeom prst="roundRect">
            <a:avLst>
              <a:gd name="adj" fmla="val 6173"/>
            </a:avLst>
          </a:prstGeom>
          <a:solidFill>
            <a:srgbClr val="FFFDF8"/>
          </a:solidFill>
          <a:ln w="12700">
            <a:solidFill>
              <a:srgbClr val="B4441A"/>
            </a:solidFill>
            <a:prstDash val="solid"/>
          </a:ln>
        </p:spPr>
      </p:sp>
      <p:sp>
        <p:nvSpPr>
          <p:cNvPr id="13" name="Text 9"/>
          <p:cNvSpPr/>
          <p:nvPr/>
        </p:nvSpPr>
        <p:spPr>
          <a:xfrm>
            <a:off x="5600700" y="2152848"/>
            <a:ext cx="182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4E8C"/>
                </a:solidFill>
                <a:latin typeface="IBM Plex Sans" pitchFamily="34" charset="0"/>
                <a:ea typeface="IBM Plex Sans" pitchFamily="34" charset="-122"/>
                <a:cs typeface="IBM Plex Sans" pitchFamily="34" charset="-120"/>
              </a:rPr>
              <a:t>3</a:t>
            </a:r>
            <a:r>
              <a:rPr lang="en-US" sz="1400" b="1" dirty="0">
                <a:solidFill>
                  <a:srgbClr val="14213D"/>
                </a:solidFill>
                <a:latin typeface="IBM Plex Sans" pitchFamily="34" charset="0"/>
                <a:ea typeface="IBM Plex Sans" pitchFamily="34" charset="-122"/>
                <a:cs typeface="IBM Plex Sans" pitchFamily="34" charset="-120"/>
              </a:rPr>
              <a:t> Cross-check</a:t>
            </a:r>
            <a:endParaRPr lang="en-US" sz="1400" dirty="0"/>
          </a:p>
        </p:txBody>
      </p:sp>
      <p:sp>
        <p:nvSpPr>
          <p:cNvPr id="14" name="Text 10"/>
          <p:cNvSpPr/>
          <p:nvPr/>
        </p:nvSpPr>
        <p:spPr>
          <a:xfrm>
            <a:off x="5600700" y="2425898"/>
            <a:ext cx="1824800" cy="10540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Outside the engine</a:t>
            </a:r>
            <a:r>
              <a:rPr lang="en-US" sz="1200" dirty="0">
                <a:solidFill>
                  <a:srgbClr val="3F4A5C"/>
                </a:solidFill>
                <a:latin typeface="IBM Plex Sans" pitchFamily="34" charset="0"/>
                <a:ea typeface="IBM Plex Sans" pitchFamily="34" charset="-122"/>
                <a:cs typeface="IBM Plex Sans" pitchFamily="34" charset="-120"/>
              </a:rPr>
              <a:t> · to certify, our reader, then open decoders </a:t>
            </a:r>
            <a:r>
              <a:rPr lang="en-US" sz="1200" dirty="0">
                <a:solidFill>
                  <a:srgbClr val="B4441A"/>
                </a:solidFill>
                <a:latin typeface="IBM Plex Sans" pitchFamily="34" charset="0"/>
                <a:ea typeface="IBM Plex Sans" pitchFamily="34" charset="-122"/>
                <a:cs typeface="IBM Plex Sans" pitchFamily="34" charset="-120"/>
              </a:rPr>
              <a:t>[to be tested]</a:t>
            </a:r>
            <a:r>
              <a:rPr lang="en-US" sz="1200" dirty="0">
                <a:solidFill>
                  <a:srgbClr val="3F4A5C"/>
                </a:solidFill>
                <a:latin typeface="IBM Plex Sans" pitchFamily="34" charset="0"/>
                <a:ea typeface="IBM Plex Sans" pitchFamily="34" charset="-122"/>
                <a:cs typeface="IBM Plex Sans" pitchFamily="34" charset="-120"/>
              </a:rPr>
              <a:t>, must reproduce the value</a:t>
            </a:r>
            <a:endParaRPr lang="en-US" sz="1200" dirty="0"/>
          </a:p>
        </p:txBody>
      </p:sp>
      <p:pic>
        <p:nvPicPr>
          <p:cNvPr id="15" name="Image 2" descr="connector">    </p:cNvPr>
          <p:cNvPicPr>
            <a:picLocks noChangeAspect="1"/>
          </p:cNvPicPr>
          <p:nvPr/>
        </p:nvPicPr>
        <p:blipFill>
          <a:blip r:embed="rId3"/>
          <a:srcRect l="0" r="0" t="0" b="0"/>
          <a:stretch/>
        </p:blipFill>
        <p:spPr>
          <a:xfrm>
            <a:off x="7550150" y="2025848"/>
            <a:ext cx="203200" cy="76200"/>
          </a:xfrm>
          <a:prstGeom prst="rect">
            <a:avLst/>
          </a:prstGeom>
        </p:spPr>
      </p:pic>
      <p:sp>
        <p:nvSpPr>
          <p:cNvPr id="16" name="Shape 11"/>
          <p:cNvSpPr/>
          <p:nvPr/>
        </p:nvSpPr>
        <p:spPr>
          <a:xfrm>
            <a:off x="7794625" y="2029023"/>
            <a:ext cx="2032000" cy="1549350"/>
          </a:xfrm>
          <a:prstGeom prst="roundRect">
            <a:avLst>
              <a:gd name="adj" fmla="val 6353"/>
            </a:avLst>
          </a:prstGeom>
          <a:solidFill>
            <a:srgbClr val="FFFDF8"/>
          </a:solidFill>
          <a:ln w="6350">
            <a:solidFill>
              <a:srgbClr val="DAD6CB"/>
            </a:solidFill>
            <a:prstDash val="solid"/>
          </a:ln>
        </p:spPr>
      </p:sp>
      <p:sp>
        <p:nvSpPr>
          <p:cNvPr id="17" name="Text 12"/>
          <p:cNvSpPr/>
          <p:nvPr/>
        </p:nvSpPr>
        <p:spPr>
          <a:xfrm>
            <a:off x="7924800" y="2146498"/>
            <a:ext cx="182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4E8C"/>
                </a:solidFill>
                <a:latin typeface="IBM Plex Sans" pitchFamily="34" charset="0"/>
                <a:ea typeface="IBM Plex Sans" pitchFamily="34" charset="-122"/>
                <a:cs typeface="IBM Plex Sans" pitchFamily="34" charset="-120"/>
              </a:rPr>
              <a:t>4</a:t>
            </a:r>
            <a:r>
              <a:rPr lang="en-US" sz="1400" b="1" dirty="0">
                <a:solidFill>
                  <a:srgbClr val="14213D"/>
                </a:solidFill>
                <a:latin typeface="IBM Plex Sans" pitchFamily="34" charset="0"/>
                <a:ea typeface="IBM Plex Sans" pitchFamily="34" charset="-122"/>
                <a:cs typeface="IBM Plex Sans" pitchFamily="34" charset="-120"/>
              </a:rPr>
              <a:t> Record</a:t>
            </a:r>
            <a:endParaRPr lang="en-US" sz="1400" dirty="0"/>
          </a:p>
        </p:txBody>
      </p:sp>
      <p:sp>
        <p:nvSpPr>
          <p:cNvPr id="18" name="Text 13"/>
          <p:cNvSpPr/>
          <p:nvPr/>
        </p:nvSpPr>
        <p:spPr>
          <a:xfrm>
            <a:off x="7924800" y="2419548"/>
            <a:ext cx="1824800" cy="8483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Catalog</a:t>
            </a:r>
            <a:r>
              <a:rPr lang="en-US" sz="1200" dirty="0">
                <a:solidFill>
                  <a:srgbClr val="3F4A5C"/>
                </a:solidFill>
                <a:latin typeface="IBM Plex Sans" pitchFamily="34" charset="0"/>
                <a:ea typeface="IBM Plex Sans" pitchFamily="34" charset="-122"/>
                <a:cs typeface="IBM Plex Sans" pitchFamily="34" charset="-120"/>
              </a:rPr>
              <a:t> · dated, build-pinned entry with its check; a correction re-flags dependent values</a:t>
            </a:r>
            <a:endParaRPr lang="en-US" sz="1200" dirty="0"/>
          </a:p>
        </p:txBody>
      </p:sp>
      <p:pic>
        <p:nvPicPr>
          <p:cNvPr id="19" name="Image 3" descr="connector">    </p:cNvPr>
          <p:cNvPicPr>
            <a:picLocks noChangeAspect="1"/>
          </p:cNvPicPr>
          <p:nvPr/>
        </p:nvPicPr>
        <p:blipFill>
          <a:blip r:embed="rId4"/>
          <a:srcRect l="0" r="0" t="0" b="0"/>
          <a:stretch/>
        </p:blipFill>
        <p:spPr>
          <a:xfrm>
            <a:off x="9867900" y="2025848"/>
            <a:ext cx="203200" cy="76200"/>
          </a:xfrm>
          <a:prstGeom prst="rect">
            <a:avLst/>
          </a:prstGeom>
        </p:spPr>
      </p:pic>
      <p:sp>
        <p:nvSpPr>
          <p:cNvPr id="20" name="Shape 14"/>
          <p:cNvSpPr/>
          <p:nvPr/>
        </p:nvSpPr>
        <p:spPr>
          <a:xfrm>
            <a:off x="10109200" y="2025848"/>
            <a:ext cx="1270000" cy="1555700"/>
          </a:xfrm>
          <a:prstGeom prst="roundRect">
            <a:avLst>
              <a:gd name="adj" fmla="val 8000"/>
            </a:avLst>
          </a:prstGeom>
          <a:solidFill>
            <a:srgbClr val="14213D"/>
          </a:solidFill>
          <a:ln/>
        </p:spPr>
      </p:sp>
      <p:sp>
        <p:nvSpPr>
          <p:cNvPr id="21" name="Text 15"/>
          <p:cNvSpPr/>
          <p:nvPr/>
        </p:nvSpPr>
        <p:spPr>
          <a:xfrm>
            <a:off x="10236200" y="2140148"/>
            <a:ext cx="1066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A36B"/>
                </a:solidFill>
                <a:latin typeface="IBM Plex Sans" pitchFamily="34" charset="0"/>
                <a:ea typeface="IBM Plex Sans" pitchFamily="34" charset="-122"/>
                <a:cs typeface="IBM Plex Sans" pitchFamily="34" charset="-120"/>
              </a:rPr>
              <a:t>5</a:t>
            </a:r>
            <a:r>
              <a:rPr lang="en-US" sz="1400" b="1" dirty="0">
                <a:solidFill>
                  <a:srgbClr val="F4F1EA"/>
                </a:solidFill>
                <a:latin typeface="IBM Plex Sans" pitchFamily="34" charset="0"/>
                <a:ea typeface="IBM Plex Sans" pitchFamily="34" charset="-122"/>
                <a:cs typeface="IBM Plex Sans" pitchFamily="34" charset="-120"/>
              </a:rPr>
              <a:t> Apply</a:t>
            </a:r>
            <a:endParaRPr lang="en-US" sz="1400" dirty="0"/>
          </a:p>
        </p:txBody>
      </p:sp>
      <p:sp>
        <p:nvSpPr>
          <p:cNvPr id="22" name="Text 16"/>
          <p:cNvSpPr/>
          <p:nvPr/>
        </p:nvSpPr>
        <p:spPr>
          <a:xfrm>
            <a:off x="10236200" y="2413198"/>
            <a:ext cx="1066800" cy="10540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2A36B"/>
                </a:solidFill>
                <a:latin typeface="IBM Plex Sans" pitchFamily="34" charset="0"/>
                <a:ea typeface="IBM Plex Sans" pitchFamily="34" charset="-122"/>
                <a:cs typeface="IBM Plex Sans" pitchFamily="34" charset="-120"/>
              </a:rPr>
              <a:t>Scripts</a:t>
            </a:r>
            <a:r>
              <a:rPr lang="en-US" sz="1200" dirty="0">
                <a:solidFill>
                  <a:srgbClr val="B9C3D6"/>
                </a:solidFill>
                <a:latin typeface="IBM Plex Sans" pitchFamily="34" charset="0"/>
                <a:ea typeface="IBM Plex Sans" pitchFamily="34" charset="-122"/>
                <a:cs typeface="IBM Plex Sans" pitchFamily="34" charset="-120"/>
              </a:rPr>
              <a:t> · to existing corpora, in one of three cases:</a:t>
            </a:r>
            <a:endParaRPr lang="en-US" sz="1200" dirty="0"/>
          </a:p>
        </p:txBody>
      </p:sp>
      <p:sp>
        <p:nvSpPr>
          <p:cNvPr id="23" name="Text 17"/>
          <p:cNvSpPr/>
          <p:nvPr/>
        </p:nvSpPr>
        <p:spPr>
          <a:xfrm>
            <a:off x="812800" y="37085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STEP 5 · THREE CASES</a:t>
            </a:r>
            <a:endParaRPr lang="en-US" sz="1200" dirty="0"/>
          </a:p>
        </p:txBody>
      </p:sp>
      <p:sp>
        <p:nvSpPr>
          <p:cNvPr id="24" name="Shape 18"/>
          <p:cNvSpPr/>
          <p:nvPr/>
        </p:nvSpPr>
        <p:spPr>
          <a:xfrm>
            <a:off x="815975" y="3975844"/>
            <a:ext cx="3448050" cy="646410"/>
          </a:xfrm>
          <a:prstGeom prst="roundRect">
            <a:avLst>
              <a:gd name="adj" fmla="val 13262"/>
            </a:avLst>
          </a:prstGeom>
          <a:solidFill>
            <a:srgbClr val="FFFDF8"/>
          </a:solidFill>
          <a:ln w="6350">
            <a:solidFill>
              <a:srgbClr val="DAD6CB"/>
            </a:solidFill>
            <a:prstDash val="solid"/>
          </a:ln>
        </p:spPr>
      </p:sp>
      <p:sp>
        <p:nvSpPr>
          <p:cNvPr id="25" name="Text 19"/>
          <p:cNvSpPr/>
          <p:nvPr/>
        </p:nvSpPr>
        <p:spPr>
          <a:xfrm>
            <a:off x="971550" y="4093319"/>
            <a:ext cx="3231007"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Raw logs survive</a:t>
            </a:r>
            <a:r>
              <a:rPr lang="en-US" sz="1200" dirty="0">
                <a:solidFill>
                  <a:srgbClr val="3F4A5C"/>
                </a:solidFill>
                <a:latin typeface="IBM Plex Sans" pitchFamily="34" charset="0"/>
                <a:ea typeface="IBM Plex Sans" pitchFamily="34" charset="-122"/>
                <a:cs typeface="IBM Plex Sans" pitchFamily="34" charset="-120"/>
              </a:rPr>
              <a:t> → re-derive</a:t>
            </a:r>
            <a:endParaRPr lang="en-US" sz="1200" dirty="0"/>
          </a:p>
        </p:txBody>
      </p:sp>
      <p:sp>
        <p:nvSpPr>
          <p:cNvPr id="26" name="Shape 20"/>
          <p:cNvSpPr/>
          <p:nvPr/>
        </p:nvSpPr>
        <p:spPr>
          <a:xfrm>
            <a:off x="4371975" y="3975844"/>
            <a:ext cx="3448050" cy="646410"/>
          </a:xfrm>
          <a:prstGeom prst="roundRect">
            <a:avLst>
              <a:gd name="adj" fmla="val 13262"/>
            </a:avLst>
          </a:prstGeom>
          <a:solidFill>
            <a:srgbClr val="FFFDF8"/>
          </a:solidFill>
          <a:ln w="6350">
            <a:solidFill>
              <a:srgbClr val="DAD6CB"/>
            </a:solidFill>
            <a:prstDash val="solid"/>
          </a:ln>
        </p:spPr>
      </p:sp>
      <p:sp>
        <p:nvSpPr>
          <p:cNvPr id="27" name="Text 21"/>
          <p:cNvSpPr/>
          <p:nvPr/>
        </p:nvSpPr>
        <p:spPr>
          <a:xfrm>
            <a:off x="4527550" y="4093319"/>
            <a:ext cx="3231007"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Only exports survive</a:t>
            </a:r>
            <a:r>
              <a:rPr lang="en-US" sz="1200" dirty="0">
                <a:solidFill>
                  <a:srgbClr val="3F4A5C"/>
                </a:solidFill>
                <a:latin typeface="IBM Plex Sans" pitchFamily="34" charset="0"/>
                <a:ea typeface="IBM Plex Sans" pitchFamily="34" charset="-122"/>
                <a:cs typeface="IBM Plex Sans" pitchFamily="34" charset="-120"/>
              </a:rPr>
              <a:t> → infer the procedure from its signatures</a:t>
            </a:r>
            <a:endParaRPr lang="en-US" sz="1200" dirty="0"/>
          </a:p>
        </p:txBody>
      </p:sp>
      <p:sp>
        <p:nvSpPr>
          <p:cNvPr id="28" name="Shape 22"/>
          <p:cNvSpPr/>
          <p:nvPr/>
        </p:nvSpPr>
        <p:spPr>
          <a:xfrm>
            <a:off x="7927975" y="3975844"/>
            <a:ext cx="3448050" cy="646410"/>
          </a:xfrm>
          <a:prstGeom prst="roundRect">
            <a:avLst>
              <a:gd name="adj" fmla="val 13262"/>
            </a:avLst>
          </a:prstGeom>
          <a:solidFill>
            <a:srgbClr val="FBEDE4"/>
          </a:solidFill>
          <a:ln w="6350">
            <a:solidFill>
              <a:srgbClr val="B4441A"/>
            </a:solidFill>
            <a:prstDash val="solid"/>
          </a:ln>
        </p:spPr>
      </p:sp>
      <p:sp>
        <p:nvSpPr>
          <p:cNvPr id="29" name="Text 23"/>
          <p:cNvSpPr/>
          <p:nvPr/>
        </p:nvSpPr>
        <p:spPr>
          <a:xfrm>
            <a:off x="8083550" y="4093319"/>
            <a:ext cx="3231007"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Neither</a:t>
            </a:r>
            <a:r>
              <a:rPr lang="en-US" sz="1200" dirty="0">
                <a:solidFill>
                  <a:srgbClr val="3F4A5C"/>
                </a:solidFill>
                <a:latin typeface="IBM Plex Sans" pitchFamily="34" charset="0"/>
                <a:ea typeface="IBM Plex Sans" pitchFamily="34" charset="-122"/>
                <a:cs typeface="IBM Plex Sans" pitchFamily="34" charset="-120"/>
              </a:rPr>
              <a:t> → flag </a:t>
            </a:r>
            <a:r>
              <a:rPr lang="en-US" sz="1200" b="1" dirty="0">
                <a:solidFill>
                  <a:srgbClr val="B4441A"/>
                </a:solidFill>
                <a:latin typeface="IBM Plex Sans" pitchFamily="34" charset="0"/>
                <a:ea typeface="IBM Plex Sans" pitchFamily="34" charset="-122"/>
                <a:cs typeface="IBM Plex Sans" pitchFamily="34" charset="-120"/>
              </a:rPr>
              <a:t>'not comparable'</a:t>
            </a:r>
            <a:endParaRPr lang="en-US" sz="1200" dirty="0"/>
          </a:p>
        </p:txBody>
      </p:sp>
      <p:sp>
        <p:nvSpPr>
          <p:cNvPr id="30" name="Shape 24"/>
          <p:cNvSpPr/>
          <p:nvPr/>
        </p:nvSpPr>
        <p:spPr>
          <a:xfrm>
            <a:off x="812800" y="4752429"/>
            <a:ext cx="10566400" cy="528290"/>
          </a:xfrm>
          <a:prstGeom prst="roundRect">
            <a:avLst>
              <a:gd name="adj" fmla="val 19232"/>
            </a:avLst>
          </a:prstGeom>
          <a:solidFill>
            <a:srgbClr val="14213D"/>
          </a:solidFill>
          <a:ln/>
        </p:spPr>
      </p:sp>
      <p:sp>
        <p:nvSpPr>
          <p:cNvPr id="31" name="Text 25"/>
          <p:cNvSpPr/>
          <p:nvPr/>
        </p:nvSpPr>
        <p:spPr>
          <a:xfrm>
            <a:off x="1016000" y="4892129"/>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RULE</a:t>
            </a:r>
            <a:endParaRPr lang="en-US" sz="1200" dirty="0"/>
          </a:p>
        </p:txBody>
      </p:sp>
      <p:sp>
        <p:nvSpPr>
          <p:cNvPr id="32" name="Text 26"/>
          <p:cNvSpPr/>
          <p:nvPr/>
        </p:nvSpPr>
        <p:spPr>
          <a:xfrm>
            <a:off x="2489200" y="4892129"/>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Documentation and the engine only propose. Only steps 2 and 3 turn a claim into a passport field.</a:t>
            </a:r>
            <a:endParaRPr lang="en-US" sz="1400" dirty="0"/>
          </a:p>
        </p:txBody>
      </p:sp>
      <p:sp>
        <p:nvSpPr>
          <p:cNvPr id="33" name="Text 27"/>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34" name="Text 2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RESEARCH PLAN · THE RECOVERY ENGINE · PROPOSED, NOT BUILT</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12,881 parameter-setting cells per build need an engine: an AI agent that experiments but cannot certify</a:t>
            </a:r>
            <a:endParaRPr lang="en-US" sz="2800" dirty="0"/>
          </a:p>
        </p:txBody>
      </p:sp>
      <p:sp>
        <p:nvSpPr>
          <p:cNvPr id="4" name="Shape 2"/>
          <p:cNvSpPr/>
          <p:nvPr/>
        </p:nvSpPr>
        <p:spPr>
          <a:xfrm>
            <a:off x="815975" y="2029023"/>
            <a:ext cx="5181600" cy="1565870"/>
          </a:xfrm>
          <a:prstGeom prst="roundRect">
            <a:avLst>
              <a:gd name="adj" fmla="val 6286"/>
            </a:avLst>
          </a:prstGeom>
          <a:solidFill>
            <a:srgbClr val="EFEDE6"/>
          </a:solidFill>
          <a:ln w="6350">
            <a:solidFill>
              <a:srgbClr val="A9A597"/>
            </a:solidFill>
            <a:prstDash val="dash"/>
          </a:ln>
        </p:spPr>
      </p:sp>
      <p:sp>
        <p:nvSpPr>
          <p:cNvPr id="5" name="Text 3"/>
          <p:cNvSpPr/>
          <p:nvPr/>
        </p:nvSpPr>
        <p:spPr>
          <a:xfrm>
            <a:off x="971550" y="2159198"/>
            <a:ext cx="501656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By hand today · one build</a:t>
            </a:r>
            <a:endParaRPr lang="en-US" sz="1400" dirty="0"/>
          </a:p>
        </p:txBody>
      </p:sp>
      <p:sp>
        <p:nvSpPr>
          <p:cNvPr id="6" name="Text 4"/>
          <p:cNvSpPr/>
          <p:nvPr/>
        </p:nvSpPr>
        <p:spPr>
          <a:xfrm>
            <a:off x="971550" y="2432248"/>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743 of 1,171</a:t>
            </a:r>
            <a:r>
              <a:rPr lang="en-US" sz="1200" dirty="0">
                <a:solidFill>
                  <a:srgbClr val="3F4A5C"/>
                </a:solidFill>
                <a:latin typeface="IBM Plex Sans" pitchFamily="34" charset="0"/>
                <a:ea typeface="IBM Plex Sans" pitchFamily="34" charset="-122"/>
                <a:cs typeface="IBM Plex Sans" pitchFamily="34" charset="-120"/>
              </a:rPr>
              <a:t> rules known · </a:t>
            </a:r>
            <a:r>
              <a:rPr lang="en-US" sz="1200" b="1" dirty="0">
                <a:solidFill>
                  <a:srgbClr val="1F4E8C"/>
                </a:solidFill>
                <a:latin typeface="IBM Plex Sans" pitchFamily="34" charset="0"/>
                <a:ea typeface="IBM Plex Sans" pitchFamily="34" charset="-122"/>
                <a:cs typeface="IBM Plex Sans" pitchFamily="34" charset="-120"/>
              </a:rPr>
              <a:t>3 of 11</a:t>
            </a:r>
            <a:r>
              <a:rPr lang="en-US" sz="1200" dirty="0">
                <a:solidFill>
                  <a:srgbClr val="3F4A5C"/>
                </a:solidFill>
                <a:latin typeface="IBM Plex Sans" pitchFamily="34" charset="0"/>
                <a:ea typeface="IBM Plex Sans" pitchFamily="34" charset="-122"/>
                <a:cs typeface="IBM Plex Sans" pitchFamily="34" charset="-120"/>
              </a:rPr>
              <a:t> settings tested</a:t>
            </a:r>
            <a:endParaRPr lang="en-US" sz="1200" dirty="0"/>
          </a:p>
        </p:txBody>
      </p:sp>
      <p:sp>
        <p:nvSpPr>
          <p:cNvPr id="7" name="Text 5"/>
          <p:cNvSpPr/>
          <p:nvPr/>
        </p:nvSpPr>
        <p:spPr>
          <a:xfrm>
            <a:off x="971550" y="268877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4</a:t>
            </a:r>
            <a:r>
              <a:rPr lang="en-US" sz="1200" dirty="0">
                <a:solidFill>
                  <a:srgbClr val="3F4A5C"/>
                </a:solidFill>
                <a:latin typeface="IBM Plex Sans" pitchFamily="34" charset="0"/>
                <a:ea typeface="IBM Plex Sans" pitchFamily="34" charset="-122"/>
                <a:cs typeface="IBM Plex Sans" pitchFamily="34" charset="-120"/>
              </a:rPr>
              <a:t> value-changing gaps between docs and behavior</a:t>
            </a:r>
            <a:endParaRPr lang="en-US" sz="1200" dirty="0"/>
          </a:p>
        </p:txBody>
      </p:sp>
      <p:sp>
        <p:nvSpPr>
          <p:cNvPr id="8" name="Text 6"/>
          <p:cNvSpPr/>
          <p:nvPr/>
        </p:nvSpPr>
        <p:spPr>
          <a:xfrm>
            <a:off x="971550" y="294530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3</a:t>
            </a:r>
            <a:r>
              <a:rPr lang="en-US" sz="1200" dirty="0">
                <a:solidFill>
                  <a:srgbClr val="3F4A5C"/>
                </a:solidFill>
                <a:latin typeface="IBM Plex Sans" pitchFamily="34" charset="0"/>
                <a:ea typeface="IBM Plex Sans" pitchFamily="34" charset="-122"/>
                <a:cs typeface="IBM Plex Sans" pitchFamily="34" charset="-120"/>
              </a:rPr>
              <a:t> of our false conclusions, caught only by re-checks</a:t>
            </a:r>
            <a:endParaRPr lang="en-US" sz="1200" dirty="0"/>
          </a:p>
        </p:txBody>
      </p:sp>
      <p:sp>
        <p:nvSpPr>
          <p:cNvPr id="9" name="Shape 7"/>
          <p:cNvSpPr/>
          <p:nvPr/>
        </p:nvSpPr>
        <p:spPr>
          <a:xfrm>
            <a:off x="971550" y="3205014"/>
            <a:ext cx="4870450" cy="0"/>
          </a:xfrm>
          <a:prstGeom prst="line">
            <a:avLst/>
          </a:prstGeom>
          <a:noFill/>
          <a:ln w="6350">
            <a:solidFill>
              <a:srgbClr val="A9A597"/>
            </a:solidFill>
            <a:prstDash val="dash"/>
          </a:ln>
        </p:spPr>
      </p:sp>
      <p:sp>
        <p:nvSpPr>
          <p:cNvPr id="10" name="Text 8"/>
          <p:cNvSpPr/>
          <p:nvPr/>
        </p:nvSpPr>
        <p:spPr>
          <a:xfrm>
            <a:off x="971550" y="325898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4441A"/>
                </a:solidFill>
                <a:latin typeface="IBM Plex Sans" pitchFamily="34" charset="0"/>
                <a:ea typeface="IBM Plex Sans" pitchFamily="34" charset="-122"/>
                <a:cs typeface="IBM Plex Sans" pitchFamily="34" charset="-120"/>
              </a:rPr>
              <a:t>Needed</a:t>
            </a:r>
            <a:r>
              <a:rPr lang="en-US" sz="1200" dirty="0">
                <a:solidFill>
                  <a:srgbClr val="3F4A5C"/>
                </a:solidFill>
                <a:latin typeface="IBM Plex Sans" pitchFamily="34" charset="0"/>
                <a:ea typeface="IBM Plex Sans" pitchFamily="34" charset="-122"/>
                <a:cs typeface="IBM Plex Sans" pitchFamily="34" charset="-120"/>
              </a:rPr>
              <a:t> · 1,171 × 11 = 12,881 cells, per build and tool</a:t>
            </a:r>
            <a:endParaRPr lang="en-US" sz="1200" dirty="0"/>
          </a:p>
        </p:txBody>
      </p:sp>
      <p:sp>
        <p:nvSpPr>
          <p:cNvPr id="11" name="Shape 9"/>
          <p:cNvSpPr/>
          <p:nvPr/>
        </p:nvSpPr>
        <p:spPr>
          <a:xfrm>
            <a:off x="6203950" y="2025848"/>
            <a:ext cx="5175250" cy="1572220"/>
          </a:xfrm>
          <a:prstGeom prst="roundRect">
            <a:avLst>
              <a:gd name="adj" fmla="val 6462"/>
            </a:avLst>
          </a:prstGeom>
          <a:solidFill>
            <a:srgbClr val="14213D"/>
          </a:solidFill>
          <a:ln/>
        </p:spPr>
      </p:sp>
      <p:sp>
        <p:nvSpPr>
          <p:cNvPr id="12" name="Text 10"/>
          <p:cNvSpPr/>
          <p:nvPr/>
        </p:nvSpPr>
        <p:spPr>
          <a:xfrm>
            <a:off x="6356350" y="2152848"/>
            <a:ext cx="501656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4F1EA"/>
                </a:solidFill>
                <a:latin typeface="IBM Plex Sans" pitchFamily="34" charset="0"/>
                <a:ea typeface="IBM Plex Sans" pitchFamily="34" charset="-122"/>
                <a:cs typeface="IBM Plex Sans" pitchFamily="34" charset="-120"/>
              </a:rPr>
              <a:t>Recovery Engine · </a:t>
            </a:r>
            <a:r>
              <a:rPr lang="en-US" sz="1400" b="1" dirty="0">
                <a:solidFill>
                  <a:srgbClr val="F2A36B"/>
                </a:solidFill>
                <a:latin typeface="IBM Plex Sans" pitchFamily="34" charset="0"/>
                <a:ea typeface="IBM Plex Sans" pitchFamily="34" charset="-122"/>
                <a:cs typeface="IBM Plex Sans" pitchFamily="34" charset="-120"/>
              </a:rPr>
              <a:t>proposed</a:t>
            </a:r>
            <a:endParaRPr lang="en-US" sz="1400" dirty="0"/>
          </a:p>
        </p:txBody>
      </p:sp>
      <p:sp>
        <p:nvSpPr>
          <p:cNvPr id="13" name="Text 11"/>
          <p:cNvSpPr/>
          <p:nvPr/>
        </p:nvSpPr>
        <p:spPr>
          <a:xfrm>
            <a:off x="6356350" y="2425898"/>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2A36B"/>
                </a:solidFill>
                <a:latin typeface="IBM Plex Sans" pitchFamily="34" charset="0"/>
                <a:ea typeface="IBM Plex Sans" pitchFamily="34" charset="-122"/>
                <a:cs typeface="IBM Plex Sans" pitchFamily="34" charset="-120"/>
              </a:rPr>
              <a:t>Doubt</a:t>
            </a:r>
            <a:r>
              <a:rPr lang="en-US" sz="1200" dirty="0">
                <a:solidFill>
                  <a:srgbClr val="B9C3D6"/>
                </a:solidFill>
                <a:latin typeface="IBM Plex Sans" pitchFamily="34" charset="0"/>
                <a:ea typeface="IBM Plex Sans" pitchFamily="34" charset="-122"/>
                <a:cs typeface="IBM Plex Sans" pitchFamily="34" charset="-120"/>
              </a:rPr>
              <a:t> · docs and dialogs are hypotheses, not facts</a:t>
            </a:r>
            <a:endParaRPr lang="en-US" sz="1200" dirty="0"/>
          </a:p>
        </p:txBody>
      </p:sp>
      <p:sp>
        <p:nvSpPr>
          <p:cNvPr id="14" name="Text 12"/>
          <p:cNvSpPr/>
          <p:nvPr/>
        </p:nvSpPr>
        <p:spPr>
          <a:xfrm>
            <a:off x="6356350" y="268242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2A36B"/>
                </a:solidFill>
                <a:latin typeface="IBM Plex Sans" pitchFamily="34" charset="0"/>
                <a:ea typeface="IBM Plex Sans" pitchFamily="34" charset="-122"/>
                <a:cs typeface="IBM Plex Sans" pitchFamily="34" charset="-120"/>
              </a:rPr>
              <a:t>Experiment</a:t>
            </a:r>
            <a:r>
              <a:rPr lang="en-US" sz="1200" dirty="0">
                <a:solidFill>
                  <a:srgbClr val="B9C3D6"/>
                </a:solidFill>
                <a:latin typeface="IBM Plex Sans" pitchFamily="34" charset="0"/>
                <a:ea typeface="IBM Plex Sans" pitchFamily="34" charset="-122"/>
                <a:cs typeface="IBM Plex Sans" pitchFamily="34" charset="-120"/>
              </a:rPr>
              <a:t> · sweeps and controls on restorable copies</a:t>
            </a:r>
            <a:endParaRPr lang="en-US" sz="1200" dirty="0"/>
          </a:p>
        </p:txBody>
      </p:sp>
      <p:sp>
        <p:nvSpPr>
          <p:cNvPr id="15" name="Text 13"/>
          <p:cNvSpPr/>
          <p:nvPr/>
        </p:nvSpPr>
        <p:spPr>
          <a:xfrm>
            <a:off x="6356350" y="293895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2A36B"/>
                </a:solidFill>
                <a:latin typeface="IBM Plex Sans" pitchFamily="34" charset="0"/>
                <a:ea typeface="IBM Plex Sans" pitchFamily="34" charset="-122"/>
                <a:cs typeface="IBM Plex Sans" pitchFamily="34" charset="-120"/>
              </a:rPr>
              <a:t>Verify</a:t>
            </a:r>
            <a:r>
              <a:rPr lang="en-US" sz="1200" dirty="0">
                <a:solidFill>
                  <a:srgbClr val="B9C3D6"/>
                </a:solidFill>
                <a:latin typeface="IBM Plex Sans" pitchFamily="34" charset="0"/>
                <a:ea typeface="IBM Plex Sans" pitchFamily="34" charset="-122"/>
                <a:cs typeface="IBM Plex Sans" pitchFamily="34" charset="-120"/>
              </a:rPr>
              <a:t> · human-reviewed checks run outside the agent</a:t>
            </a:r>
            <a:endParaRPr lang="en-US" sz="1200" dirty="0"/>
          </a:p>
        </p:txBody>
      </p:sp>
      <p:sp>
        <p:nvSpPr>
          <p:cNvPr id="16" name="Text 14"/>
          <p:cNvSpPr/>
          <p:nvPr/>
        </p:nvSpPr>
        <p:spPr>
          <a:xfrm>
            <a:off x="6356350" y="3195489"/>
            <a:ext cx="5016564"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2A36B"/>
                </a:solidFill>
                <a:latin typeface="IBM Plex Sans" pitchFamily="34" charset="0"/>
                <a:ea typeface="IBM Plex Sans" pitchFamily="34" charset="-122"/>
                <a:cs typeface="IBM Plex Sans" pitchFamily="34" charset="-120"/>
              </a:rPr>
              <a:t>Reuse</a:t>
            </a:r>
            <a:r>
              <a:rPr lang="en-US" sz="1200" dirty="0">
                <a:solidFill>
                  <a:srgbClr val="B9C3D6"/>
                </a:solidFill>
                <a:latin typeface="IBM Plex Sans" pitchFamily="34" charset="0"/>
                <a:ea typeface="IBM Plex Sans" pitchFamily="34" charset="-122"/>
                <a:cs typeface="IBM Plex Sans" pitchFamily="34" charset="-120"/>
              </a:rPr>
              <a:t> · verified procedures become rerunnable scripts</a:t>
            </a:r>
            <a:endParaRPr lang="en-US" sz="1200" dirty="0"/>
          </a:p>
        </p:txBody>
      </p:sp>
      <p:sp>
        <p:nvSpPr>
          <p:cNvPr id="17" name="Shape 15"/>
          <p:cNvSpPr/>
          <p:nvPr/>
        </p:nvSpPr>
        <p:spPr>
          <a:xfrm>
            <a:off x="831850" y="3725069"/>
            <a:ext cx="0" cy="551160"/>
          </a:xfrm>
          <a:prstGeom prst="line">
            <a:avLst/>
          </a:prstGeom>
          <a:noFill/>
          <a:ln w="38100">
            <a:solidFill>
              <a:srgbClr val="B4441A"/>
            </a:solidFill>
            <a:prstDash val="solid"/>
          </a:ln>
        </p:spPr>
      </p:sp>
      <p:sp>
        <p:nvSpPr>
          <p:cNvPr id="18" name="Text 16"/>
          <p:cNvSpPr/>
          <p:nvPr/>
        </p:nvSpPr>
        <p:spPr>
          <a:xfrm>
            <a:off x="1016000" y="3775869"/>
            <a:ext cx="1320800" cy="436860"/>
          </a:xfrm>
          <a:prstGeom prst="rect">
            <a:avLst/>
          </a:prstGeom>
          <a:noFill/>
          <a:ln/>
        </p:spPr>
        <p:txBody>
          <a:bodyPr wrap="square" lIns="0" tIns="0" rIns="0" bIns="0" rtlCol="0" anchor="t">
            <a:normAutofit/>
          </a:bodyPr>
          <a:lstStyle/>
          <a:p>
            <a:pPr algn="l" indent="0" marL="0">
              <a:lnSpc>
                <a:spcPts val="1620"/>
              </a:lnSpc>
              <a:buNone/>
            </a:pPr>
            <a:r>
              <a:rPr lang="en-US" sz="1200" b="1" spc="100" kern="0" dirty="0">
                <a:solidFill>
                  <a:srgbClr val="B4441A"/>
                </a:solidFill>
                <a:latin typeface="IBM Plex Sans" pitchFamily="34" charset="0"/>
                <a:ea typeface="IBM Plex Sans" pitchFamily="34" charset="-122"/>
                <a:cs typeface="IBM Plex Sans" pitchFamily="34" charset="-120"/>
              </a:rPr>
              <a:t>DIVISION OF LABOR</a:t>
            </a:r>
            <a:endParaRPr lang="en-US" sz="1200" dirty="0"/>
          </a:p>
        </p:txBody>
      </p:sp>
      <p:sp>
        <p:nvSpPr>
          <p:cNvPr id="19" name="Text 17"/>
          <p:cNvSpPr/>
          <p:nvPr/>
        </p:nvSpPr>
        <p:spPr>
          <a:xfrm>
            <a:off x="2489200" y="3775869"/>
            <a:ext cx="9156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Scripts run the sweeps; the agent takes </a:t>
            </a:r>
            <a:r>
              <a:rPr lang="en-US" sz="1200" b="1" dirty="0">
                <a:solidFill>
                  <a:srgbClr val="3F4A5C"/>
                </a:solidFill>
                <a:latin typeface="IBM Plex Sans" pitchFamily="34" charset="0"/>
                <a:ea typeface="IBM Plex Sans" pitchFamily="34" charset="-122"/>
                <a:cs typeface="IBM Plex Sans" pitchFamily="34" charset="-120"/>
              </a:rPr>
              <a:t>428</a:t>
            </a:r>
            <a:r>
              <a:rPr lang="en-US" sz="1200" dirty="0">
                <a:solidFill>
                  <a:srgbClr val="3F4A5C"/>
                </a:solidFill>
                <a:latin typeface="IBM Plex Sans" pitchFamily="34" charset="0"/>
                <a:ea typeface="IBM Plex Sans" pitchFamily="34" charset="-122"/>
                <a:cs typeface="IBM Plex Sans" pitchFamily="34" charset="-120"/>
              </a:rPr>
              <a:t> blank rules, contradictions, controls, new builds</a:t>
            </a:r>
            <a:endParaRPr lang="en-US" sz="1200" dirty="0"/>
          </a:p>
        </p:txBody>
      </p:sp>
      <p:sp>
        <p:nvSpPr>
          <p:cNvPr id="20" name="Text 18"/>
          <p:cNvSpPr/>
          <p:nvPr/>
        </p:nvSpPr>
        <p:spPr>
          <a:xfrm>
            <a:off x="2489200" y="4019699"/>
            <a:ext cx="9156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Certified only where the agent-free path decodes (</a:t>
            </a:r>
            <a:r>
              <a:rPr lang="en-US" sz="1200" b="1" dirty="0">
                <a:solidFill>
                  <a:srgbClr val="3F4A5C"/>
                </a:solidFill>
                <a:latin typeface="IBM Plex Sans" pitchFamily="34" charset="0"/>
                <a:ea typeface="IBM Plex Sans" pitchFamily="34" charset="-122"/>
                <a:cs typeface="IBM Plex Sans" pitchFamily="34" charset="-120"/>
              </a:rPr>
              <a:t>3 of 141</a:t>
            </a:r>
            <a:r>
              <a:rPr lang="en-US" sz="1200" dirty="0">
                <a:solidFill>
                  <a:srgbClr val="3F4A5C"/>
                </a:solidFill>
                <a:latin typeface="IBM Plex Sans" pitchFamily="34" charset="0"/>
                <a:ea typeface="IBM Plex Sans" pitchFamily="34" charset="-122"/>
                <a:cs typeface="IBM Plex Sans" pitchFamily="34" charset="-120"/>
              </a:rPr>
              <a:t> codes); the rest ship provisional</a:t>
            </a:r>
            <a:endParaRPr lang="en-US" sz="1200" dirty="0"/>
          </a:p>
        </p:txBody>
      </p:sp>
      <p:sp>
        <p:nvSpPr>
          <p:cNvPr id="21" name="Shape 19"/>
          <p:cNvSpPr/>
          <p:nvPr/>
        </p:nvSpPr>
        <p:spPr>
          <a:xfrm>
            <a:off x="812800" y="4406404"/>
            <a:ext cx="10566400" cy="0"/>
          </a:xfrm>
          <a:prstGeom prst="line">
            <a:avLst/>
          </a:prstGeom>
          <a:noFill/>
          <a:ln w="6350">
            <a:solidFill>
              <a:srgbClr val="DAD6CB"/>
            </a:solidFill>
            <a:prstDash val="solid"/>
          </a:ln>
        </p:spPr>
      </p:sp>
      <p:sp>
        <p:nvSpPr>
          <p:cNvPr id="22" name="Text 20"/>
          <p:cNvSpPr/>
          <p:nvPr/>
        </p:nvSpPr>
        <p:spPr>
          <a:xfrm>
            <a:off x="812800" y="4485779"/>
            <a:ext cx="1088339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372"/>
                </a:solidFill>
                <a:latin typeface="IBM Plex Sans" pitchFamily="34" charset="0"/>
                <a:ea typeface="IBM Plex Sans" pitchFamily="34" charset="-122"/>
                <a:cs typeface="IBM Plex Sans" pitchFamily="34" charset="-120"/>
              </a:rPr>
              <a:t>So far a shell-only agent solved 5 of 11 tool tasks fully and 5 partly, mostly by reading the tool's model files, yet none of its 5 numbers named its setting (1 seed; App. B). No agent has run this loop yet: Year-1 gate RQ1b; fallback, scripted sweeps.</a:t>
            </a:r>
            <a:endParaRPr lang="en-US" sz="1200" dirty="0"/>
          </a:p>
        </p:txBody>
      </p:sp>
      <p:sp>
        <p:nvSpPr>
          <p:cNvPr id="23" name="Text 21"/>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24" name="Text 2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RESEARCH PLAN · THRUST 1 · SOLICITATION SYNOPSIS ITEM 1</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T1 recovers the procedure behind each exported parameter and joins sources with a stated time bound</a:t>
            </a:r>
            <a:endParaRPr lang="en-US" sz="2800" dirty="0"/>
          </a:p>
        </p:txBody>
      </p:sp>
      <p:sp>
        <p:nvSpPr>
          <p:cNvPr id="4" name="Text 2"/>
          <p:cNvSpPr/>
          <p:nvPr/>
        </p:nvSpPr>
        <p:spPr>
          <a:xfrm>
            <a:off x="812800" y="1975048"/>
            <a:ext cx="10883392"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Synopsis item 1 (paraphrase) ·</a:t>
            </a:r>
            <a:r>
              <a:rPr lang="en-US" sz="1200" dirty="0">
                <a:solidFill>
                  <a:srgbClr val="5B6372"/>
                </a:solidFill>
                <a:latin typeface="IBM Plex Sans" pitchFamily="34" charset="0"/>
                <a:ea typeface="IBM Plex Sans" pitchFamily="34" charset="-122"/>
                <a:cs typeface="IBM Plex Sans" pitchFamily="34" charset="-120"/>
              </a:rPr>
              <a:t> </a:t>
            </a:r>
            <a:r>
              <a:rPr lang="en-US" sz="1200" i="1" dirty="0">
                <a:solidFill>
                  <a:srgbClr val="5B6372"/>
                </a:solidFill>
                <a:latin typeface="IBM Plex Sans" pitchFamily="34" charset="0"/>
                <a:ea typeface="IBM Plex Sans" pitchFamily="34" charset="-122"/>
                <a:cs typeface="IBM Plex Sans" pitchFamily="34" charset="-120"/>
              </a:rPr>
              <a:t>AI-based feature extraction, metadata generation, integration of multiple datasets</a:t>
            </a:r>
            <a:endParaRPr lang="en-US" sz="1200" dirty="0"/>
          </a:p>
        </p:txBody>
      </p:sp>
      <p:sp>
        <p:nvSpPr>
          <p:cNvPr id="5" name="Shape 3"/>
          <p:cNvSpPr/>
          <p:nvPr/>
        </p:nvSpPr>
        <p:spPr>
          <a:xfrm>
            <a:off x="812800" y="2291904"/>
            <a:ext cx="3386634" cy="0"/>
          </a:xfrm>
          <a:prstGeom prst="line">
            <a:avLst/>
          </a:prstGeom>
          <a:noFill/>
          <a:ln w="19050">
            <a:solidFill>
              <a:srgbClr val="1F4E8C"/>
            </a:solidFill>
            <a:prstDash val="solid"/>
          </a:ln>
        </p:spPr>
      </p:sp>
      <p:sp>
        <p:nvSpPr>
          <p:cNvPr id="6" name="Text 4"/>
          <p:cNvSpPr/>
          <p:nvPr/>
        </p:nvSpPr>
        <p:spPr>
          <a:xfrm>
            <a:off x="812800" y="2377629"/>
            <a:ext cx="3488233"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RECOVER</a:t>
            </a:r>
            <a:endParaRPr lang="en-US" sz="1200" dirty="0"/>
          </a:p>
        </p:txBody>
      </p:sp>
      <p:sp>
        <p:nvSpPr>
          <p:cNvPr id="7" name="Text 5"/>
          <p:cNvSpPr/>
          <p:nvPr/>
        </p:nvSpPr>
        <p:spPr>
          <a:xfrm>
            <a:off x="812800" y="2585889"/>
            <a:ext cx="348823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per parameter and setting, by the engine (slide 12): grid, binning rule, statistic, build, timezone, event rule</a:t>
            </a:r>
            <a:endParaRPr lang="en-US" sz="1200" dirty="0"/>
          </a:p>
        </p:txBody>
      </p:sp>
      <p:sp>
        <p:nvSpPr>
          <p:cNvPr id="8" name="Shape 6"/>
          <p:cNvSpPr/>
          <p:nvPr/>
        </p:nvSpPr>
        <p:spPr>
          <a:xfrm>
            <a:off x="4402634" y="2291904"/>
            <a:ext cx="3386683" cy="0"/>
          </a:xfrm>
          <a:prstGeom prst="line">
            <a:avLst/>
          </a:prstGeom>
          <a:noFill/>
          <a:ln w="19050">
            <a:solidFill>
              <a:srgbClr val="1F4E8C"/>
            </a:solidFill>
            <a:prstDash val="solid"/>
          </a:ln>
        </p:spPr>
      </p:sp>
      <p:sp>
        <p:nvSpPr>
          <p:cNvPr id="9" name="Text 7"/>
          <p:cNvSpPr/>
          <p:nvPr/>
        </p:nvSpPr>
        <p:spPr>
          <a:xfrm>
            <a:off x="4402634" y="2377629"/>
            <a:ext cx="3488284"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INTEGRATE</a:t>
            </a:r>
            <a:endParaRPr lang="en-US" sz="1200" dirty="0"/>
          </a:p>
        </p:txBody>
      </p:sp>
      <p:sp>
        <p:nvSpPr>
          <p:cNvPr id="10" name="Text 8"/>
          <p:cNvSpPr/>
          <p:nvPr/>
        </p:nvSpPr>
        <p:spPr>
          <a:xfrm>
            <a:off x="4402634" y="2585889"/>
            <a:ext cx="348828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join radio, application </a:t>
            </a:r>
            <a:r>
              <a:rPr lang="en-US" sz="1200" dirty="0">
                <a:solidFill>
                  <a:srgbClr val="B4441A"/>
                </a:solidFill>
                <a:latin typeface="IBM Plex Sans" pitchFamily="34" charset="0"/>
                <a:ea typeface="IBM Plex Sans" pitchFamily="34" charset="-122"/>
                <a:cs typeface="IBM Plex Sans" pitchFamily="34" charset="-120"/>
              </a:rPr>
              <a:t>[and camera/LiDAR]</a:t>
            </a:r>
            <a:r>
              <a:rPr lang="en-US" sz="1200" dirty="0">
                <a:solidFill>
                  <a:srgbClr val="3F4A5C"/>
                </a:solidFill>
                <a:latin typeface="IBM Plex Sans" pitchFamily="34" charset="0"/>
                <a:ea typeface="IBM Plex Sans" pitchFamily="34" charset="-122"/>
                <a:cs typeface="IBM Plex Sans" pitchFamily="34" charset="-120"/>
              </a:rPr>
              <a:t> logs after the fact; every join states its time bound</a:t>
            </a:r>
            <a:endParaRPr lang="en-US" sz="1200" dirty="0"/>
          </a:p>
        </p:txBody>
      </p:sp>
      <p:sp>
        <p:nvSpPr>
          <p:cNvPr id="11" name="Shape 9"/>
          <p:cNvSpPr/>
          <p:nvPr/>
        </p:nvSpPr>
        <p:spPr>
          <a:xfrm>
            <a:off x="7992517" y="2291904"/>
            <a:ext cx="3386683" cy="0"/>
          </a:xfrm>
          <a:prstGeom prst="line">
            <a:avLst/>
          </a:prstGeom>
          <a:noFill/>
          <a:ln w="19050">
            <a:solidFill>
              <a:srgbClr val="1F4E8C"/>
            </a:solidFill>
            <a:prstDash val="solid"/>
          </a:ln>
        </p:spPr>
      </p:sp>
      <p:sp>
        <p:nvSpPr>
          <p:cNvPr id="12" name="Text 10"/>
          <p:cNvSpPr/>
          <p:nvPr/>
        </p:nvSpPr>
        <p:spPr>
          <a:xfrm>
            <a:off x="7992517" y="2377629"/>
            <a:ext cx="3488284"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EVENTS</a:t>
            </a:r>
            <a:endParaRPr lang="en-US" sz="1200" dirty="0"/>
          </a:p>
        </p:txBody>
      </p:sp>
      <p:sp>
        <p:nvSpPr>
          <p:cNvPr id="13" name="Text 11"/>
          <p:cNvSpPr/>
          <p:nvPr/>
        </p:nvSpPr>
        <p:spPr>
          <a:xfrm>
            <a:off x="7992517" y="2585889"/>
            <a:ext cx="348828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re-derive events from protocol messages with published counting rules; label what coarse data cannot see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5500" y="3317379"/>
          <a:ext cx="10553700" cy="2090043"/>
        </p:xfrm>
        <a:graphic>
          <a:graphicData uri="http://schemas.openxmlformats.org/drawingml/2006/table">
            <a:tbl>
              <a:tblPr/>
              <a:tblGrid>
                <a:gridCol w="1477518"/>
                <a:gridCol w="2532888"/>
                <a:gridCol w="3271647"/>
                <a:gridCol w="3271647"/>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RQ1 Procedure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verified fields per parameter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rules for 743 of 1,171; 3 of 11 settings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all 1,171 × 11, 2 builds]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RQ1b Engine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held-out agreement; false-certified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none by agent; loop ran by hand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≥X% held-out agreement; 0 false-certified]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RQ2 Alignment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bound per join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±1.5 s streaming; seconds teleop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a bound on every join]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RQ3 Events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agreement with message pairing, experts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62/62 paired; 8/12 name detectors unusable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5" name="Text 12"/>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6" name="Text 1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RESEARCH PLAN · THRUST 2 · SOLICITATION SYNOPSIS ITEM 2</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T2 builds pipelines that check their own outputs, and WiReady, an auditor for legacy datasets</a:t>
            </a:r>
            <a:endParaRPr lang="en-US" sz="2800" dirty="0"/>
          </a:p>
        </p:txBody>
      </p:sp>
      <p:sp>
        <p:nvSpPr>
          <p:cNvPr id="4" name="Text 2"/>
          <p:cNvSpPr/>
          <p:nvPr/>
        </p:nvSpPr>
        <p:spPr>
          <a:xfrm>
            <a:off x="812800" y="1975048"/>
            <a:ext cx="10883392"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Synopsis item 2 (paraphrase) ·</a:t>
            </a:r>
            <a:r>
              <a:rPr lang="en-US" sz="1200" dirty="0">
                <a:solidFill>
                  <a:srgbClr val="5B6372"/>
                </a:solidFill>
                <a:latin typeface="IBM Plex Sans" pitchFamily="34" charset="0"/>
                <a:ea typeface="IBM Plex Sans" pitchFamily="34" charset="-122"/>
                <a:cs typeface="IBM Plex Sans" pitchFamily="34" charset="-120"/>
              </a:rPr>
              <a:t> </a:t>
            </a:r>
            <a:r>
              <a:rPr lang="en-US" sz="1200" i="1" dirty="0">
                <a:solidFill>
                  <a:srgbClr val="5B6372"/>
                </a:solidFill>
                <a:latin typeface="IBM Plex Sans" pitchFamily="34" charset="0"/>
                <a:ea typeface="IBM Plex Sans" pitchFamily="34" charset="-122"/>
                <a:cs typeface="IBM Plex Sans" pitchFamily="34" charset="-120"/>
              </a:rPr>
              <a:t>robust data pipelines for automated analysis of existing datasets by AI tools and systems</a:t>
            </a:r>
            <a:endParaRPr lang="en-US" sz="1200" dirty="0"/>
          </a:p>
        </p:txBody>
      </p:sp>
      <p:sp>
        <p:nvSpPr>
          <p:cNvPr id="5" name="Shape 3"/>
          <p:cNvSpPr/>
          <p:nvPr/>
        </p:nvSpPr>
        <p:spPr>
          <a:xfrm>
            <a:off x="812800" y="2291904"/>
            <a:ext cx="2615109" cy="0"/>
          </a:xfrm>
          <a:prstGeom prst="line">
            <a:avLst/>
          </a:prstGeom>
          <a:noFill/>
          <a:ln w="19050">
            <a:solidFill>
              <a:srgbClr val="1F4E8C"/>
            </a:solidFill>
            <a:prstDash val="solid"/>
          </a:ln>
        </p:spPr>
      </p:sp>
      <p:sp>
        <p:nvSpPr>
          <p:cNvPr id="6" name="Text 4"/>
          <p:cNvSpPr/>
          <p:nvPr/>
        </p:nvSpPr>
        <p:spPr>
          <a:xfrm>
            <a:off x="812800" y="2377629"/>
            <a:ext cx="2693562"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TWO-PATH RULE</a:t>
            </a:r>
            <a:endParaRPr lang="en-US" sz="1200" dirty="0"/>
          </a:p>
        </p:txBody>
      </p:sp>
      <p:sp>
        <p:nvSpPr>
          <p:cNvPr id="7" name="Text 5"/>
          <p:cNvSpPr/>
          <p:nvPr/>
        </p:nvSpPr>
        <p:spPr>
          <a:xfrm>
            <a:off x="812800" y="2585889"/>
            <a:ext cx="2693562"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certify only when a path free of vendor and agent reproduces it; test independence; report coverage</a:t>
            </a:r>
            <a:endParaRPr lang="en-US" sz="1200" dirty="0"/>
          </a:p>
        </p:txBody>
      </p:sp>
      <p:sp>
        <p:nvSpPr>
          <p:cNvPr id="8" name="Shape 6"/>
          <p:cNvSpPr/>
          <p:nvPr/>
        </p:nvSpPr>
        <p:spPr>
          <a:xfrm>
            <a:off x="3605709" y="2291904"/>
            <a:ext cx="1911052" cy="0"/>
          </a:xfrm>
          <a:prstGeom prst="line">
            <a:avLst/>
          </a:prstGeom>
          <a:noFill/>
          <a:ln w="19050">
            <a:solidFill>
              <a:srgbClr val="1F4E8C"/>
            </a:solidFill>
            <a:prstDash val="solid"/>
          </a:ln>
        </p:spPr>
      </p:sp>
      <p:sp>
        <p:nvSpPr>
          <p:cNvPr id="9" name="Text 7"/>
          <p:cNvSpPr/>
          <p:nvPr/>
        </p:nvSpPr>
        <p:spPr>
          <a:xfrm>
            <a:off x="3605709" y="2377629"/>
            <a:ext cx="1968384"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POSTCONDITIONS</a:t>
            </a:r>
            <a:endParaRPr lang="en-US" sz="1200" dirty="0"/>
          </a:p>
        </p:txBody>
      </p:sp>
      <p:sp>
        <p:nvSpPr>
          <p:cNvPr id="10" name="Text 8"/>
          <p:cNvSpPr/>
          <p:nvPr/>
        </p:nvSpPr>
        <p:spPr>
          <a:xfrm>
            <a:off x="3605709" y="2585889"/>
            <a:ext cx="196838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check files, content and state after every step, not exit codes</a:t>
            </a:r>
            <a:endParaRPr lang="en-US" sz="1200" dirty="0"/>
          </a:p>
        </p:txBody>
      </p:sp>
      <p:sp>
        <p:nvSpPr>
          <p:cNvPr id="11" name="Shape 9"/>
          <p:cNvSpPr/>
          <p:nvPr/>
        </p:nvSpPr>
        <p:spPr>
          <a:xfrm>
            <a:off x="5694561" y="2291904"/>
            <a:ext cx="3118048" cy="0"/>
          </a:xfrm>
          <a:prstGeom prst="line">
            <a:avLst/>
          </a:prstGeom>
          <a:noFill/>
          <a:ln w="19050">
            <a:solidFill>
              <a:srgbClr val="1F4E8C"/>
            </a:solidFill>
            <a:prstDash val="solid"/>
          </a:ln>
        </p:spPr>
      </p:sp>
      <p:sp>
        <p:nvSpPr>
          <p:cNvPr id="12" name="Text 10"/>
          <p:cNvSpPr/>
          <p:nvPr/>
        </p:nvSpPr>
        <p:spPr>
          <a:xfrm>
            <a:off x="5694561" y="2377629"/>
            <a:ext cx="321159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WIREADY</a:t>
            </a:r>
            <a:endParaRPr lang="en-US" sz="1200" dirty="0"/>
          </a:p>
        </p:txBody>
      </p:sp>
      <p:sp>
        <p:nvSpPr>
          <p:cNvPr id="13" name="Text 11"/>
          <p:cNvSpPr/>
          <p:nvPr/>
        </p:nvSpPr>
        <p:spPr>
          <a:xfrm>
            <a:off x="5694561" y="2585889"/>
            <a:ext cx="321159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the solicitation topic </a:t>
            </a:r>
            <a:r>
              <a:rPr lang="en-US" sz="1200" i="1" dirty="0">
                <a:solidFill>
                  <a:srgbClr val="3F4A5C"/>
                </a:solidFill>
                <a:latin typeface="IBM Plex Sans" pitchFamily="34" charset="0"/>
                <a:ea typeface="IBM Plex Sans" pitchFamily="34" charset="-122"/>
                <a:cs typeface="IBM Plex Sans" pitchFamily="34" charset="-120"/>
              </a:rPr>
              <a:t>'automated platforms that discern the readiness of legacy datasets at scale'</a:t>
            </a:r>
            <a:r>
              <a:rPr lang="en-US" sz="1200" dirty="0">
                <a:solidFill>
                  <a:srgbClr val="3F4A5C"/>
                </a:solidFill>
                <a:latin typeface="IBM Plex Sans" pitchFamily="34" charset="0"/>
                <a:ea typeface="IBM Plex Sans" pitchFamily="34" charset="-122"/>
                <a:cs typeface="IBM Plex Sans" pitchFamily="34" charset="-120"/>
              </a:rPr>
              <a:t>, for wireless</a:t>
            </a:r>
            <a:endParaRPr lang="en-US" sz="1200" dirty="0"/>
          </a:p>
        </p:txBody>
      </p:sp>
      <p:sp>
        <p:nvSpPr>
          <p:cNvPr id="14" name="Shape 12"/>
          <p:cNvSpPr/>
          <p:nvPr/>
        </p:nvSpPr>
        <p:spPr>
          <a:xfrm>
            <a:off x="8990409" y="2291904"/>
            <a:ext cx="2388791" cy="0"/>
          </a:xfrm>
          <a:prstGeom prst="line">
            <a:avLst/>
          </a:prstGeom>
          <a:noFill/>
          <a:ln w="19050">
            <a:solidFill>
              <a:srgbClr val="1F4E8C"/>
            </a:solidFill>
            <a:prstDash val="solid"/>
          </a:ln>
        </p:spPr>
      </p:sp>
      <p:sp>
        <p:nvSpPr>
          <p:cNvPr id="15" name="Text 13"/>
          <p:cNvSpPr/>
          <p:nvPr/>
        </p:nvSpPr>
        <p:spPr>
          <a:xfrm>
            <a:off x="8990409" y="2377629"/>
            <a:ext cx="2460454"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AI CONSUMERS</a:t>
            </a:r>
            <a:endParaRPr lang="en-US" sz="1200" dirty="0"/>
          </a:p>
        </p:txBody>
      </p:sp>
      <p:sp>
        <p:nvSpPr>
          <p:cNvPr id="16" name="Text 14"/>
          <p:cNvSpPr/>
          <p:nvPr/>
        </p:nvSpPr>
        <p:spPr>
          <a:xfrm>
            <a:off x="8990409" y="2585889"/>
            <a:ext cx="246045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tools return a value with its passport, or 'not answerable from these data'</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500" y="3317379"/>
          <a:ext cx="10553700" cy="1757363"/>
        </p:xfrm>
        <a:graphic>
          <a:graphicData uri="http://schemas.openxmlformats.org/drawingml/2006/table">
            <a:tbl>
              <a:tblPr/>
              <a:tblGrid>
                <a:gridCol w="1688592"/>
                <a:gridCol w="3377184"/>
                <a:gridCol w="3377184"/>
                <a:gridCol w="2110740"/>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RQ4 Two paths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certified share; tested independence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counts 165/167 codes; payloads 3 of 141 codes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X% certified]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RQ5 WiReady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precision on a labeled test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losses found by hand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RQ6 AI consumers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conditions stated, with vs without passports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0/5 (1 model, 1 grader, 1 seed)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rise from 0/5 with passports]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8" name="Text 15"/>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RESEARCH PLAN · THRUST 3 · SOLICITATION SYNOPSIS ITEM 3</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T3 makes existing corpora from several groups and tools comparable, or flags them as not comparable</a:t>
            </a:r>
            <a:endParaRPr lang="en-US" sz="2800" dirty="0"/>
          </a:p>
        </p:txBody>
      </p:sp>
      <p:sp>
        <p:nvSpPr>
          <p:cNvPr id="4" name="Text 2"/>
          <p:cNvSpPr/>
          <p:nvPr/>
        </p:nvSpPr>
        <p:spPr>
          <a:xfrm>
            <a:off x="812800" y="1975048"/>
            <a:ext cx="10883392"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Synopsis item 3 (paraphrase) ·</a:t>
            </a:r>
            <a:r>
              <a:rPr lang="en-US" sz="1200" dirty="0">
                <a:solidFill>
                  <a:srgbClr val="5B6372"/>
                </a:solidFill>
                <a:latin typeface="IBM Plex Sans" pitchFamily="34" charset="0"/>
                <a:ea typeface="IBM Plex Sans" pitchFamily="34" charset="-122"/>
                <a:cs typeface="IBM Plex Sans" pitchFamily="34" charset="-120"/>
              </a:rPr>
              <a:t> </a:t>
            </a:r>
            <a:r>
              <a:rPr lang="en-US" sz="1200" i="1" dirty="0">
                <a:solidFill>
                  <a:srgbClr val="5B6372"/>
                </a:solidFill>
                <a:latin typeface="IBM Plex Sans" pitchFamily="34" charset="0"/>
                <a:ea typeface="IBM Plex Sans" pitchFamily="34" charset="-122"/>
                <a:cs typeface="IBM Plex Sans" pitchFamily="34" charset="-120"/>
              </a:rPr>
              <a:t>augment and/or harmonize existing datasets for AI pipelines and automated analysis</a:t>
            </a:r>
            <a:endParaRPr lang="en-US" sz="1200" dirty="0"/>
          </a:p>
        </p:txBody>
      </p:sp>
      <p:sp>
        <p:nvSpPr>
          <p:cNvPr id="5" name="Shape 3"/>
          <p:cNvSpPr/>
          <p:nvPr/>
        </p:nvSpPr>
        <p:spPr>
          <a:xfrm>
            <a:off x="812800" y="2291904"/>
            <a:ext cx="2508250" cy="0"/>
          </a:xfrm>
          <a:prstGeom prst="line">
            <a:avLst/>
          </a:prstGeom>
          <a:noFill/>
          <a:ln w="19050">
            <a:solidFill>
              <a:srgbClr val="1F4E8C"/>
            </a:solidFill>
            <a:prstDash val="solid"/>
          </a:ln>
        </p:spPr>
      </p:sp>
      <p:sp>
        <p:nvSpPr>
          <p:cNvPr id="6" name="Text 4"/>
          <p:cNvSpPr/>
          <p:nvPr/>
        </p:nvSpPr>
        <p:spPr>
          <a:xfrm>
            <a:off x="812800" y="2377629"/>
            <a:ext cx="2583498"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RE-DERIVE</a:t>
            </a:r>
            <a:endParaRPr lang="en-US" sz="1200" dirty="0"/>
          </a:p>
        </p:txBody>
      </p:sp>
      <p:sp>
        <p:nvSpPr>
          <p:cNvPr id="7" name="Text 5"/>
          <p:cNvSpPr/>
          <p:nvPr/>
        </p:nvSpPr>
        <p:spPr>
          <a:xfrm>
            <a:off x="812800" y="2585889"/>
            <a:ext cx="258349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where raw logs survive, rebuild KPIs under a stated procedure; otherwise flag </a:t>
            </a:r>
            <a:r>
              <a:rPr lang="en-US" sz="1200" b="1" dirty="0">
                <a:solidFill>
                  <a:srgbClr val="B4441A"/>
                </a:solidFill>
                <a:latin typeface="IBM Plex Sans" pitchFamily="34" charset="0"/>
                <a:ea typeface="IBM Plex Sans" pitchFamily="34" charset="-122"/>
                <a:cs typeface="IBM Plex Sans" pitchFamily="34" charset="-120"/>
              </a:rPr>
              <a:t>'not comparable'</a:t>
            </a:r>
            <a:endParaRPr lang="en-US" sz="1200" dirty="0"/>
          </a:p>
        </p:txBody>
      </p:sp>
      <p:sp>
        <p:nvSpPr>
          <p:cNvPr id="8" name="Shape 6"/>
          <p:cNvSpPr/>
          <p:nvPr/>
        </p:nvSpPr>
        <p:spPr>
          <a:xfrm>
            <a:off x="3498850" y="2291904"/>
            <a:ext cx="2508250" cy="0"/>
          </a:xfrm>
          <a:prstGeom prst="line">
            <a:avLst/>
          </a:prstGeom>
          <a:noFill/>
          <a:ln w="19050">
            <a:solidFill>
              <a:srgbClr val="1F4E8C"/>
            </a:solidFill>
            <a:prstDash val="solid"/>
          </a:ln>
        </p:spPr>
      </p:sp>
      <p:sp>
        <p:nvSpPr>
          <p:cNvPr id="9" name="Text 7"/>
          <p:cNvSpPr/>
          <p:nvPr/>
        </p:nvSpPr>
        <p:spPr>
          <a:xfrm>
            <a:off x="3498850" y="2377629"/>
            <a:ext cx="2583498"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SENSITIVITY</a:t>
            </a:r>
            <a:endParaRPr lang="en-US" sz="1200" dirty="0"/>
          </a:p>
        </p:txBody>
      </p:sp>
      <p:sp>
        <p:nvSpPr>
          <p:cNvPr id="10" name="Text 8"/>
          <p:cNvSpPr/>
          <p:nvPr/>
        </p:nvSpPr>
        <p:spPr>
          <a:xfrm>
            <a:off x="3498850" y="2585889"/>
            <a:ext cx="258349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each headline KPI ships with its range across plausible procedures, not a single number</a:t>
            </a:r>
            <a:endParaRPr lang="en-US" sz="1200" dirty="0"/>
          </a:p>
        </p:txBody>
      </p:sp>
      <p:sp>
        <p:nvSpPr>
          <p:cNvPr id="11" name="Shape 9"/>
          <p:cNvSpPr/>
          <p:nvPr/>
        </p:nvSpPr>
        <p:spPr>
          <a:xfrm>
            <a:off x="6184900" y="2291904"/>
            <a:ext cx="2508250" cy="0"/>
          </a:xfrm>
          <a:prstGeom prst="line">
            <a:avLst/>
          </a:prstGeom>
          <a:noFill/>
          <a:ln w="19050">
            <a:solidFill>
              <a:srgbClr val="1F4E8C"/>
            </a:solidFill>
            <a:prstDash val="solid"/>
          </a:ln>
        </p:spPr>
      </p:sp>
      <p:sp>
        <p:nvSpPr>
          <p:cNvPr id="12" name="Text 10"/>
          <p:cNvSpPr/>
          <p:nvPr/>
        </p:nvSpPr>
        <p:spPr>
          <a:xfrm>
            <a:off x="6184900" y="2377629"/>
            <a:ext cx="2583498"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HARMONIZE</a:t>
            </a:r>
            <a:endParaRPr lang="en-US" sz="1200" dirty="0"/>
          </a:p>
        </p:txBody>
      </p:sp>
      <p:sp>
        <p:nvSpPr>
          <p:cNvPr id="13" name="Text 11"/>
          <p:cNvSpPr/>
          <p:nvPr/>
        </p:nvSpPr>
        <p:spPr>
          <a:xfrm>
            <a:off x="6184900" y="2585889"/>
            <a:ext cx="258349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our pilot set → our five published campaigns, 2020–24 → partners' Nemo corpora </a:t>
            </a:r>
            <a:r>
              <a:rPr lang="en-US" sz="1200" dirty="0">
                <a:solidFill>
                  <a:srgbClr val="B4441A"/>
                </a:solidFill>
                <a:latin typeface="IBM Plex Sans" pitchFamily="34" charset="0"/>
                <a:ea typeface="IBM Plex Sans" pitchFamily="34" charset="-122"/>
                <a:cs typeface="IBM Plex Sans" pitchFamily="34" charset="-120"/>
              </a:rPr>
              <a:t>[letters pending]</a:t>
            </a:r>
            <a:endParaRPr lang="en-US" sz="1200" dirty="0"/>
          </a:p>
        </p:txBody>
      </p:sp>
      <p:sp>
        <p:nvSpPr>
          <p:cNvPr id="14" name="Shape 12"/>
          <p:cNvSpPr/>
          <p:nvPr/>
        </p:nvSpPr>
        <p:spPr>
          <a:xfrm>
            <a:off x="8870950" y="2291904"/>
            <a:ext cx="2508250" cy="0"/>
          </a:xfrm>
          <a:prstGeom prst="line">
            <a:avLst/>
          </a:prstGeom>
          <a:noFill/>
          <a:ln w="19050">
            <a:solidFill>
              <a:srgbClr val="1F4E8C"/>
            </a:solidFill>
            <a:prstDash val="solid"/>
          </a:ln>
        </p:spPr>
      </p:sp>
      <p:sp>
        <p:nvSpPr>
          <p:cNvPr id="15" name="Text 13"/>
          <p:cNvSpPr/>
          <p:nvPr/>
        </p:nvSpPr>
        <p:spPr>
          <a:xfrm>
            <a:off x="8870950" y="2377629"/>
            <a:ext cx="2583498"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1F4E8C"/>
                </a:solidFill>
                <a:latin typeface="IBM Plex Sans" pitchFamily="34" charset="0"/>
                <a:ea typeface="IBM Plex Sans" pitchFamily="34" charset="-122"/>
                <a:cs typeface="IBM Plex Sans" pitchFamily="34" charset="-120"/>
              </a:rPr>
              <a:t>LABELS</a:t>
            </a:r>
            <a:endParaRPr lang="en-US" sz="1200" dirty="0"/>
          </a:p>
        </p:txBody>
      </p:sp>
      <p:sp>
        <p:nvSpPr>
          <p:cNvPr id="16" name="Text 14"/>
          <p:cNvSpPr/>
          <p:nvPr/>
        </p:nvSpPr>
        <p:spPr>
          <a:xfrm>
            <a:off x="8870950" y="2585889"/>
            <a:ext cx="2583498"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real application-grounded stall labels with a label-validity audit; vendor cause codes seed hypotheses only</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500" y="3523109"/>
          <a:ext cx="10553700" cy="1424682"/>
        </p:xfrm>
        <a:graphic>
          <a:graphicData uri="http://schemas.openxmlformats.org/drawingml/2006/table">
            <a:tbl>
              <a:tblPr/>
              <a:tblGrid>
                <a:gridCol w="1794129"/>
                <a:gridCol w="3482721"/>
                <a:gridCol w="3377184"/>
                <a:gridCol w="1899666"/>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RQ7 Sensitivity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KPIs with a range; spread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trace, 2 of 11 settings: SINR −20.0 vs −12.9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 all 11 settings]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RQ8 Harmonization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corpora made comparable; conclusions and model transfer with vs without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none yet; five own campaigns with raw logs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8" name="Text 15"/>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IS SPECIAL ABOUT US</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We can audit existing data from both sides: raw logs, the tool, and ground truth outside the tool</a:t>
            </a:r>
            <a:endParaRPr lang="en-US" sz="2800" dirty="0"/>
          </a:p>
        </p:txBody>
      </p:sp>
      <p:sp>
        <p:nvSpPr>
          <p:cNvPr id="4" name="Shape 2"/>
          <p:cNvSpPr/>
          <p:nvPr/>
        </p:nvSpPr>
        <p:spPr>
          <a:xfrm>
            <a:off x="812800" y="2063948"/>
            <a:ext cx="3386634" cy="0"/>
          </a:xfrm>
          <a:prstGeom prst="line">
            <a:avLst/>
          </a:prstGeom>
          <a:noFill/>
          <a:ln w="25400">
            <a:solidFill>
              <a:srgbClr val="1F4E8C"/>
            </a:solidFill>
            <a:prstDash val="solid"/>
          </a:ln>
        </p:spPr>
      </p:sp>
      <p:sp>
        <p:nvSpPr>
          <p:cNvPr id="5" name="Text 3"/>
          <p:cNvSpPr/>
          <p:nvPr/>
        </p:nvSpPr>
        <p:spPr>
          <a:xfrm>
            <a:off x="812800" y="2178248"/>
            <a:ext cx="34882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Raw logs + independent reader</a:t>
            </a:r>
            <a:endParaRPr lang="en-US" sz="1400" dirty="0"/>
          </a:p>
        </p:txBody>
      </p:sp>
      <p:sp>
        <p:nvSpPr>
          <p:cNvPr id="6" name="Text 4"/>
          <p:cNvSpPr/>
          <p:nvPr/>
        </p:nvSpPr>
        <p:spPr>
          <a:xfrm>
            <a:off x="812800" y="2451298"/>
            <a:ext cx="3488233"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15.3 GB</a:t>
            </a:r>
            <a:r>
              <a:rPr lang="en-US" sz="1200" dirty="0">
                <a:solidFill>
                  <a:srgbClr val="3F4A5C"/>
                </a:solidFill>
                <a:latin typeface="IBM Plex Sans" pitchFamily="34" charset="0"/>
                <a:ea typeface="IBM Plex Sans" pitchFamily="34" charset="-122"/>
                <a:cs typeface="IBM Plex Sans" pitchFamily="34" charset="-120"/>
              </a:rPr>
              <a:t> of XCAL ping traces; container model holds on </a:t>
            </a:r>
            <a:r>
              <a:rPr lang="en-US" sz="1200" b="1" dirty="0">
                <a:solidFill>
                  <a:srgbClr val="1F4E8C"/>
                </a:solidFill>
                <a:latin typeface="IBM Plex Sans" pitchFamily="34" charset="0"/>
                <a:ea typeface="IBM Plex Sans" pitchFamily="34" charset="-122"/>
                <a:cs typeface="IBM Plex Sans" pitchFamily="34" charset="-120"/>
              </a:rPr>
              <a:t>4</a:t>
            </a:r>
            <a:r>
              <a:rPr lang="en-US" sz="1200" dirty="0">
                <a:solidFill>
                  <a:srgbClr val="3F4A5C"/>
                </a:solidFill>
                <a:latin typeface="IBM Plex Sans" pitchFamily="34" charset="0"/>
                <a:ea typeface="IBM Plex Sans" pitchFamily="34" charset="-122"/>
                <a:cs typeface="IBM Plex Sans" pitchFamily="34" charset="-120"/>
              </a:rPr>
              <a:t> XCAL collection product lines</a:t>
            </a:r>
            <a:endParaRPr lang="en-US" sz="1200" dirty="0"/>
          </a:p>
        </p:txBody>
      </p:sp>
      <p:sp>
        <p:nvSpPr>
          <p:cNvPr id="7" name="Text 5"/>
          <p:cNvSpPr/>
          <p:nvPr/>
        </p:nvSpPr>
        <p:spPr>
          <a:xfrm>
            <a:off x="812800" y="2913559"/>
            <a:ext cx="3488233"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283 MB/s</a:t>
            </a:r>
            <a:r>
              <a:rPr lang="en-US" sz="1200" dirty="0">
                <a:solidFill>
                  <a:srgbClr val="3F4A5C"/>
                </a:solidFill>
                <a:latin typeface="IBM Plex Sans" pitchFamily="34" charset="0"/>
                <a:ea typeface="IBM Plex Sans" pitchFamily="34" charset="-122"/>
                <a:cs typeface="IBM Plex Sans" pitchFamily="34" charset="-120"/>
              </a:rPr>
              <a:t>, zero resyncs; record counts match the tool on </a:t>
            </a:r>
            <a:r>
              <a:rPr lang="en-US" sz="1200" b="1" dirty="0">
                <a:solidFill>
                  <a:srgbClr val="1F4E8C"/>
                </a:solidFill>
                <a:latin typeface="IBM Plex Sans" pitchFamily="34" charset="0"/>
                <a:ea typeface="IBM Plex Sans" pitchFamily="34" charset="-122"/>
                <a:cs typeface="IBM Plex Sans" pitchFamily="34" charset="-120"/>
              </a:rPr>
              <a:t>165 of 167</a:t>
            </a:r>
            <a:r>
              <a:rPr lang="en-US" sz="1200" dirty="0">
                <a:solidFill>
                  <a:srgbClr val="3F4A5C"/>
                </a:solidFill>
                <a:latin typeface="IBM Plex Sans" pitchFamily="34" charset="0"/>
                <a:ea typeface="IBM Plex Sans" pitchFamily="34" charset="-122"/>
                <a:cs typeface="IBM Plex Sans" pitchFamily="34" charset="-120"/>
              </a:rPr>
              <a:t> log codes (GUI-built ping trace)</a:t>
            </a:r>
            <a:endParaRPr lang="en-US" sz="1200" dirty="0"/>
          </a:p>
        </p:txBody>
      </p:sp>
      <p:sp>
        <p:nvSpPr>
          <p:cNvPr id="8" name="Shape 6"/>
          <p:cNvSpPr/>
          <p:nvPr/>
        </p:nvSpPr>
        <p:spPr>
          <a:xfrm>
            <a:off x="4402634" y="2063948"/>
            <a:ext cx="3386683" cy="0"/>
          </a:xfrm>
          <a:prstGeom prst="line">
            <a:avLst/>
          </a:prstGeom>
          <a:noFill/>
          <a:ln w="25400">
            <a:solidFill>
              <a:srgbClr val="1F4E8C"/>
            </a:solidFill>
            <a:prstDash val="solid"/>
          </a:ln>
        </p:spPr>
      </p:sp>
      <p:sp>
        <p:nvSpPr>
          <p:cNvPr id="9" name="Text 7"/>
          <p:cNvSpPr/>
          <p:nvPr/>
        </p:nvSpPr>
        <p:spPr>
          <a:xfrm>
            <a:off x="4402634" y="2178248"/>
            <a:ext cx="348828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Tool audit</a:t>
            </a:r>
            <a:endParaRPr lang="en-US" sz="1400" dirty="0"/>
          </a:p>
        </p:txBody>
      </p:sp>
      <p:sp>
        <p:nvSpPr>
          <p:cNvPr id="10" name="Text 8"/>
          <p:cNvSpPr/>
          <p:nvPr/>
        </p:nvSpPr>
        <p:spPr>
          <a:xfrm>
            <a:off x="4402634" y="2451298"/>
            <a:ext cx="348828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Licensed tool; controlled reproductions where docs differ from behavior (e.g., an export exits normally, writes nothing)</a:t>
            </a:r>
            <a:endParaRPr lang="en-US" sz="1200" dirty="0"/>
          </a:p>
        </p:txBody>
      </p:sp>
      <p:sp>
        <p:nvSpPr>
          <p:cNvPr id="11" name="Shape 9"/>
          <p:cNvSpPr/>
          <p:nvPr/>
        </p:nvSpPr>
        <p:spPr>
          <a:xfrm>
            <a:off x="7992517" y="2063948"/>
            <a:ext cx="3386683" cy="0"/>
          </a:xfrm>
          <a:prstGeom prst="line">
            <a:avLst/>
          </a:prstGeom>
          <a:noFill/>
          <a:ln w="25400">
            <a:solidFill>
              <a:srgbClr val="1F4E8C"/>
            </a:solidFill>
            <a:prstDash val="solid"/>
          </a:ln>
        </p:spPr>
      </p:sp>
      <p:sp>
        <p:nvSpPr>
          <p:cNvPr id="12" name="Text 10"/>
          <p:cNvSpPr/>
          <p:nvPr/>
        </p:nvSpPr>
        <p:spPr>
          <a:xfrm>
            <a:off x="7992517" y="2178248"/>
            <a:ext cx="348828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App ground truth</a:t>
            </a:r>
            <a:endParaRPr lang="en-US" sz="1400" dirty="0"/>
          </a:p>
        </p:txBody>
      </p:sp>
      <p:sp>
        <p:nvSpPr>
          <p:cNvPr id="13" name="Text 11"/>
          <p:cNvSpPr/>
          <p:nvPr/>
        </p:nvSpPr>
        <p:spPr>
          <a:xfrm>
            <a:off x="7992517" y="2451298"/>
            <a:ext cx="348828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Outside the tool, same sessions: </a:t>
            </a:r>
            <a:r>
              <a:rPr lang="en-US" sz="1200" b="1" dirty="0">
                <a:solidFill>
                  <a:srgbClr val="1F4E8C"/>
                </a:solidFill>
                <a:latin typeface="IBM Plex Sans" pitchFamily="34" charset="0"/>
                <a:ea typeface="IBM Plex Sans" pitchFamily="34" charset="-122"/>
                <a:cs typeface="IBM Plex Sans" pitchFamily="34" charset="-120"/>
              </a:rPr>
              <a:t>602</a:t>
            </a:r>
            <a:r>
              <a:rPr lang="en-US" sz="1200" dirty="0">
                <a:solidFill>
                  <a:srgbClr val="3F4A5C"/>
                </a:solidFill>
                <a:latin typeface="IBM Plex Sans" pitchFamily="34" charset="0"/>
                <a:ea typeface="IBM Plex Sans" pitchFamily="34" charset="-122"/>
                <a:cs typeface="IBM Plex Sans" pitchFamily="34" charset="-120"/>
              </a:rPr>
              <a:t> teleop stalls, </a:t>
            </a:r>
            <a:r>
              <a:rPr lang="en-US" sz="1200" b="1" dirty="0">
                <a:solidFill>
                  <a:srgbClr val="1F4E8C"/>
                </a:solidFill>
                <a:latin typeface="IBM Plex Sans" pitchFamily="34" charset="0"/>
                <a:ea typeface="IBM Plex Sans" pitchFamily="34" charset="-122"/>
                <a:cs typeface="IBM Plex Sans" pitchFamily="34" charset="-120"/>
              </a:rPr>
              <a:t>73,714</a:t>
            </a:r>
            <a:r>
              <a:rPr lang="en-US" sz="1200" dirty="0">
                <a:solidFill>
                  <a:srgbClr val="3F4A5C"/>
                </a:solidFill>
                <a:latin typeface="IBM Plex Sans" pitchFamily="34" charset="0"/>
                <a:ea typeface="IBM Plex Sans" pitchFamily="34" charset="-122"/>
                <a:cs typeface="IBM Plex Sans" pitchFamily="34" charset="-120"/>
              </a:rPr>
              <a:t> frames; </a:t>
            </a:r>
            <a:r>
              <a:rPr lang="en-US" sz="1200" b="1" dirty="0">
                <a:solidFill>
                  <a:srgbClr val="1F4E8C"/>
                </a:solidFill>
                <a:latin typeface="IBM Plex Sans" pitchFamily="34" charset="0"/>
                <a:ea typeface="IBM Plex Sans" pitchFamily="34" charset="-122"/>
                <a:cs typeface="IBM Plex Sans" pitchFamily="34" charset="-120"/>
              </a:rPr>
              <a:t>81,605</a:t>
            </a:r>
            <a:r>
              <a:rPr lang="en-US" sz="1200" dirty="0">
                <a:solidFill>
                  <a:srgbClr val="3F4A5C"/>
                </a:solidFill>
                <a:latin typeface="IBM Plex Sans" pitchFamily="34" charset="0"/>
                <a:ea typeface="IBM Plex Sans" pitchFamily="34" charset="-122"/>
                <a:cs typeface="IBM Plex Sans" pitchFamily="34" charset="-120"/>
              </a:rPr>
              <a:t> streaming rows</a:t>
            </a:r>
            <a:endParaRPr lang="en-US" sz="1200" dirty="0"/>
          </a:p>
        </p:txBody>
      </p:sp>
      <p:sp>
        <p:nvSpPr>
          <p:cNvPr id="14" name="Shape 12"/>
          <p:cNvSpPr/>
          <p:nvPr/>
        </p:nvSpPr>
        <p:spPr>
          <a:xfrm>
            <a:off x="812800" y="3686324"/>
            <a:ext cx="10566400" cy="0"/>
          </a:xfrm>
          <a:prstGeom prst="line">
            <a:avLst/>
          </a:prstGeom>
          <a:noFill/>
          <a:ln w="6350">
            <a:solidFill>
              <a:srgbClr val="DAD6CB"/>
            </a:solidFill>
            <a:prstDash val="solid"/>
          </a:ln>
        </p:spPr>
      </p:sp>
      <p:sp>
        <p:nvSpPr>
          <p:cNvPr id="15" name="Text 13"/>
          <p:cNvSpPr/>
          <p:nvPr/>
        </p:nvSpPr>
        <p:spPr>
          <a:xfrm>
            <a:off x="812800" y="3778399"/>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OUR CORPUS</a:t>
            </a:r>
            <a:endParaRPr lang="en-US" sz="1200" dirty="0"/>
          </a:p>
        </p:txBody>
      </p:sp>
      <p:sp>
        <p:nvSpPr>
          <p:cNvPr id="16" name="Text 14"/>
          <p:cNvSpPr/>
          <p:nvPr/>
        </p:nvSpPr>
        <p:spPr>
          <a:xfrm>
            <a:off x="2717800" y="3778399"/>
            <a:ext cx="892124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Five published campaigns, 2020–24, with raw logs held: our own retroactive audit comes first (slide 17)</a:t>
            </a:r>
            <a:endParaRPr lang="en-US" sz="1200" dirty="0"/>
          </a:p>
        </p:txBody>
      </p:sp>
      <p:sp>
        <p:nvSpPr>
          <p:cNvPr id="17" name="Shape 15"/>
          <p:cNvSpPr/>
          <p:nvPr/>
        </p:nvSpPr>
        <p:spPr>
          <a:xfrm>
            <a:off x="812800" y="4071094"/>
            <a:ext cx="10566400" cy="0"/>
          </a:xfrm>
          <a:prstGeom prst="line">
            <a:avLst/>
          </a:prstGeom>
          <a:noFill/>
          <a:ln w="6350">
            <a:solidFill>
              <a:srgbClr val="DAD6CB"/>
            </a:solidFill>
            <a:prstDash val="solid"/>
          </a:ln>
        </p:spPr>
      </p:sp>
      <p:sp>
        <p:nvSpPr>
          <p:cNvPr id="18" name="Text 16"/>
          <p:cNvSpPr/>
          <p:nvPr/>
        </p:nvSpPr>
        <p:spPr>
          <a:xfrm>
            <a:off x="812800" y="4163169"/>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TEAM</a:t>
            </a:r>
            <a:endParaRPr lang="en-US" sz="1200" dirty="0"/>
          </a:p>
        </p:txBody>
      </p:sp>
      <p:sp>
        <p:nvSpPr>
          <p:cNvPr id="19" name="Text 17"/>
          <p:cNvSpPr/>
          <p:nvPr/>
        </p:nvSpPr>
        <p:spPr>
          <a:xfrm>
            <a:off x="2717800" y="4163169"/>
            <a:ext cx="892124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[PI] · [data-curation / cyberinfrastructure collaborator] · [privacy and governance lead]</a:t>
            </a:r>
            <a:endParaRPr lang="en-US" sz="1200" dirty="0"/>
          </a:p>
        </p:txBody>
      </p:sp>
      <p:sp>
        <p:nvSpPr>
          <p:cNvPr id="20" name="Shape 18"/>
          <p:cNvSpPr/>
          <p:nvPr/>
        </p:nvSpPr>
        <p:spPr>
          <a:xfrm>
            <a:off x="815975" y="4455864"/>
            <a:ext cx="10560050" cy="422870"/>
          </a:xfrm>
          <a:prstGeom prst="roundRect">
            <a:avLst>
              <a:gd name="adj" fmla="val 17269"/>
            </a:avLst>
          </a:prstGeom>
          <a:solidFill>
            <a:srgbClr val="EFEDE6"/>
          </a:solidFill>
          <a:ln w="6350">
            <a:solidFill>
              <a:srgbClr val="A9A597"/>
            </a:solidFill>
            <a:prstDash val="dash"/>
          </a:ln>
        </p:spPr>
      </p:sp>
      <p:sp>
        <p:nvSpPr>
          <p:cNvPr id="21" name="Text 19"/>
          <p:cNvSpPr/>
          <p:nvPr/>
        </p:nvSpPr>
        <p:spPr>
          <a:xfrm>
            <a:off x="971550" y="4560639"/>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372"/>
                </a:solidFill>
                <a:latin typeface="IBM Plex Sans" pitchFamily="34" charset="0"/>
                <a:ea typeface="IBM Plex Sans" pitchFamily="34" charset="-122"/>
                <a:cs typeface="IBM Plex Sans" pitchFamily="34" charset="-120"/>
              </a:rPr>
              <a:t>NOT YET → PLAN</a:t>
            </a:r>
            <a:endParaRPr lang="en-US" sz="1200" dirty="0"/>
          </a:p>
        </p:txBody>
      </p:sp>
      <p:sp>
        <p:nvSpPr>
          <p:cNvPr id="22" name="Text 20"/>
          <p:cNvSpPr/>
          <p:nvPr/>
        </p:nvSpPr>
        <p:spPr>
          <a:xfrm>
            <a:off x="2876550" y="4560639"/>
            <a:ext cx="85942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Letters, a second tool (Nemo), releasable raw data → reader and catalog as a Croissant profile [legal check]</a:t>
            </a:r>
            <a:endParaRPr lang="en-US" sz="1200" dirty="0"/>
          </a:p>
        </p:txBody>
      </p:sp>
      <p:sp>
        <p:nvSpPr>
          <p:cNvPr id="23" name="Text 21"/>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24" name="Text 2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OUR CORPUS · WHAT WE AUDIT FIRST</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We start with our own five published campaigns, 2020–2024, whose raw logs we hold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38548"/>
          <a:ext cx="10553700" cy="1965722"/>
        </p:xfrm>
        <a:graphic>
          <a:graphicData uri="http://schemas.openxmlformats.org/drawingml/2006/table">
            <a:tbl>
              <a:tblPr/>
              <a:tblGrid>
                <a:gridCol w="2110740"/>
                <a:gridCol w="1688592"/>
                <a:gridCol w="4643628"/>
                <a:gridCol w="2110740"/>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Campaign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Venue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measured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Collection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Lumos5G</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IMC '20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mmWave 5G throughput, Minneapolis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phone-side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5Gophers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WWW '20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5G on smartphones: throughput, latency, app QoE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phone-side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5G mobility</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SIGCOMM '22</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handovers, 3 US carriers, 6,200+ km</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chipset-level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5G mid-band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SIGCOMM '24</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mid-band deployment, performance, app QoE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XCAL chipset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Chicago · Minneapolis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2022–24</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s CSV exports, published on GitHub</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XCAL + XCAP-M</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4131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Plus this study's pilot set (ping, streaming, teleop, with application ground truth) and camera recordings </a:t>
            </a:r>
            <a:r>
              <a:rPr lang="en-US" sz="1200" dirty="0">
                <a:solidFill>
                  <a:srgbClr val="B4441A"/>
                </a:solidFill>
                <a:latin typeface="IBM Plex Sans" pitchFamily="34" charset="0"/>
                <a:ea typeface="IBM Plex Sans" pitchFamily="34" charset="-122"/>
                <a:cs typeface="IBM Plex Sans" pitchFamily="34" charset="-120"/>
              </a:rPr>
              <a:t>[sensors, sites, hours; sync with radio to check]</a:t>
            </a:r>
            <a:endParaRPr lang="en-US" sz="1200" dirty="0"/>
          </a:p>
        </p:txBody>
      </p:sp>
      <p:sp>
        <p:nvSpPr>
          <p:cNvPr id="6" name="Shape 3"/>
          <p:cNvSpPr/>
          <p:nvPr/>
        </p:nvSpPr>
        <p:spPr>
          <a:xfrm>
            <a:off x="831850" y="4464000"/>
            <a:ext cx="0" cy="528241"/>
          </a:xfrm>
          <a:prstGeom prst="line">
            <a:avLst/>
          </a:prstGeom>
          <a:noFill/>
          <a:ln w="38100">
            <a:solidFill>
              <a:srgbClr val="B4441A"/>
            </a:solidFill>
            <a:prstDash val="solid"/>
          </a:ln>
        </p:spPr>
      </p:sp>
      <p:sp>
        <p:nvSpPr>
          <p:cNvPr id="7" name="Text 4"/>
          <p:cNvSpPr/>
          <p:nvPr/>
        </p:nvSpPr>
        <p:spPr>
          <a:xfrm>
            <a:off x="1016000" y="4514800"/>
            <a:ext cx="132080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WHY START HERE</a:t>
            </a:r>
            <a:endParaRPr lang="en-US" sz="1200" dirty="0"/>
          </a:p>
        </p:txBody>
      </p:sp>
      <p:sp>
        <p:nvSpPr>
          <p:cNvPr id="8" name="Text 5"/>
          <p:cNvSpPr/>
          <p:nvPr/>
        </p:nvSpPr>
        <p:spPr>
          <a:xfrm>
            <a:off x="2489200" y="4514800"/>
            <a:ext cx="9156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Several years, cities, carriers and collection tools </a:t>
            </a:r>
            <a:r>
              <a:rPr lang="en-US" sz="1200" dirty="0">
                <a:solidFill>
                  <a:srgbClr val="B4441A"/>
                </a:solidFill>
                <a:latin typeface="IBM Plex Sans" pitchFamily="34" charset="0"/>
                <a:ea typeface="IBM Plex Sans" pitchFamily="34" charset="-122"/>
                <a:cs typeface="IBM Plex Sans" pitchFamily="34" charset="-120"/>
              </a:rPr>
              <a:t>[tool versions per campaign to confirm]</a:t>
            </a:r>
            <a:r>
              <a:rPr lang="en-US" sz="1200" dirty="0">
                <a:solidFill>
                  <a:srgbClr val="14213D"/>
                </a:solidFill>
                <a:latin typeface="IBM Plex Sans" pitchFamily="34" charset="0"/>
                <a:ea typeface="IBM Plex Sans" pitchFamily="34" charset="-122"/>
                <a:cs typeface="IBM Plex Sans" pitchFamily="34" charset="-120"/>
              </a:rPr>
              <a:t>: the retroactive problem inside one corpus, with the raw logs to re-derive it</a:t>
            </a:r>
            <a:endParaRPr lang="en-US" sz="1200" dirty="0"/>
          </a:p>
        </p:txBody>
      </p:sp>
      <p:sp>
        <p:nvSpPr>
          <p:cNvPr id="9" name="Shape 6"/>
          <p:cNvSpPr/>
          <p:nvPr/>
        </p:nvSpPr>
        <p:spPr>
          <a:xfrm>
            <a:off x="812800" y="5119241"/>
            <a:ext cx="10566400" cy="706041"/>
          </a:xfrm>
          <a:prstGeom prst="roundRect">
            <a:avLst>
              <a:gd name="adj" fmla="val 14390"/>
            </a:avLst>
          </a:prstGeom>
          <a:solidFill>
            <a:srgbClr val="14213D"/>
          </a:solidFill>
          <a:ln/>
        </p:spPr>
      </p:sp>
      <p:sp>
        <p:nvSpPr>
          <p:cNvPr id="10" name="Text 7"/>
          <p:cNvSpPr/>
          <p:nvPr/>
        </p:nvSpPr>
        <p:spPr>
          <a:xfrm>
            <a:off x="1016000" y="5258941"/>
            <a:ext cx="132080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AUDIT OURSELVES</a:t>
            </a:r>
            <a:endParaRPr lang="en-US" sz="1200" dirty="0"/>
          </a:p>
        </p:txBody>
      </p:sp>
      <p:sp>
        <p:nvSpPr>
          <p:cNvPr id="11" name="Text 8"/>
          <p:cNvSpPr/>
          <p:nvPr/>
        </p:nvSpPr>
        <p:spPr>
          <a:xfrm>
            <a:off x="2489200" y="5258941"/>
            <a:ext cx="894740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IBM Plex Sans" pitchFamily="34" charset="0"/>
                <a:ea typeface="IBM Plex Sans" pitchFamily="34" charset="-122"/>
                <a:cs typeface="IBM Plex Sans" pitchFamily="34" charset="-120"/>
              </a:rPr>
              <a:t>Each release above gets a Value Passport, or a 'not comparable' flag, before any partner corpus.</a:t>
            </a:r>
            <a:endParaRPr lang="en-US" sz="1400" dirty="0"/>
          </a:p>
        </p:txBody>
      </p:sp>
      <p:sp>
        <p:nvSpPr>
          <p:cNvPr id="12" name="Text 9"/>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3" name="Text 10"/>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PROJECT DESCRIPTION §3 · GOVERNANCE AND INTEGRITY</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Governance: a living catalog can date, correct and retire a number</a:t>
            </a:r>
            <a:endParaRPr lang="en-US" sz="2800" dirty="0"/>
          </a:p>
        </p:txBody>
      </p:sp>
      <p:sp>
        <p:nvSpPr>
          <p:cNvPr id="4" name="Shape 2"/>
          <p:cNvSpPr/>
          <p:nvPr/>
        </p:nvSpPr>
        <p:spPr>
          <a:xfrm>
            <a:off x="812800" y="2086173"/>
            <a:ext cx="5130800" cy="0"/>
          </a:xfrm>
          <a:prstGeom prst="line">
            <a:avLst/>
          </a:prstGeom>
          <a:noFill/>
          <a:ln w="19050">
            <a:solidFill>
              <a:srgbClr val="14213D"/>
            </a:solidFill>
            <a:prstDash val="solid"/>
          </a:ln>
        </p:spPr>
      </p:sp>
      <p:sp>
        <p:nvSpPr>
          <p:cNvPr id="5" name="Text 3"/>
          <p:cNvSpPr/>
          <p:nvPr/>
        </p:nvSpPr>
        <p:spPr>
          <a:xfrm>
            <a:off x="812800" y="2197298"/>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INTEGRITY, CATALOG, VOCABULARY</a:t>
            </a:r>
            <a:endParaRPr lang="en-US" sz="1200" dirty="0"/>
          </a:p>
        </p:txBody>
      </p:sp>
      <p:sp>
        <p:nvSpPr>
          <p:cNvPr id="6" name="Text 4"/>
          <p:cNvSpPr/>
          <p:nvPr/>
        </p:nvSpPr>
        <p:spPr>
          <a:xfrm>
            <a:off x="812800" y="2512219"/>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Integrity</a:t>
            </a:r>
            <a:r>
              <a:rPr lang="en-US" sz="1200" dirty="0">
                <a:solidFill>
                  <a:srgbClr val="3F4A5C"/>
                </a:solidFill>
                <a:latin typeface="IBM Plex Sans" pitchFamily="34" charset="0"/>
                <a:ea typeface="IBM Plex Sans" pitchFamily="34" charset="-122"/>
                <a:cs typeface="IBM Plex Sans" pitchFamily="34" charset="-120"/>
              </a:rPr>
              <a:t> · each value states its Two-Path tier; hashes; signed, versioned releases; coverage with denominator</a:t>
            </a:r>
            <a:endParaRPr lang="en-US" sz="1200" dirty="0"/>
          </a:p>
        </p:txBody>
      </p:sp>
      <p:sp>
        <p:nvSpPr>
          <p:cNvPr id="7" name="Text 5"/>
          <p:cNvSpPr/>
          <p:nvPr/>
        </p:nvSpPr>
        <p:spPr>
          <a:xfrm>
            <a:off x="812800" y="3040459"/>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Dated catalog</a:t>
            </a:r>
            <a:r>
              <a:rPr lang="en-US" sz="1200" dirty="0">
                <a:solidFill>
                  <a:srgbClr val="3F4A5C"/>
                </a:solidFill>
                <a:latin typeface="IBM Plex Sans" pitchFamily="34" charset="0"/>
                <a:ea typeface="IBM Plex Sans" pitchFamily="34" charset="-122"/>
                <a:cs typeface="IBM Plex Sans" pitchFamily="34" charset="-120"/>
              </a:rPr>
              <a:t> · each tool-behavior entry carries date, build, conditions, the experiment and check behind it, and its dependent values</a:t>
            </a:r>
            <a:endParaRPr lang="en-US" sz="1200" dirty="0"/>
          </a:p>
        </p:txBody>
      </p:sp>
      <p:sp>
        <p:nvSpPr>
          <p:cNvPr id="8" name="Shape 6"/>
          <p:cNvSpPr/>
          <p:nvPr/>
        </p:nvSpPr>
        <p:spPr>
          <a:xfrm>
            <a:off x="825500" y="3568700"/>
            <a:ext cx="0" cy="477441"/>
          </a:xfrm>
          <a:prstGeom prst="line">
            <a:avLst/>
          </a:prstGeom>
          <a:noFill/>
          <a:ln w="25400">
            <a:solidFill>
              <a:srgbClr val="B4441A"/>
            </a:solidFill>
            <a:prstDash val="solid"/>
          </a:ln>
        </p:spPr>
      </p:sp>
      <p:sp>
        <p:nvSpPr>
          <p:cNvPr id="9" name="Text 7"/>
          <p:cNvSpPr/>
          <p:nvPr/>
        </p:nvSpPr>
        <p:spPr>
          <a:xfrm>
            <a:off x="965200" y="3594100"/>
            <a:ext cx="512775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Why</a:t>
            </a:r>
            <a:r>
              <a:rPr lang="en-US" sz="1200" dirty="0">
                <a:solidFill>
                  <a:srgbClr val="14213D"/>
                </a:solidFill>
                <a:latin typeface="IBM Plex Sans" pitchFamily="34" charset="0"/>
                <a:ea typeface="IBM Plex Sans" pitchFamily="34" charset="-122"/>
                <a:cs typeface="IBM Plex Sans" pitchFamily="34" charset="-120"/>
              </a:rPr>
              <a:t> · one of our own claims spread to 4 documents in 5 places within 7 days, then was overturned</a:t>
            </a:r>
            <a:endParaRPr lang="en-US" sz="1200" dirty="0"/>
          </a:p>
        </p:txBody>
      </p:sp>
      <p:sp>
        <p:nvSpPr>
          <p:cNvPr id="10" name="Text 8"/>
          <p:cNvSpPr/>
          <p:nvPr/>
        </p:nvSpPr>
        <p:spPr>
          <a:xfrm>
            <a:off x="812800" y="4147741"/>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Retirement</a:t>
            </a:r>
            <a:r>
              <a:rPr lang="en-US" sz="1200" dirty="0">
                <a:solidFill>
                  <a:srgbClr val="3F4A5C"/>
                </a:solidFill>
                <a:latin typeface="IBM Plex Sans" pitchFamily="34" charset="0"/>
                <a:ea typeface="IBM Plex Sans" pitchFamily="34" charset="-122"/>
                <a:cs typeface="IBM Plex Sans" pitchFamily="34" charset="-120"/>
              </a:rPr>
              <a:t> · a value is deprecated when a tool or version defect is found; its passport records why</a:t>
            </a:r>
            <a:endParaRPr lang="en-US" sz="1200" dirty="0"/>
          </a:p>
        </p:txBody>
      </p:sp>
      <p:sp>
        <p:nvSpPr>
          <p:cNvPr id="11" name="Text 9"/>
          <p:cNvSpPr/>
          <p:nvPr/>
        </p:nvSpPr>
        <p:spPr>
          <a:xfrm>
            <a:off x="812800" y="4675981"/>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Vocabulary</a:t>
            </a:r>
            <a:r>
              <a:rPr lang="en-US" sz="1200" dirty="0">
                <a:solidFill>
                  <a:srgbClr val="3F4A5C"/>
                </a:solidFill>
                <a:latin typeface="IBM Plex Sans" pitchFamily="34" charset="0"/>
                <a:ea typeface="IBM Plex Sans" pitchFamily="34" charset="-122"/>
                <a:cs typeface="IBM Plex Sans" pitchFamily="34" charset="-120"/>
              </a:rPr>
              <a:t> · the profile is versioned, reviewed and proposed to the MLCommons Croissant working group [to contact]</a:t>
            </a:r>
            <a:endParaRPr lang="en-US" sz="1200" dirty="0"/>
          </a:p>
        </p:txBody>
      </p:sp>
      <p:sp>
        <p:nvSpPr>
          <p:cNvPr id="12" name="Shape 10"/>
          <p:cNvSpPr/>
          <p:nvPr/>
        </p:nvSpPr>
        <p:spPr>
          <a:xfrm>
            <a:off x="6248400" y="2086173"/>
            <a:ext cx="5130800" cy="0"/>
          </a:xfrm>
          <a:prstGeom prst="line">
            <a:avLst/>
          </a:prstGeom>
          <a:noFill/>
          <a:ln w="19050">
            <a:solidFill>
              <a:srgbClr val="14213D"/>
            </a:solidFill>
            <a:prstDash val="solid"/>
          </a:ln>
        </p:spPr>
      </p:sp>
      <p:sp>
        <p:nvSpPr>
          <p:cNvPr id="13" name="Text 11"/>
          <p:cNvSpPr/>
          <p:nvPr/>
        </p:nvSpPr>
        <p:spPr>
          <a:xfrm>
            <a:off x="6248400" y="2197298"/>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PRIVACY, LICENSING, ACCESS, CONTRIBUTION</a:t>
            </a:r>
            <a:endParaRPr lang="en-US" sz="1200" dirty="0"/>
          </a:p>
        </p:txBody>
      </p:sp>
      <p:sp>
        <p:nvSpPr>
          <p:cNvPr id="14" name="Text 12"/>
          <p:cNvSpPr/>
          <p:nvPr/>
        </p:nvSpPr>
        <p:spPr>
          <a:xfrm>
            <a:off x="6248400" y="2512219"/>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Privacy</a:t>
            </a:r>
            <a:r>
              <a:rPr lang="en-US" sz="1200" dirty="0">
                <a:solidFill>
                  <a:srgbClr val="3F4A5C"/>
                </a:solidFill>
                <a:latin typeface="IBM Plex Sans" pitchFamily="34" charset="0"/>
                <a:ea typeface="IBM Plex Sans" pitchFamily="34" charset="-122"/>
                <a:cs typeface="IBM Plex Sans" pitchFamily="34" charset="-120"/>
              </a:rPr>
              <a:t> · strip IMEI, coarsen GPS; camera: blur faces and plates [LiDAR, if in scope]</a:t>
            </a:r>
            <a:endParaRPr lang="en-US" sz="1200" dirty="0"/>
          </a:p>
        </p:txBody>
      </p:sp>
      <p:sp>
        <p:nvSpPr>
          <p:cNvPr id="15" name="Text 13"/>
          <p:cNvSpPr/>
          <p:nvPr/>
        </p:nvSpPr>
        <p:spPr>
          <a:xfrm>
            <a:off x="6248400" y="3040459"/>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Licensing</a:t>
            </a:r>
            <a:r>
              <a:rPr lang="en-US" sz="1200" dirty="0">
                <a:solidFill>
                  <a:srgbClr val="3F4A5C"/>
                </a:solidFill>
                <a:latin typeface="IBM Plex Sans" pitchFamily="34" charset="0"/>
                <a:ea typeface="IBM Plex Sans" pitchFamily="34" charset="-122"/>
                <a:cs typeface="IBM Plex Sans" pitchFamily="34" charset="-120"/>
              </a:rPr>
              <a:t> · release derived values, metadata and tools; legal check on publishing our .drm reader and the XCAP catalog [pending, </a:t>
            </a:r>
            <a:r>
              <a:rPr lang="en-US" sz="1200" dirty="0">
                <a:solidFill>
                  <a:srgbClr val="B4441A"/>
                </a:solidFill>
                <a:latin typeface="IBM Plex Sans" pitchFamily="34" charset="0"/>
                <a:ea typeface="IBM Plex Sans" pitchFamily="34" charset="-122"/>
                <a:cs typeface="IBM Plex Sans" pitchFamily="34" charset="-120"/>
              </a:rPr>
              <a:t>High risk</a:t>
            </a:r>
            <a:r>
              <a:rPr lang="en-US" sz="1200" dirty="0">
                <a:solidFill>
                  <a:srgbClr val="3F4A5C"/>
                </a:solidFill>
                <a:latin typeface="IBM Plex Sans" pitchFamily="34" charset="0"/>
                <a:ea typeface="IBM Plex Sans" pitchFamily="34" charset="-122"/>
                <a:cs typeface="IBM Plex Sans" pitchFamily="34" charset="-120"/>
              </a:rPr>
              <a:t>]</a:t>
            </a:r>
            <a:endParaRPr lang="en-US" sz="1200" dirty="0"/>
          </a:p>
        </p:txBody>
      </p:sp>
      <p:sp>
        <p:nvSpPr>
          <p:cNvPr id="16" name="Text 14"/>
          <p:cNvSpPr/>
          <p:nvPr/>
        </p:nvSpPr>
        <p:spPr>
          <a:xfrm>
            <a:off x="6248400" y="3568700"/>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Raw data</a:t>
            </a:r>
            <a:r>
              <a:rPr lang="en-US" sz="1200" dirty="0">
                <a:solidFill>
                  <a:srgbClr val="3F4A5C"/>
                </a:solidFill>
                <a:latin typeface="IBM Plex Sans" pitchFamily="34" charset="0"/>
                <a:ea typeface="IBM Plex Sans" pitchFamily="34" charset="-122"/>
                <a:cs typeface="IBM Plex Sans" pitchFamily="34" charset="-120"/>
              </a:rPr>
              <a:t> · release decision D-5 </a:t>
            </a:r>
            <a:r>
              <a:rPr lang="en-US" sz="1200" dirty="0">
                <a:solidFill>
                  <a:srgbClr val="1F4E8C"/>
                </a:solidFill>
                <a:latin typeface="IBM Plex Sans" pitchFamily="34" charset="0"/>
                <a:ea typeface="IBM Plex Sans" pitchFamily="34" charset="-122"/>
                <a:cs typeface="IBM Plex Sans" pitchFamily="34" charset="-120"/>
              </a:rPr>
              <a:t>open</a:t>
            </a:r>
            <a:r>
              <a:rPr lang="en-US" sz="1200" dirty="0">
                <a:solidFill>
                  <a:srgbClr val="3F4A5C"/>
                </a:solidFill>
                <a:latin typeface="IBM Plex Sans" pitchFamily="34" charset="0"/>
                <a:ea typeface="IBM Plex Sans" pitchFamily="34" charset="-122"/>
                <a:cs typeface="IBM Plex Sans" pitchFamily="34" charset="-120"/>
              </a:rPr>
              <a:t>; access tiers: open derived data, controlled raw data [if allowed]</a:t>
            </a:r>
            <a:endParaRPr lang="en-US" sz="1200" dirty="0"/>
          </a:p>
        </p:txBody>
      </p:sp>
      <p:sp>
        <p:nvSpPr>
          <p:cNvPr id="17" name="Text 15"/>
          <p:cNvSpPr/>
          <p:nvPr/>
        </p:nvSpPr>
        <p:spPr>
          <a:xfrm>
            <a:off x="6248400" y="4096941"/>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BM Plex Sans" pitchFamily="34" charset="0"/>
                <a:ea typeface="IBM Plex Sans" pitchFamily="34" charset="-122"/>
                <a:cs typeface="IBM Plex Sans" pitchFamily="34" charset="-120"/>
              </a:rPr>
              <a:t>Contribution</a:t>
            </a:r>
            <a:r>
              <a:rPr lang="en-US" sz="1200" dirty="0">
                <a:solidFill>
                  <a:srgbClr val="3F4A5C"/>
                </a:solidFill>
                <a:latin typeface="IBM Plex Sans" pitchFamily="34" charset="0"/>
                <a:ea typeface="IBM Plex Sans" pitchFamily="34" charset="-122"/>
                <a:cs typeface="IBM Plex Sans" pitchFamily="34" charset="-120"/>
              </a:rPr>
              <a:t> · a schema plus an automated WiReady gate on every submitted dataset</a:t>
            </a:r>
            <a:endParaRPr lang="en-US" sz="1200" dirty="0"/>
          </a:p>
        </p:txBody>
      </p:sp>
      <p:sp>
        <p:nvSpPr>
          <p:cNvPr id="18" name="Text 16"/>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9"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PROJECT DESCRIPTION §4 · AVAILABILITY, COMMUNITY, BROADER IMPACTS</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Availability and community: certified releases on infrastructure the community already uses</a:t>
            </a:r>
            <a:endParaRPr lang="en-US" sz="2800" dirty="0"/>
          </a:p>
        </p:txBody>
      </p:sp>
      <p:sp>
        <p:nvSpPr>
          <p:cNvPr id="4" name="Shape 2"/>
          <p:cNvSpPr/>
          <p:nvPr/>
        </p:nvSpPr>
        <p:spPr>
          <a:xfrm>
            <a:off x="815975" y="2029023"/>
            <a:ext cx="3818186" cy="1194941"/>
          </a:xfrm>
          <a:prstGeom prst="roundRect">
            <a:avLst>
              <a:gd name="adj" fmla="val 8237"/>
            </a:avLst>
          </a:prstGeom>
          <a:solidFill>
            <a:srgbClr val="FFFDF8"/>
          </a:solidFill>
          <a:ln w="6350">
            <a:solidFill>
              <a:srgbClr val="DAD6CB"/>
            </a:solidFill>
            <a:prstDash val="solid"/>
          </a:ln>
        </p:spPr>
      </p:sp>
      <p:sp>
        <p:nvSpPr>
          <p:cNvPr id="5" name="Text 3"/>
          <p:cNvSpPr/>
          <p:nvPr/>
        </p:nvSpPr>
        <p:spPr>
          <a:xfrm>
            <a:off x="996950" y="2159198"/>
            <a:ext cx="355992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IF PLANNING (1-2 YR)</a:t>
            </a:r>
            <a:endParaRPr lang="en-US" sz="1200" dirty="0"/>
          </a:p>
        </p:txBody>
      </p:sp>
      <p:sp>
        <p:nvSpPr>
          <p:cNvPr id="6" name="Text 4"/>
          <p:cNvSpPr/>
          <p:nvPr/>
        </p:nvSpPr>
        <p:spPr>
          <a:xfrm>
            <a:off x="996950" y="2423319"/>
            <a:ext cx="3559923"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Letters from data users, a community workshop, profile draft v0, one cross-tool pilot (Vienna, Keysight Nemo)</a:t>
            </a:r>
            <a:endParaRPr lang="en-US" sz="1200" dirty="0"/>
          </a:p>
        </p:txBody>
      </p:sp>
      <p:sp>
        <p:nvSpPr>
          <p:cNvPr id="7" name="Shape 5"/>
          <p:cNvSpPr/>
          <p:nvPr/>
        </p:nvSpPr>
        <p:spPr>
          <a:xfrm>
            <a:off x="4792911" y="2029023"/>
            <a:ext cx="6583114" cy="1194941"/>
          </a:xfrm>
          <a:prstGeom prst="roundRect">
            <a:avLst>
              <a:gd name="adj" fmla="val 8237"/>
            </a:avLst>
          </a:prstGeom>
          <a:solidFill>
            <a:srgbClr val="FFFDF8"/>
          </a:solidFill>
          <a:ln w="6350">
            <a:solidFill>
              <a:srgbClr val="DAD6CB"/>
            </a:solidFill>
            <a:prstDash val="solid"/>
          </a:ln>
        </p:spPr>
      </p:sp>
      <p:sp>
        <p:nvSpPr>
          <p:cNvPr id="8" name="Text 6"/>
          <p:cNvSpPr/>
          <p:nvPr/>
        </p:nvSpPr>
        <p:spPr>
          <a:xfrm>
            <a:off x="4973886" y="2159198"/>
            <a:ext cx="64077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IF IMPACT (YEARS 1-3)</a:t>
            </a:r>
            <a:endParaRPr lang="en-US" sz="1200" dirty="0"/>
          </a:p>
        </p:txBody>
      </p:sp>
      <p:sp>
        <p:nvSpPr>
          <p:cNvPr id="9" name="Text 7"/>
          <p:cNvSpPr/>
          <p:nvPr/>
        </p:nvSpPr>
        <p:spPr>
          <a:xfrm>
            <a:off x="4973886" y="2423319"/>
            <a:ext cx="3556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Y1</a:t>
            </a:r>
            <a:endParaRPr lang="en-US" sz="1200" dirty="0"/>
          </a:p>
        </p:txBody>
      </p:sp>
      <p:sp>
        <p:nvSpPr>
          <p:cNvPr id="10" name="Text 8"/>
          <p:cNvSpPr/>
          <p:nvPr/>
        </p:nvSpPr>
        <p:spPr>
          <a:xfrm>
            <a:off x="5354886" y="2423319"/>
            <a:ext cx="601536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Profile v1, catalog v1 (XCAP-M 5.33), open reader [legal check], certified pilot release</a:t>
            </a:r>
            <a:endParaRPr lang="en-US" sz="1200" dirty="0"/>
          </a:p>
        </p:txBody>
      </p:sp>
      <p:sp>
        <p:nvSpPr>
          <p:cNvPr id="11" name="Text 9"/>
          <p:cNvSpPr/>
          <p:nvPr/>
        </p:nvSpPr>
        <p:spPr>
          <a:xfrm>
            <a:off x="4973886" y="2659509"/>
            <a:ext cx="3556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Y2</a:t>
            </a:r>
            <a:endParaRPr lang="en-US" sz="1200" dirty="0"/>
          </a:p>
        </p:txBody>
      </p:sp>
      <p:sp>
        <p:nvSpPr>
          <p:cNvPr id="12" name="Text 10"/>
          <p:cNvSpPr/>
          <p:nvPr/>
        </p:nvSpPr>
        <p:spPr>
          <a:xfrm>
            <a:off x="5354886" y="2659509"/>
            <a:ext cx="601536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WiReady on public releases, sensitivity ranges, a second tool</a:t>
            </a:r>
            <a:endParaRPr lang="en-US" sz="1200" dirty="0"/>
          </a:p>
        </p:txBody>
      </p:sp>
      <p:sp>
        <p:nvSpPr>
          <p:cNvPr id="13" name="Text 11"/>
          <p:cNvSpPr/>
          <p:nvPr/>
        </p:nvSpPr>
        <p:spPr>
          <a:xfrm>
            <a:off x="4973886" y="2895699"/>
            <a:ext cx="3556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Y3</a:t>
            </a:r>
            <a:endParaRPr lang="en-US" sz="1200" dirty="0"/>
          </a:p>
        </p:txBody>
      </p:sp>
      <p:sp>
        <p:nvSpPr>
          <p:cNvPr id="14" name="Text 12"/>
          <p:cNvSpPr/>
          <p:nvPr/>
        </p:nvSpPr>
        <p:spPr>
          <a:xfrm>
            <a:off x="5354886" y="2895699"/>
            <a:ext cx="601536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our 2020–24 campaigns and partner corpora harmonized, workshop, handoff</a:t>
            </a:r>
            <a:endParaRPr lang="en-US" sz="1200" dirty="0"/>
          </a:p>
        </p:txBody>
      </p:sp>
      <p:sp>
        <p:nvSpPr>
          <p:cNvPr id="15" name="Shape 13"/>
          <p:cNvSpPr/>
          <p:nvPr/>
        </p:nvSpPr>
        <p:spPr>
          <a:xfrm>
            <a:off x="812800" y="3357314"/>
            <a:ext cx="10566400" cy="0"/>
          </a:xfrm>
          <a:prstGeom prst="line">
            <a:avLst/>
          </a:prstGeom>
          <a:noFill/>
          <a:ln w="6350">
            <a:solidFill>
              <a:srgbClr val="DAD6CB"/>
            </a:solidFill>
            <a:prstDash val="solid"/>
          </a:ln>
        </p:spPr>
      </p:sp>
      <p:sp>
        <p:nvSpPr>
          <p:cNvPr id="16" name="Text 14"/>
          <p:cNvSpPr/>
          <p:nvPr/>
        </p:nvSpPr>
        <p:spPr>
          <a:xfrm>
            <a:off x="812800" y="3423989"/>
            <a:ext cx="170180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B4441A"/>
                </a:solidFill>
                <a:latin typeface="IBM Plex Sans" pitchFamily="34" charset="0"/>
                <a:ea typeface="IBM Plex Sans" pitchFamily="34" charset="-122"/>
                <a:cs typeface="IBM Plex Sans" pitchFamily="34" charset="-120"/>
              </a:rPr>
              <a:t>HOSTING</a:t>
            </a:r>
            <a:endParaRPr lang="en-US" sz="1200" dirty="0"/>
          </a:p>
        </p:txBody>
      </p:sp>
      <p:sp>
        <p:nvSpPr>
          <p:cNvPr id="17" name="Text 15"/>
          <p:cNvSpPr/>
          <p:nvPr/>
        </p:nvSpPr>
        <p:spPr>
          <a:xfrm>
            <a:off x="2667000" y="3423989"/>
            <a:ext cx="89735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CRAWDAD collection on IEEE DataPort; discoverable via the National Data Platform [confirm]; Croissant 1.1; no new portal</a:t>
            </a:r>
            <a:endParaRPr lang="en-US" sz="1200" dirty="0"/>
          </a:p>
        </p:txBody>
      </p:sp>
      <p:sp>
        <p:nvSpPr>
          <p:cNvPr id="18" name="Shape 16"/>
          <p:cNvSpPr/>
          <p:nvPr/>
        </p:nvSpPr>
        <p:spPr>
          <a:xfrm>
            <a:off x="812800" y="3663355"/>
            <a:ext cx="10566400" cy="0"/>
          </a:xfrm>
          <a:prstGeom prst="line">
            <a:avLst/>
          </a:prstGeom>
          <a:noFill/>
          <a:ln w="6350">
            <a:solidFill>
              <a:srgbClr val="DAD6CB"/>
            </a:solidFill>
            <a:prstDash val="solid"/>
          </a:ln>
        </p:spPr>
      </p:sp>
      <p:sp>
        <p:nvSpPr>
          <p:cNvPr id="19" name="Text 17"/>
          <p:cNvSpPr/>
          <p:nvPr/>
        </p:nvSpPr>
        <p:spPr>
          <a:xfrm>
            <a:off x="812800" y="3730030"/>
            <a:ext cx="170180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B4441A"/>
                </a:solidFill>
                <a:latin typeface="IBM Plex Sans" pitchFamily="34" charset="0"/>
                <a:ea typeface="IBM Plex Sans" pitchFamily="34" charset="-122"/>
                <a:cs typeface="IBM Plex Sans" pitchFamily="34" charset="-120"/>
              </a:rPr>
              <a:t>USERS</a:t>
            </a:r>
            <a:endParaRPr lang="en-US" sz="1200" dirty="0"/>
          </a:p>
        </p:txBody>
      </p:sp>
      <p:sp>
        <p:nvSpPr>
          <p:cNvPr id="20" name="Text 18"/>
          <p:cNvSpPr/>
          <p:nvPr/>
        </p:nvSpPr>
        <p:spPr>
          <a:xfrm>
            <a:off x="2667000" y="3730030"/>
            <a:ext cx="89735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Wireless measurement groups (CRAWDAD since 2004; PAWR; SpectrumX, researchers from 30 universities), AI-for-networks</a:t>
            </a:r>
            <a:endParaRPr lang="en-US" sz="1200" dirty="0"/>
          </a:p>
        </p:txBody>
      </p:sp>
      <p:sp>
        <p:nvSpPr>
          <p:cNvPr id="21" name="Shape 19"/>
          <p:cNvSpPr/>
          <p:nvPr/>
        </p:nvSpPr>
        <p:spPr>
          <a:xfrm>
            <a:off x="812800" y="3969395"/>
            <a:ext cx="10566400" cy="0"/>
          </a:xfrm>
          <a:prstGeom prst="line">
            <a:avLst/>
          </a:prstGeom>
          <a:noFill/>
          <a:ln w="6350">
            <a:solidFill>
              <a:srgbClr val="DAD6CB"/>
            </a:solidFill>
            <a:prstDash val="solid"/>
          </a:ln>
        </p:spPr>
      </p:sp>
      <p:sp>
        <p:nvSpPr>
          <p:cNvPr id="22" name="Text 20"/>
          <p:cNvSpPr/>
          <p:nvPr/>
        </p:nvSpPr>
        <p:spPr>
          <a:xfrm>
            <a:off x="812800" y="4036070"/>
            <a:ext cx="170180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B4441A"/>
                </a:solidFill>
                <a:latin typeface="IBM Plex Sans" pitchFamily="34" charset="0"/>
                <a:ea typeface="IBM Plex Sans" pitchFamily="34" charset="-122"/>
                <a:cs typeface="IBM Plex Sans" pitchFamily="34" charset="-120"/>
              </a:rPr>
              <a:t>ADOPTION</a:t>
            </a:r>
            <a:endParaRPr lang="en-US" sz="1200" dirty="0"/>
          </a:p>
        </p:txBody>
      </p:sp>
      <p:sp>
        <p:nvSpPr>
          <p:cNvPr id="23" name="Text 21"/>
          <p:cNvSpPr/>
          <p:nvPr/>
        </p:nvSpPr>
        <p:spPr>
          <a:xfrm>
            <a:off x="2667000" y="4036070"/>
            <a:ext cx="89735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External datasets audited, contributing groups, downloads, API calls, condition-disclosure rate</a:t>
            </a:r>
            <a:endParaRPr lang="en-US" sz="1200" dirty="0"/>
          </a:p>
        </p:txBody>
      </p:sp>
      <p:sp>
        <p:nvSpPr>
          <p:cNvPr id="24" name="Shape 22"/>
          <p:cNvSpPr/>
          <p:nvPr/>
        </p:nvSpPr>
        <p:spPr>
          <a:xfrm>
            <a:off x="812800" y="4275435"/>
            <a:ext cx="10566400" cy="0"/>
          </a:xfrm>
          <a:prstGeom prst="line">
            <a:avLst/>
          </a:prstGeom>
          <a:noFill/>
          <a:ln w="6350">
            <a:solidFill>
              <a:srgbClr val="DAD6CB"/>
            </a:solidFill>
            <a:prstDash val="solid"/>
          </a:ln>
        </p:spPr>
      </p:sp>
      <p:sp>
        <p:nvSpPr>
          <p:cNvPr id="25" name="Text 23"/>
          <p:cNvSpPr/>
          <p:nvPr/>
        </p:nvSpPr>
        <p:spPr>
          <a:xfrm>
            <a:off x="812800" y="4342110"/>
            <a:ext cx="170180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B4441A"/>
                </a:solidFill>
                <a:latin typeface="IBM Plex Sans" pitchFamily="34" charset="0"/>
                <a:ea typeface="IBM Plex Sans" pitchFamily="34" charset="-122"/>
                <a:cs typeface="IBM Plex Sans" pitchFamily="34" charset="-120"/>
              </a:rPr>
              <a:t>BROADER IMPACTS</a:t>
            </a:r>
            <a:endParaRPr lang="en-US" sz="1200" dirty="0"/>
          </a:p>
        </p:txBody>
      </p:sp>
      <p:sp>
        <p:nvSpPr>
          <p:cNvPr id="26" name="Text 24"/>
          <p:cNvSpPr/>
          <p:nvPr/>
        </p:nvSpPr>
        <p:spPr>
          <a:xfrm>
            <a:off x="2667000" y="4342110"/>
            <a:ext cx="89735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Trusted research infrastructure; students trained in AI use of measurement data [named courses]</a:t>
            </a:r>
            <a:endParaRPr lang="en-US" sz="1200" dirty="0"/>
          </a:p>
        </p:txBody>
      </p:sp>
      <p:sp>
        <p:nvSpPr>
          <p:cNvPr id="27" name="Shape 25"/>
          <p:cNvSpPr/>
          <p:nvPr/>
        </p:nvSpPr>
        <p:spPr>
          <a:xfrm>
            <a:off x="812800" y="4581475"/>
            <a:ext cx="10566400" cy="0"/>
          </a:xfrm>
          <a:prstGeom prst="line">
            <a:avLst/>
          </a:prstGeom>
          <a:noFill/>
          <a:ln w="6350">
            <a:solidFill>
              <a:srgbClr val="DAD6CB"/>
            </a:solidFill>
            <a:prstDash val="solid"/>
          </a:ln>
        </p:spPr>
      </p:sp>
      <p:sp>
        <p:nvSpPr>
          <p:cNvPr id="28" name="Text 26"/>
          <p:cNvSpPr/>
          <p:nvPr/>
        </p:nvSpPr>
        <p:spPr>
          <a:xfrm>
            <a:off x="812800" y="4648150"/>
            <a:ext cx="1701800" cy="20826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B4441A"/>
                </a:solidFill>
                <a:latin typeface="IBM Plex Sans" pitchFamily="34" charset="0"/>
                <a:ea typeface="IBM Plex Sans" pitchFamily="34" charset="-122"/>
                <a:cs typeface="IBM Plex Sans" pitchFamily="34" charset="-120"/>
              </a:rPr>
              <a:t>SUSTAINMENT</a:t>
            </a:r>
            <a:endParaRPr lang="en-US" sz="1200" dirty="0"/>
          </a:p>
        </p:txBody>
      </p:sp>
      <p:sp>
        <p:nvSpPr>
          <p:cNvPr id="29" name="Text 27"/>
          <p:cNvSpPr/>
          <p:nvPr/>
        </p:nvSpPr>
        <p:spPr>
          <a:xfrm>
            <a:off x="2667000" y="4648150"/>
            <a:ext cx="89735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Profile under the Croissant working group [to contact]; data on IEEE DataPort; scripted re-certification per tool build</a:t>
            </a:r>
            <a:endParaRPr lang="en-US" sz="1200" dirty="0"/>
          </a:p>
        </p:txBody>
      </p:sp>
      <p:sp>
        <p:nvSpPr>
          <p:cNvPr id="30" name="Text 28"/>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31"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DECISION · INTERNAL GATE OCT 14 · DEADLINE NOV 4, 2026</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The track follows from conditions we can check by October 14</a:t>
            </a:r>
            <a:endParaRPr lang="en-US" sz="2800" dirty="0"/>
          </a:p>
        </p:txBody>
      </p:sp>
      <p:sp>
        <p:nvSpPr>
          <p:cNvPr id="4" name="Text 2"/>
          <p:cNvSpPr/>
          <p:nvPr/>
        </p:nvSpPr>
        <p:spPr>
          <a:xfrm>
            <a:off x="812800" y="1975048"/>
            <a:ext cx="1088339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441A"/>
                </a:solidFill>
                <a:latin typeface="IBM Plex Sans" pitchFamily="34" charset="0"/>
                <a:ea typeface="IBM Plex Sans" pitchFamily="34" charset="-122"/>
                <a:cs typeface="IBM Plex Sans" pitchFamily="34" charset="-120"/>
              </a:rPr>
              <a:t>Today</a:t>
            </a:r>
            <a:r>
              <a:rPr lang="en-US" sz="1300" dirty="0">
                <a:solidFill>
                  <a:srgbClr val="3F4A5C"/>
                </a:solidFill>
                <a:latin typeface="IBM Plex Sans" pitchFamily="34" charset="0"/>
                <a:ea typeface="IBM Plex Sans" pitchFamily="34" charset="-122"/>
                <a:cs typeface="IBM Plex Sans" pitchFamily="34" charset="-120"/>
              </a:rPr>
              <a:t> · five published campaigns with raw logs, camera data, no letters yet: </a:t>
            </a:r>
            <a:r>
              <a:rPr lang="en-US" sz="1300" b="1" dirty="0">
                <a:solidFill>
                  <a:srgbClr val="14213D"/>
                </a:solidFill>
                <a:latin typeface="IBM Plex Sans" pitchFamily="34" charset="0"/>
                <a:ea typeface="IBM Plex Sans" pitchFamily="34" charset="-122"/>
                <a:cs typeface="IBM Plex Sans" pitchFamily="34" charset="-120"/>
              </a:rPr>
              <a:t>no track is decided</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91259"/>
          <a:ext cx="10553700" cy="1851422"/>
        </p:xfrm>
        <a:graphic>
          <a:graphicData uri="http://schemas.openxmlformats.org/drawingml/2006/table">
            <a:tbl>
              <a:tblPr/>
              <a:tblGrid>
                <a:gridCol w="5910072"/>
                <a:gridCol w="4643628"/>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Condition met by Oct 14</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Track</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One reanalysis of a published campaign + ≥2 letters of collaboration</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Impact (≤ $2M / 3 yr)</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Impact conditions + a partner's second-tool corpus + host + camera aligned with radio</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Flagship (≤ $5M / 3 yr; a stretch this cycle)</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Corpus manifest ready, but no reanalysis result or no letters</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Planning (≤ $200k; Concept Outline + PO concurrence)</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None of the above</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Skip this cycle; the program recurs each November</a:t>
                      </a:r>
                      <a:endParaRPr lang="en-US" sz="1200" dirty="0">
                        <a:latin typeface="IBM Plex Sans" charset="0"/>
                        <a:ea typeface="IBM Plex Sans" charset="0"/>
                        <a:cs typeface="IBM Plex Sans" charset="0"/>
                      </a:endParaRPr>
                    </a:p>
                  </a:txBody>
                  <a:tcPr marL="101600" marR="1016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6" name="Shape 3"/>
          <p:cNvSpPr/>
          <p:nvPr/>
        </p:nvSpPr>
        <p:spPr>
          <a:xfrm>
            <a:off x="812800" y="4234755"/>
            <a:ext cx="10566400" cy="0"/>
          </a:xfrm>
          <a:prstGeom prst="line">
            <a:avLst/>
          </a:prstGeom>
          <a:noFill/>
          <a:ln w="6350">
            <a:solidFill>
              <a:srgbClr val="DAD6CB"/>
            </a:solidFill>
            <a:prstDash val="solid"/>
          </a:ln>
        </p:spPr>
      </p:sp>
      <p:sp>
        <p:nvSpPr>
          <p:cNvPr id="7" name="Text 4"/>
          <p:cNvSpPr/>
          <p:nvPr/>
        </p:nvSpPr>
        <p:spPr>
          <a:xfrm>
            <a:off x="812800" y="4288730"/>
            <a:ext cx="1574800" cy="22349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B4441A"/>
                </a:solidFill>
                <a:latin typeface="IBM Plex Sans" pitchFamily="34" charset="0"/>
                <a:ea typeface="IBM Plex Sans" pitchFamily="34" charset="-122"/>
                <a:cs typeface="IBM Plex Sans" pitchFamily="34" charset="-120"/>
              </a:rPr>
              <a:t>BEFORE OCT 14</a:t>
            </a:r>
            <a:endParaRPr lang="en-US" sz="1200" dirty="0"/>
          </a:p>
        </p:txBody>
      </p:sp>
      <p:sp>
        <p:nvSpPr>
          <p:cNvPr id="8" name="Text 5"/>
          <p:cNvSpPr/>
          <p:nvPr/>
        </p:nvSpPr>
        <p:spPr>
          <a:xfrm>
            <a:off x="2590800" y="4288730"/>
            <a:ext cx="905205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Email PO · letters · reanalyze one published campaign · Vienna pilot · XCAP loop cycle </a:t>
            </a:r>
            <a:r>
              <a:rPr lang="en-US" sz="1200" dirty="0">
                <a:solidFill>
                  <a:srgbClr val="B4441A"/>
                </a:solidFill>
                <a:latin typeface="IBM Plex Sans" pitchFamily="34" charset="0"/>
                <a:ea typeface="IBM Plex Sans" pitchFamily="34" charset="-122"/>
                <a:cs typeface="IBM Plex Sans" pitchFamily="34" charset="-120"/>
              </a:rPr>
              <a:t>[owner]</a:t>
            </a:r>
            <a:endParaRPr lang="en-US" sz="1200" dirty="0"/>
          </a:p>
        </p:txBody>
      </p:sp>
      <p:sp>
        <p:nvSpPr>
          <p:cNvPr id="9" name="Text 6"/>
          <p:cNvSpPr/>
          <p:nvPr/>
        </p:nvSpPr>
        <p:spPr>
          <a:xfrm>
            <a:off x="2590800" y="4486821"/>
            <a:ext cx="905205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Legal check · campaign manifest · camera inventory · dated tech report · SIGCOMM '27 boundary</a:t>
            </a:r>
            <a:endParaRPr lang="en-US" sz="1200" dirty="0"/>
          </a:p>
        </p:txBody>
      </p:sp>
      <p:sp>
        <p:nvSpPr>
          <p:cNvPr id="10" name="Shape 7"/>
          <p:cNvSpPr/>
          <p:nvPr/>
        </p:nvSpPr>
        <p:spPr>
          <a:xfrm>
            <a:off x="812800" y="4726186"/>
            <a:ext cx="10566400" cy="0"/>
          </a:xfrm>
          <a:prstGeom prst="line">
            <a:avLst/>
          </a:prstGeom>
          <a:noFill/>
          <a:ln w="6350">
            <a:solidFill>
              <a:srgbClr val="DAD6CB"/>
            </a:solidFill>
            <a:prstDash val="solid"/>
          </a:ln>
        </p:spPr>
      </p:sp>
      <p:sp>
        <p:nvSpPr>
          <p:cNvPr id="11" name="Text 8"/>
          <p:cNvSpPr/>
          <p:nvPr/>
        </p:nvSpPr>
        <p:spPr>
          <a:xfrm>
            <a:off x="812800" y="4780161"/>
            <a:ext cx="1574800" cy="22349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B4441A"/>
                </a:solidFill>
                <a:latin typeface="IBM Plex Sans" pitchFamily="34" charset="0"/>
                <a:ea typeface="IBM Plex Sans" pitchFamily="34" charset="-122"/>
                <a:cs typeface="IBM Plex Sans" pitchFamily="34" charset="-120"/>
              </a:rPr>
              <a:t>TOP RISKS</a:t>
            </a:r>
            <a:endParaRPr lang="en-US" sz="1200" dirty="0"/>
          </a:p>
        </p:txBody>
      </p:sp>
      <p:sp>
        <p:nvSpPr>
          <p:cNvPr id="12" name="Text 9"/>
          <p:cNvSpPr/>
          <p:nvPr/>
        </p:nvSpPr>
        <p:spPr>
          <a:xfrm>
            <a:off x="2590800" y="4780161"/>
            <a:ext cx="905205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No letters (</a:t>
            </a:r>
            <a:r>
              <a:rPr lang="en-US" sz="1200" dirty="0">
                <a:solidFill>
                  <a:srgbClr val="B4441A"/>
                </a:solidFill>
                <a:latin typeface="IBM Plex Sans" pitchFamily="34" charset="0"/>
                <a:ea typeface="IBM Plex Sans" pitchFamily="34" charset="-122"/>
                <a:cs typeface="IBM Plex Sans" pitchFamily="34" charset="-120"/>
              </a:rPr>
              <a:t>High</a:t>
            </a:r>
            <a:r>
              <a:rPr lang="en-US" sz="1200" dirty="0">
                <a:solidFill>
                  <a:srgbClr val="3F4A5C"/>
                </a:solidFill>
                <a:latin typeface="IBM Plex Sans" pitchFamily="34" charset="0"/>
                <a:ea typeface="IBM Plex Sans" pitchFamily="34" charset="-122"/>
                <a:cs typeface="IBM Plex Sans" pitchFamily="34" charset="-120"/>
              </a:rPr>
              <a:t>) · one XCAP build so far (</a:t>
            </a:r>
            <a:r>
              <a:rPr lang="en-US" sz="1200" dirty="0">
                <a:solidFill>
                  <a:srgbClr val="B4441A"/>
                </a:solidFill>
                <a:latin typeface="IBM Plex Sans" pitchFamily="34" charset="0"/>
                <a:ea typeface="IBM Plex Sans" pitchFamily="34" charset="-122"/>
                <a:cs typeface="IBM Plex Sans" pitchFamily="34" charset="-120"/>
              </a:rPr>
              <a:t>High</a:t>
            </a:r>
            <a:r>
              <a:rPr lang="en-US" sz="1200" dirty="0">
                <a:solidFill>
                  <a:srgbClr val="3F4A5C"/>
                </a:solidFill>
                <a:latin typeface="IBM Plex Sans" pitchFamily="34" charset="0"/>
                <a:ea typeface="IBM Plex Sans" pitchFamily="34" charset="-122"/>
                <a:cs typeface="IBM Plex Sans" pitchFamily="34" charset="-120"/>
              </a:rPr>
              <a:t>) · vendor licence and legal (</a:t>
            </a:r>
            <a:r>
              <a:rPr lang="en-US" sz="1200" dirty="0">
                <a:solidFill>
                  <a:srgbClr val="B4441A"/>
                </a:solidFill>
                <a:latin typeface="IBM Plex Sans" pitchFamily="34" charset="0"/>
                <a:ea typeface="IBM Plex Sans" pitchFamily="34" charset="-122"/>
                <a:cs typeface="IBM Plex Sans" pitchFamily="34" charset="-120"/>
              </a:rPr>
              <a:t>High</a:t>
            </a:r>
            <a:r>
              <a:rPr lang="en-US" sz="1200" dirty="0">
                <a:solidFill>
                  <a:srgbClr val="3F4A5C"/>
                </a:solidFill>
                <a:latin typeface="IBM Plex Sans" pitchFamily="34" charset="0"/>
                <a:ea typeface="IBM Plex Sans" pitchFamily="34" charset="-122"/>
                <a:cs typeface="IBM Plex Sans" pitchFamily="34" charset="-120"/>
              </a:rPr>
              <a:t>) · Appendix C</a:t>
            </a:r>
            <a:endParaRPr lang="en-US" sz="1200" dirty="0"/>
          </a:p>
        </p:txBody>
      </p:sp>
      <p:sp>
        <p:nvSpPr>
          <p:cNvPr id="13" name="Shape 10"/>
          <p:cNvSpPr/>
          <p:nvPr/>
        </p:nvSpPr>
        <p:spPr>
          <a:xfrm>
            <a:off x="812800" y="5067151"/>
            <a:ext cx="10566400" cy="367010"/>
          </a:xfrm>
          <a:prstGeom prst="roundRect">
            <a:avLst>
              <a:gd name="adj" fmla="val 27683"/>
            </a:avLst>
          </a:prstGeom>
          <a:solidFill>
            <a:srgbClr val="14213D"/>
          </a:solidFill>
          <a:ln/>
        </p:spPr>
      </p:sp>
      <p:sp>
        <p:nvSpPr>
          <p:cNvPr id="14" name="Text 11"/>
          <p:cNvSpPr/>
          <p:nvPr/>
        </p:nvSpPr>
        <p:spPr>
          <a:xfrm>
            <a:off x="1016000" y="5143351"/>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ASK TODAY</a:t>
            </a:r>
            <a:endParaRPr lang="en-US" sz="1200" dirty="0"/>
          </a:p>
        </p:txBody>
      </p:sp>
      <p:sp>
        <p:nvSpPr>
          <p:cNvPr id="15" name="Text 12"/>
          <p:cNvSpPr/>
          <p:nvPr/>
        </p:nvSpPr>
        <p:spPr>
          <a:xfrm>
            <a:off x="2489200" y="5143351"/>
            <a:ext cx="894740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F1EA"/>
                </a:solidFill>
                <a:latin typeface="IBM Plex Sans" pitchFamily="34" charset="0"/>
                <a:ea typeface="IBM Plex Sans" pitchFamily="34" charset="-122"/>
                <a:cs typeface="IBM Plex Sans" pitchFamily="34" charset="-120"/>
              </a:rPr>
              <a:t>Approve the metrology framing, the engine as an accelerator only, and these gate rules</a:t>
            </a:r>
            <a:endParaRPr lang="en-US" sz="1300" dirty="0"/>
          </a:p>
        </p:txBody>
      </p:sp>
      <p:sp>
        <p:nvSpPr>
          <p:cNvPr id="16" name="Text 13"/>
          <p:cNvSpPr/>
          <p:nvPr/>
        </p:nvSpPr>
        <p:spPr>
          <a:xfrm>
            <a:off x="812800" y="6238280"/>
            <a:ext cx="2929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NSF 26-512</a:t>
            </a:r>
            <a:endParaRPr lang="en-US" sz="1200" dirty="0"/>
          </a:p>
        </p:txBody>
      </p:sp>
      <p:sp>
        <p:nvSpPr>
          <p:cNvPr id="17" name="Text 1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FINDINGS ON EXISTING DATA · INDEX</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Seven findings on one tool build, each read as Purpose, Setting, Result, Conclusion</a:t>
            </a:r>
            <a:endParaRPr lang="en-US" sz="2800" dirty="0"/>
          </a:p>
        </p:txBody>
      </p:sp>
      <p:sp>
        <p:nvSpPr>
          <p:cNvPr id="4" name="Shape 2"/>
          <p:cNvSpPr/>
          <p:nvPr/>
        </p:nvSpPr>
        <p:spPr>
          <a:xfrm>
            <a:off x="815975" y="2105223"/>
            <a:ext cx="2849761" cy="3299271"/>
          </a:xfrm>
          <a:prstGeom prst="roundRect">
            <a:avLst>
              <a:gd name="adj" fmla="val 3454"/>
            </a:avLst>
          </a:prstGeom>
          <a:solidFill>
            <a:srgbClr val="FFFDF8"/>
          </a:solidFill>
          <a:ln w="6350">
            <a:solidFill>
              <a:srgbClr val="DAD6CB"/>
            </a:solidFill>
            <a:prstDash val="solid"/>
          </a:ln>
        </p:spPr>
      </p:sp>
      <p:sp>
        <p:nvSpPr>
          <p:cNvPr id="5" name="Text 3"/>
          <p:cNvSpPr/>
          <p:nvPr/>
        </p:nvSpPr>
        <p:spPr>
          <a:xfrm>
            <a:off x="1022350" y="2311598"/>
            <a:ext cx="25101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FOUNDATION</a:t>
            </a:r>
            <a:endParaRPr lang="en-US" sz="1200" dirty="0"/>
          </a:p>
        </p:txBody>
      </p:sp>
      <p:sp>
        <p:nvSpPr>
          <p:cNvPr id="6" name="Text 4"/>
          <p:cNvSpPr/>
          <p:nvPr/>
        </p:nvSpPr>
        <p:spPr>
          <a:xfrm>
            <a:off x="1022350" y="2613819"/>
            <a:ext cx="2510121"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F1</a:t>
            </a:r>
            <a:r>
              <a:rPr lang="en-US" sz="1300" dirty="0">
                <a:solidFill>
                  <a:srgbClr val="3F4A5C"/>
                </a:solidFill>
                <a:latin typeface="IBM Plex Sans" pitchFamily="34" charset="0"/>
                <a:ea typeface="IBM Plex Sans" pitchFamily="34" charset="-122"/>
                <a:cs typeface="IBM Plex Sans" pitchFamily="34" charset="-120"/>
              </a:rPr>
              <a:t> · The existing data hold real events: every thrust runs without new collection</a:t>
            </a:r>
            <a:endParaRPr lang="en-US" sz="1300" dirty="0"/>
          </a:p>
        </p:txBody>
      </p:sp>
      <p:sp>
        <p:nvSpPr>
          <p:cNvPr id="7" name="Shape 5"/>
          <p:cNvSpPr/>
          <p:nvPr/>
        </p:nvSpPr>
        <p:spPr>
          <a:xfrm>
            <a:off x="3821311" y="2102048"/>
            <a:ext cx="4061966" cy="3305621"/>
          </a:xfrm>
          <a:prstGeom prst="roundRect">
            <a:avLst>
              <a:gd name="adj" fmla="val 3074"/>
            </a:avLst>
          </a:prstGeom>
          <a:solidFill>
            <a:srgbClr val="14213D"/>
          </a:solidFill>
          <a:ln/>
        </p:spPr>
      </p:sp>
      <p:sp>
        <p:nvSpPr>
          <p:cNvPr id="8" name="Text 6"/>
          <p:cNvSpPr/>
          <p:nvPr/>
        </p:nvSpPr>
        <p:spPr>
          <a:xfrm>
            <a:off x="4024511" y="2305248"/>
            <a:ext cx="376523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THE PROBLEM</a:t>
            </a:r>
            <a:endParaRPr lang="en-US" sz="1200" dirty="0"/>
          </a:p>
        </p:txBody>
      </p:sp>
      <p:sp>
        <p:nvSpPr>
          <p:cNvPr id="9" name="Text 7"/>
          <p:cNvSpPr/>
          <p:nvPr/>
        </p:nvSpPr>
        <p:spPr>
          <a:xfrm>
            <a:off x="4024511" y="2607469"/>
            <a:ext cx="3765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36B"/>
                </a:solidFill>
                <a:latin typeface="IBM Plex Sans" pitchFamily="34" charset="0"/>
                <a:ea typeface="IBM Plex Sans" pitchFamily="34" charset="-122"/>
                <a:cs typeface="IBM Plex Sans" pitchFamily="34" charset="-120"/>
              </a:rPr>
              <a:t>F2</a:t>
            </a:r>
            <a:r>
              <a:rPr lang="en-US" sz="1300" dirty="0">
                <a:solidFill>
                  <a:srgbClr val="F4F1EA"/>
                </a:solidFill>
                <a:latin typeface="IBM Plex Sans" pitchFamily="34" charset="0"/>
                <a:ea typeface="IBM Plex Sans" pitchFamily="34" charset="-122"/>
                <a:cs typeface="IBM Plex Sans" pitchFamily="34" charset="-120"/>
              </a:rPr>
              <a:t> · Documentation and behavior disagree on points that change values</a:t>
            </a:r>
            <a:endParaRPr lang="en-US" sz="1300" dirty="0"/>
          </a:p>
        </p:txBody>
      </p:sp>
      <p:sp>
        <p:nvSpPr>
          <p:cNvPr id="10" name="Text 8"/>
          <p:cNvSpPr/>
          <p:nvPr/>
        </p:nvSpPr>
        <p:spPr>
          <a:xfrm>
            <a:off x="4024511" y="3158629"/>
            <a:ext cx="3765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36B"/>
                </a:solidFill>
                <a:latin typeface="IBM Plex Sans" pitchFamily="34" charset="0"/>
                <a:ea typeface="IBM Plex Sans" pitchFamily="34" charset="-122"/>
                <a:cs typeface="IBM Plex Sans" pitchFamily="34" charset="-120"/>
              </a:rPr>
              <a:t>F3</a:t>
            </a:r>
            <a:r>
              <a:rPr lang="en-US" sz="1300" dirty="0">
                <a:solidFill>
                  <a:srgbClr val="F4F1EA"/>
                </a:solidFill>
                <a:latin typeface="IBM Plex Sans" pitchFamily="34" charset="0"/>
                <a:ea typeface="IBM Plex Sans" pitchFamily="34" charset="-122"/>
                <a:cs typeface="IBM Plex Sans" pitchFamily="34" charset="-120"/>
              </a:rPr>
              <a:t> · The sampling setting changes the answer to a simple question</a:t>
            </a:r>
            <a:endParaRPr lang="en-US" sz="1300" dirty="0"/>
          </a:p>
        </p:txBody>
      </p:sp>
      <p:sp>
        <p:nvSpPr>
          <p:cNvPr id="11" name="Text 9"/>
          <p:cNvSpPr/>
          <p:nvPr/>
        </p:nvSpPr>
        <p:spPr>
          <a:xfrm>
            <a:off x="4024511" y="3709789"/>
            <a:ext cx="3765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36B"/>
                </a:solidFill>
                <a:latin typeface="IBM Plex Sans" pitchFamily="34" charset="0"/>
                <a:ea typeface="IBM Plex Sans" pitchFamily="34" charset="-122"/>
                <a:cs typeface="IBM Plex Sans" pitchFamily="34" charset="-120"/>
              </a:rPr>
              <a:t>F4</a:t>
            </a:r>
            <a:r>
              <a:rPr lang="en-US" sz="1300" dirty="0">
                <a:solidFill>
                  <a:srgbClr val="F4F1EA"/>
                </a:solidFill>
                <a:latin typeface="IBM Plex Sans" pitchFamily="34" charset="0"/>
                <a:ea typeface="IBM Plex Sans" pitchFamily="34" charset="-122"/>
                <a:cs typeface="IBM Plex Sans" pitchFamily="34" charset="-120"/>
              </a:rPr>
              <a:t> · Exit code and log look normal while an export writes nothing and rewrites the model</a:t>
            </a:r>
            <a:endParaRPr lang="en-US" sz="1300" dirty="0"/>
          </a:p>
        </p:txBody>
      </p:sp>
      <p:sp>
        <p:nvSpPr>
          <p:cNvPr id="12" name="Text 10"/>
          <p:cNvSpPr/>
          <p:nvPr/>
        </p:nvSpPr>
        <p:spPr>
          <a:xfrm>
            <a:off x="4024511" y="4260949"/>
            <a:ext cx="3765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36B"/>
                </a:solidFill>
                <a:latin typeface="IBM Plex Sans" pitchFamily="34" charset="0"/>
                <a:ea typeface="IBM Plex Sans" pitchFamily="34" charset="-122"/>
                <a:cs typeface="IBM Plex Sans" pitchFamily="34" charset="-120"/>
              </a:rPr>
              <a:t>F5</a:t>
            </a:r>
            <a:r>
              <a:rPr lang="en-US" sz="1300" dirty="0">
                <a:solidFill>
                  <a:srgbClr val="F4F1EA"/>
                </a:solidFill>
                <a:latin typeface="IBM Plex Sans" pitchFamily="34" charset="0"/>
                <a:ea typeface="IBM Plex Sans" pitchFamily="34" charset="-122"/>
                <a:cs typeface="IBM Plex Sans" pitchFamily="34" charset="-120"/>
              </a:rPr>
              <a:t> · Side effects and the meaning of numbers stay silent</a:t>
            </a:r>
            <a:endParaRPr lang="en-US" sz="1300" dirty="0"/>
          </a:p>
        </p:txBody>
      </p:sp>
      <p:sp>
        <p:nvSpPr>
          <p:cNvPr id="13" name="Shape 11"/>
          <p:cNvSpPr/>
          <p:nvPr/>
        </p:nvSpPr>
        <p:spPr>
          <a:xfrm>
            <a:off x="8038852" y="2105223"/>
            <a:ext cx="3337173" cy="3299271"/>
          </a:xfrm>
          <a:prstGeom prst="roundRect">
            <a:avLst>
              <a:gd name="adj" fmla="val 2983"/>
            </a:avLst>
          </a:prstGeom>
          <a:solidFill>
            <a:srgbClr val="FFFDF8"/>
          </a:solidFill>
          <a:ln w="6350">
            <a:solidFill>
              <a:srgbClr val="DAD6CB"/>
            </a:solidFill>
            <a:prstDash val="solid"/>
          </a:ln>
        </p:spPr>
      </p:sp>
      <p:sp>
        <p:nvSpPr>
          <p:cNvPr id="14" name="Text 12"/>
          <p:cNvSpPr/>
          <p:nvPr/>
        </p:nvSpPr>
        <p:spPr>
          <a:xfrm>
            <a:off x="8245227" y="2311598"/>
            <a:ext cx="30121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BM Plex Sans" pitchFamily="34" charset="0"/>
                <a:ea typeface="IBM Plex Sans" pitchFamily="34" charset="-122"/>
                <a:cs typeface="IBM Plex Sans" pitchFamily="34" charset="-120"/>
              </a:rPr>
              <a:t>THE WAY FORWARD</a:t>
            </a:r>
            <a:endParaRPr lang="en-US" sz="1200" dirty="0"/>
          </a:p>
        </p:txBody>
      </p:sp>
      <p:sp>
        <p:nvSpPr>
          <p:cNvPr id="15" name="Text 13"/>
          <p:cNvSpPr/>
          <p:nvPr/>
        </p:nvSpPr>
        <p:spPr>
          <a:xfrm>
            <a:off x="8245227" y="2613819"/>
            <a:ext cx="3012156"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F6</a:t>
            </a:r>
            <a:r>
              <a:rPr lang="en-US" sz="1300" dirty="0">
                <a:solidFill>
                  <a:srgbClr val="3F4A5C"/>
                </a:solidFill>
                <a:latin typeface="IBM Plex Sans" pitchFamily="34" charset="0"/>
                <a:ea typeface="IBM Plex Sans" pitchFamily="34" charset="-122"/>
                <a:cs typeface="IBM Plex Sans" pitchFamily="34" charset="-120"/>
              </a:rPr>
              <a:t> · Our reader matches the tool's record counts; independent value checks are next</a:t>
            </a:r>
            <a:endParaRPr lang="en-US" sz="1300" dirty="0"/>
          </a:p>
        </p:txBody>
      </p:sp>
      <p:sp>
        <p:nvSpPr>
          <p:cNvPr id="16" name="Text 14"/>
          <p:cNvSpPr/>
          <p:nvPr/>
        </p:nvSpPr>
        <p:spPr>
          <a:xfrm>
            <a:off x="8245227" y="3396109"/>
            <a:ext cx="3012156"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F7</a:t>
            </a:r>
            <a:r>
              <a:rPr lang="en-US" sz="1300" dirty="0">
                <a:solidFill>
                  <a:srgbClr val="3F4A5C"/>
                </a:solidFill>
                <a:latin typeface="IBM Plex Sans" pitchFamily="34" charset="0"/>
                <a:ea typeface="IBM Plex Sans" pitchFamily="34" charset="-122"/>
                <a:cs typeface="IBM Plex Sans" pitchFamily="34" charset="-120"/>
              </a:rPr>
              <a:t> · For AI readers the gap is meaning: the tool's semantics are in no public text the model found</a:t>
            </a:r>
            <a:endParaRPr lang="en-US" sz="1300" dirty="0"/>
          </a:p>
        </p:txBody>
      </p:sp>
      <p:sp>
        <p:nvSpPr>
          <p:cNvPr id="17" name="Text 15"/>
          <p:cNvSpPr/>
          <p:nvPr/>
        </p:nvSpPr>
        <p:spPr>
          <a:xfrm>
            <a:off x="812800" y="56108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Scope</a:t>
            </a:r>
            <a:r>
              <a:rPr lang="en-US" sz="1300" dirty="0">
                <a:solidFill>
                  <a:srgbClr val="14213D"/>
                </a:solidFill>
                <a:latin typeface="IBM Plex Sans" pitchFamily="34" charset="0"/>
                <a:ea typeface="IBM Plex Sans" pitchFamily="34" charset="-122"/>
                <a:cs typeface="IBM Plex Sans" pitchFamily="34" charset="-120"/>
              </a:rPr>
              <a:t> · Accuver XCAP-M 5.33.0.15, XCAL logs (LTE and NR), Aug-Sept 2026. Other tools [to be tested].</a:t>
            </a:r>
            <a:endParaRPr lang="en-US" sz="1300" dirty="0"/>
          </a:p>
        </p:txBody>
      </p:sp>
      <p:sp>
        <p:nvSpPr>
          <p:cNvPr id="18" name="Text 16"/>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9"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DATA IN HAND</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Our pilot set: small radio volume, with same-session application ground truth</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38548"/>
          <a:ext cx="10553700" cy="3271044"/>
        </p:xfrm>
        <a:graphic>
          <a:graphicData uri="http://schemas.openxmlformats.org/drawingml/2006/table">
            <a:tbl>
              <a:tblPr/>
              <a:tblGrid>
                <a:gridCol w="2005203"/>
                <a:gridCol w="2743962"/>
                <a:gridCol w="3060573"/>
                <a:gridCol w="2743962"/>
              </a:tblGrid>
              <a:tr h="3149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Dataset</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Holds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Scale</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Time base</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282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Radio, ping batch</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chipset diagnostic logs, GUI-built models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15 traces, 15.3 GB</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export = container − 18,000 s; inner − outer 18.4755 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82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Radio, streaming</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chipset logs, command-line model</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65.5 MB; 398 s [30.3-min trace to confirm]</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export = chipset − 18,000 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82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Radio, teleop</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chipset logs, 2 runs, command-line model</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400.6 MB; 1,776 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export = chipset time (0 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82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Streaming app logs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receiver + transmitter metrics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195 receiver files (81,605 rows) + 220 transmitter files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seconds since boot</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82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Teleop app logs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WebRTC stats (43 fields), video</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813 .ivf, 73,714 frames, 602 stalls; downlink only</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Unix ms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149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Camera recordings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[sensors, sites, hours, format]</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[clock; overlap with radio sessions?]</a:t>
                      </a:r>
                      <a:endParaRPr lang="en-US" sz="1200" dirty="0">
                        <a:latin typeface="IBM Plex Sans" charset="0"/>
                        <a:ea typeface="IBM Plex Sans" charset="0"/>
                        <a:cs typeface="IBM Plex Sans" charset="0"/>
                      </a:endParaRPr>
                    </a:p>
                  </a:txBody>
                  <a:tcPr marL="88900" marR="889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Shape 2"/>
          <p:cNvSpPr/>
          <p:nvPr/>
        </p:nvSpPr>
        <p:spPr>
          <a:xfrm>
            <a:off x="831850" y="5436592"/>
            <a:ext cx="0" cy="307330"/>
          </a:xfrm>
          <a:prstGeom prst="line">
            <a:avLst/>
          </a:prstGeom>
          <a:noFill/>
          <a:ln w="38100">
            <a:solidFill>
              <a:srgbClr val="B4441A"/>
            </a:solidFill>
            <a:prstDash val="solid"/>
          </a:ln>
        </p:spPr>
      </p:sp>
      <p:sp>
        <p:nvSpPr>
          <p:cNvPr id="6" name="Text 3"/>
          <p:cNvSpPr/>
          <p:nvPr/>
        </p:nvSpPr>
        <p:spPr>
          <a:xfrm>
            <a:off x="1016000" y="5487392"/>
            <a:ext cx="7275489"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4441A"/>
                </a:solidFill>
                <a:latin typeface="IBM Plex Sans" pitchFamily="34" charset="0"/>
                <a:ea typeface="IBM Plex Sans" pitchFamily="34" charset="-122"/>
                <a:cs typeface="IBM Plex Sans" pitchFamily="34" charset="-120"/>
              </a:rPr>
              <a:t>To reconcile by Oct 14</a:t>
            </a:r>
            <a:r>
              <a:rPr lang="en-US" sz="1200" dirty="0">
                <a:solidFill>
                  <a:srgbClr val="14213D"/>
                </a:solidFill>
                <a:latin typeface="IBM Plex Sans" pitchFamily="34" charset="0"/>
                <a:ea typeface="IBM Plex Sans" pitchFamily="34" charset="-122"/>
                <a:cs typeface="IBM Plex Sans" pitchFamily="34" charset="-120"/>
              </a:rPr>
              <a:t> · 15 traces vs 16 .drm headers vs the 8-trace 3.3 GB census: one dated manifest</a:t>
            </a:r>
            <a:endParaRPr lang="en-US" sz="1200" dirty="0"/>
          </a:p>
        </p:txBody>
      </p:sp>
      <p:sp>
        <p:nvSpPr>
          <p:cNvPr id="7" name="Text 4"/>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8" name="Text 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F1 · FOUNDATION</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The existing data already hold real events, so nothing new needs to be collected</a:t>
            </a:r>
            <a:endParaRPr lang="en-US" sz="2800" dirty="0"/>
          </a:p>
        </p:txBody>
      </p:sp>
      <p:sp>
        <p:nvSpPr>
          <p:cNvPr id="4" name="Shape 2"/>
          <p:cNvSpPr/>
          <p:nvPr/>
        </p:nvSpPr>
        <p:spPr>
          <a:xfrm>
            <a:off x="812800" y="2035373"/>
            <a:ext cx="3556000" cy="0"/>
          </a:xfrm>
          <a:prstGeom prst="line">
            <a:avLst/>
          </a:prstGeom>
          <a:noFill/>
          <a:ln w="19050">
            <a:solidFill>
              <a:srgbClr val="14213D"/>
            </a:solidFill>
            <a:prstDash val="solid"/>
          </a:ln>
        </p:spPr>
      </p:sp>
      <p:sp>
        <p:nvSpPr>
          <p:cNvPr id="5" name="Text 3"/>
          <p:cNvSpPr/>
          <p:nvPr/>
        </p:nvSpPr>
        <p:spPr>
          <a:xfrm>
            <a:off x="812800" y="2146498"/>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812800" y="2410619"/>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Do our existing traces hold enough real events, or would new collection be needed?</a:t>
            </a:r>
            <a:endParaRPr lang="en-US" sz="1300" dirty="0"/>
          </a:p>
        </p:txBody>
      </p:sp>
      <p:sp>
        <p:nvSpPr>
          <p:cNvPr id="7" name="Shape 5"/>
          <p:cNvSpPr/>
          <p:nvPr/>
        </p:nvSpPr>
        <p:spPr>
          <a:xfrm>
            <a:off x="812800" y="3060204"/>
            <a:ext cx="3556000" cy="0"/>
          </a:xfrm>
          <a:prstGeom prst="line">
            <a:avLst/>
          </a:prstGeom>
          <a:noFill/>
          <a:ln w="19050">
            <a:solidFill>
              <a:srgbClr val="14213D"/>
            </a:solidFill>
            <a:prstDash val="solid"/>
          </a:ln>
        </p:spPr>
      </p:sp>
      <p:sp>
        <p:nvSpPr>
          <p:cNvPr id="8" name="Text 6"/>
          <p:cNvSpPr/>
          <p:nvPr/>
        </p:nvSpPr>
        <p:spPr>
          <a:xfrm>
            <a:off x="812800" y="3171329"/>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9" name="Text 7"/>
          <p:cNvSpPr/>
          <p:nvPr/>
        </p:nvSpPr>
        <p:spPr>
          <a:xfrm>
            <a:off x="812800" y="3435449"/>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3 existing traces (1 streaming, 2 teleop) + WebRTC and video logs; the ping batch for handovers</a:t>
            </a:r>
            <a:endParaRPr lang="en-US" sz="1300" dirty="0"/>
          </a:p>
        </p:txBody>
      </p:sp>
      <p:sp>
        <p:nvSpPr>
          <p:cNvPr id="10" name="Shape 8"/>
          <p:cNvSpPr/>
          <p:nvPr/>
        </p:nvSpPr>
        <p:spPr>
          <a:xfrm>
            <a:off x="4673600" y="2035373"/>
            <a:ext cx="6705600" cy="0"/>
          </a:xfrm>
          <a:prstGeom prst="line">
            <a:avLst/>
          </a:prstGeom>
          <a:noFill/>
          <a:ln w="19050">
            <a:solidFill>
              <a:srgbClr val="14213D"/>
            </a:solidFill>
            <a:prstDash val="solid"/>
          </a:ln>
        </p:spPr>
      </p:sp>
      <p:sp>
        <p:nvSpPr>
          <p:cNvPr id="11" name="Text 9"/>
          <p:cNvSpPr/>
          <p:nvPr/>
        </p:nvSpPr>
        <p:spPr>
          <a:xfrm>
            <a:off x="4673600" y="2146498"/>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RESULT</a:t>
            </a:r>
            <a:endParaRPr lang="en-US" sz="1200" dirty="0"/>
          </a:p>
        </p:txBody>
      </p:sp>
      <p:sp>
        <p:nvSpPr>
          <p:cNvPr id="12" name="Shape 10"/>
          <p:cNvSpPr/>
          <p:nvPr/>
        </p:nvSpPr>
        <p:spPr>
          <a:xfrm>
            <a:off x="4673600" y="2426494"/>
            <a:ext cx="6705600" cy="0"/>
          </a:xfrm>
          <a:prstGeom prst="line">
            <a:avLst/>
          </a:prstGeom>
          <a:noFill/>
          <a:ln w="6350">
            <a:solidFill>
              <a:srgbClr val="DAD6CB"/>
            </a:solidFill>
            <a:prstDash val="solid"/>
          </a:ln>
        </p:spPr>
      </p:sp>
      <p:sp>
        <p:nvSpPr>
          <p:cNvPr id="13" name="Text 11"/>
          <p:cNvSpPr/>
          <p:nvPr/>
        </p:nvSpPr>
        <p:spPr>
          <a:xfrm>
            <a:off x="4673600" y="2480469"/>
            <a:ext cx="1574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E8C"/>
                </a:solidFill>
                <a:latin typeface="IBM Plex Sans" pitchFamily="34" charset="0"/>
                <a:ea typeface="IBM Plex Sans" pitchFamily="34" charset="-122"/>
                <a:cs typeface="IBM Plex Sans" pitchFamily="34" charset="-120"/>
              </a:rPr>
              <a:t>57 · 90 · 51</a:t>
            </a:r>
            <a:endParaRPr lang="en-US" sz="1600" dirty="0"/>
          </a:p>
        </p:txBody>
      </p:sp>
      <p:sp>
        <p:nvSpPr>
          <p:cNvPr id="14" name="Text 12"/>
          <p:cNvSpPr/>
          <p:nvPr/>
        </p:nvSpPr>
        <p:spPr>
          <a:xfrm>
            <a:off x="6350000" y="2503339"/>
            <a:ext cx="51800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windows ≥10 dB below each trace's own median (needed 20)</a:t>
            </a:r>
            <a:endParaRPr lang="en-US" sz="1200" dirty="0"/>
          </a:p>
        </p:txBody>
      </p:sp>
      <p:sp>
        <p:nvSpPr>
          <p:cNvPr id="15" name="Shape 13"/>
          <p:cNvSpPr/>
          <p:nvPr/>
        </p:nvSpPr>
        <p:spPr>
          <a:xfrm>
            <a:off x="4673600" y="2765574"/>
            <a:ext cx="6705600" cy="0"/>
          </a:xfrm>
          <a:prstGeom prst="line">
            <a:avLst/>
          </a:prstGeom>
          <a:noFill/>
          <a:ln w="6350">
            <a:solidFill>
              <a:srgbClr val="DAD6CB"/>
            </a:solidFill>
            <a:prstDash val="solid"/>
          </a:ln>
        </p:spPr>
      </p:sp>
      <p:sp>
        <p:nvSpPr>
          <p:cNvPr id="16" name="Text 14"/>
          <p:cNvSpPr/>
          <p:nvPr/>
        </p:nvSpPr>
        <p:spPr>
          <a:xfrm>
            <a:off x="4673600" y="2895699"/>
            <a:ext cx="1574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E8C"/>
                </a:solidFill>
                <a:latin typeface="IBM Plex Sans" pitchFamily="34" charset="0"/>
                <a:ea typeface="IBM Plex Sans" pitchFamily="34" charset="-122"/>
                <a:cs typeface="IBM Plex Sans" pitchFamily="34" charset="-120"/>
              </a:rPr>
              <a:t>13 of 24</a:t>
            </a:r>
            <a:endParaRPr lang="en-US" sz="1600" dirty="0"/>
          </a:p>
        </p:txBody>
      </p:sp>
      <p:sp>
        <p:nvSpPr>
          <p:cNvPr id="17" name="Text 15"/>
          <p:cNvSpPr/>
          <p:nvPr/>
        </p:nvSpPr>
        <p:spPr>
          <a:xfrm>
            <a:off x="6350000" y="2819549"/>
            <a:ext cx="518007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target phenomena covered by detectors that can return zero (9 gauge/counter, 4 verified event classes)</a:t>
            </a:r>
            <a:endParaRPr lang="en-US" sz="1200" dirty="0"/>
          </a:p>
        </p:txBody>
      </p:sp>
      <p:sp>
        <p:nvSpPr>
          <p:cNvPr id="18" name="Shape 16"/>
          <p:cNvSpPr/>
          <p:nvPr/>
        </p:nvSpPr>
        <p:spPr>
          <a:xfrm>
            <a:off x="4673600" y="3257004"/>
            <a:ext cx="6705600" cy="0"/>
          </a:xfrm>
          <a:prstGeom prst="line">
            <a:avLst/>
          </a:prstGeom>
          <a:noFill/>
          <a:ln w="6350">
            <a:solidFill>
              <a:srgbClr val="DAD6CB"/>
            </a:solidFill>
            <a:prstDash val="solid"/>
          </a:ln>
        </p:spPr>
      </p:sp>
      <p:sp>
        <p:nvSpPr>
          <p:cNvPr id="19" name="Text 17"/>
          <p:cNvSpPr/>
          <p:nvPr/>
        </p:nvSpPr>
        <p:spPr>
          <a:xfrm>
            <a:off x="4673600" y="3310979"/>
            <a:ext cx="1574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E8C"/>
                </a:solidFill>
                <a:latin typeface="IBM Plex Sans" pitchFamily="34" charset="0"/>
                <a:ea typeface="IBM Plex Sans" pitchFamily="34" charset="-122"/>
                <a:cs typeface="IBM Plex Sans" pitchFamily="34" charset="-120"/>
              </a:rPr>
              <a:t>602</a:t>
            </a:r>
            <a:endParaRPr lang="en-US" sz="1600" dirty="0"/>
          </a:p>
        </p:txBody>
      </p:sp>
      <p:sp>
        <p:nvSpPr>
          <p:cNvPr id="20" name="Text 18"/>
          <p:cNvSpPr/>
          <p:nvPr/>
        </p:nvSpPr>
        <p:spPr>
          <a:xfrm>
            <a:off x="6350000" y="3333849"/>
            <a:ext cx="51800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real video stalls; 73,714 video frames walked, zero exceptions</a:t>
            </a:r>
            <a:endParaRPr lang="en-US" sz="1200" dirty="0"/>
          </a:p>
        </p:txBody>
      </p:sp>
      <p:sp>
        <p:nvSpPr>
          <p:cNvPr id="21" name="Shape 19"/>
          <p:cNvSpPr/>
          <p:nvPr/>
        </p:nvSpPr>
        <p:spPr>
          <a:xfrm>
            <a:off x="4673600" y="3596084"/>
            <a:ext cx="6705600" cy="0"/>
          </a:xfrm>
          <a:prstGeom prst="line">
            <a:avLst/>
          </a:prstGeom>
          <a:noFill/>
          <a:ln w="6350">
            <a:solidFill>
              <a:srgbClr val="DAD6CB"/>
            </a:solidFill>
            <a:prstDash val="solid"/>
          </a:ln>
        </p:spPr>
      </p:sp>
      <p:sp>
        <p:nvSpPr>
          <p:cNvPr id="22" name="Text 20"/>
          <p:cNvSpPr/>
          <p:nvPr/>
        </p:nvSpPr>
        <p:spPr>
          <a:xfrm>
            <a:off x="4673600" y="3726210"/>
            <a:ext cx="1574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E8C"/>
                </a:solidFill>
                <a:latin typeface="IBM Plex Sans" pitchFamily="34" charset="0"/>
                <a:ea typeface="IBM Plex Sans" pitchFamily="34" charset="-122"/>
                <a:cs typeface="IBM Plex Sans" pitchFamily="34" charset="-120"/>
              </a:rPr>
              <a:t>62</a:t>
            </a:r>
            <a:endParaRPr lang="en-US" sz="1600" dirty="0"/>
          </a:p>
        </p:txBody>
      </p:sp>
      <p:sp>
        <p:nvSpPr>
          <p:cNvPr id="23" name="Text 21"/>
          <p:cNvSpPr/>
          <p:nvPr/>
        </p:nvSpPr>
        <p:spPr>
          <a:xfrm>
            <a:off x="6350000" y="3650059"/>
            <a:ext cx="518007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handovers, from 124 handover records; ping: 2,151 name-matched records = 37 attempts</a:t>
            </a:r>
            <a:endParaRPr lang="en-US" sz="1200" dirty="0"/>
          </a:p>
        </p:txBody>
      </p:sp>
      <p:sp>
        <p:nvSpPr>
          <p:cNvPr id="24" name="Shape 22"/>
          <p:cNvSpPr/>
          <p:nvPr/>
        </p:nvSpPr>
        <p:spPr>
          <a:xfrm>
            <a:off x="4673600" y="4087515"/>
            <a:ext cx="6705600" cy="0"/>
          </a:xfrm>
          <a:prstGeom prst="line">
            <a:avLst/>
          </a:prstGeom>
          <a:noFill/>
          <a:ln w="6350">
            <a:solidFill>
              <a:srgbClr val="DAD6CB"/>
            </a:solidFill>
            <a:prstDash val="solid"/>
          </a:ln>
        </p:spPr>
      </p:sp>
      <p:sp>
        <p:nvSpPr>
          <p:cNvPr id="25" name="Text 23"/>
          <p:cNvSpPr/>
          <p:nvPr/>
        </p:nvSpPr>
        <p:spPr>
          <a:xfrm>
            <a:off x="4673600" y="4217640"/>
            <a:ext cx="1574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A"/>
                </a:solidFill>
                <a:latin typeface="IBM Plex Sans" pitchFamily="34" charset="0"/>
                <a:ea typeface="IBM Plex Sans" pitchFamily="34" charset="-122"/>
                <a:cs typeface="IBM Plex Sans" pitchFamily="34" charset="-120"/>
              </a:rPr>
              <a:t>44 vs 46</a:t>
            </a:r>
            <a:endParaRPr lang="en-US" sz="1600" dirty="0"/>
          </a:p>
        </p:txBody>
      </p:sp>
      <p:sp>
        <p:nvSpPr>
          <p:cNvPr id="26" name="Text 24"/>
          <p:cNvSpPr/>
          <p:nvPr/>
        </p:nvSpPr>
        <p:spPr>
          <a:xfrm>
            <a:off x="6350000" y="4141490"/>
            <a:ext cx="518007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C"/>
                </a:solidFill>
                <a:latin typeface="IBM Plex Sans" pitchFamily="34" charset="0"/>
                <a:ea typeface="IBM Plex Sans" pitchFamily="34" charset="-122"/>
                <a:cs typeface="IBM Plex Sans" pitchFamily="34" charset="-120"/>
              </a:rPr>
              <a:t>link failures in ping: two counts disagree, </a:t>
            </a:r>
            <a:r>
              <a:rPr lang="en-US" sz="1200" dirty="0">
                <a:solidFill>
                  <a:srgbClr val="B4441A"/>
                </a:solidFill>
                <a:latin typeface="IBM Plex Sans" pitchFamily="34" charset="0"/>
                <a:ea typeface="IBM Plex Sans" pitchFamily="34" charset="-122"/>
                <a:cs typeface="IBM Plex Sans" pitchFamily="34" charset="-120"/>
              </a:rPr>
              <a:t>unresolved</a:t>
            </a:r>
            <a:r>
              <a:rPr lang="en-US" sz="1200" dirty="0">
                <a:solidFill>
                  <a:srgbClr val="3F4A5C"/>
                </a:solidFill>
                <a:latin typeface="IBM Plex Sans" pitchFamily="34" charset="0"/>
                <a:ea typeface="IBM Plex Sans" pitchFamily="34" charset="-122"/>
                <a:cs typeface="IBM Plex Sans" pitchFamily="34" charset="-120"/>
              </a:rPr>
              <a:t>; absent in the 2 new traces</a:t>
            </a:r>
            <a:endParaRPr lang="en-US" sz="1200" dirty="0"/>
          </a:p>
        </p:txBody>
      </p:sp>
      <p:sp>
        <p:nvSpPr>
          <p:cNvPr id="27" name="Shape 25"/>
          <p:cNvSpPr/>
          <p:nvPr/>
        </p:nvSpPr>
        <p:spPr>
          <a:xfrm>
            <a:off x="812800" y="5039420"/>
            <a:ext cx="10566400" cy="802580"/>
          </a:xfrm>
          <a:prstGeom prst="roundRect">
            <a:avLst>
              <a:gd name="adj" fmla="val 12659"/>
            </a:avLst>
          </a:prstGeom>
          <a:solidFill>
            <a:srgbClr val="14213D"/>
          </a:solidFill>
          <a:ln/>
        </p:spPr>
      </p:sp>
      <p:sp>
        <p:nvSpPr>
          <p:cNvPr id="28" name="Text 26"/>
          <p:cNvSpPr/>
          <p:nvPr/>
        </p:nvSpPr>
        <p:spPr>
          <a:xfrm>
            <a:off x="1016000" y="51918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29" name="Text 27"/>
          <p:cNvSpPr/>
          <p:nvPr/>
        </p:nvSpPr>
        <p:spPr>
          <a:xfrm>
            <a:off x="2489200" y="5191820"/>
            <a:ext cx="894740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Every thrust runs on held data; questions needing packet capture, new link failures or the uplink loop are labeled out of scope.</a:t>
            </a:r>
            <a:endParaRPr lang="en-US" sz="1400" dirty="0"/>
          </a:p>
        </p:txBody>
      </p:sp>
      <p:sp>
        <p:nvSpPr>
          <p:cNvPr id="30" name="Text 28"/>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31"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F2 · DOCUMENTATION VS BEHAVIOR</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Documentation and behavior disagree on points that change values</a:t>
            </a:r>
            <a:endParaRPr lang="en-US" sz="2800" dirty="0"/>
          </a:p>
        </p:txBody>
      </p:sp>
      <p:sp>
        <p:nvSpPr>
          <p:cNvPr id="4" name="Shape 2"/>
          <p:cNvSpPr/>
          <p:nvPr/>
        </p:nvSpPr>
        <p:spPr>
          <a:xfrm>
            <a:off x="812800" y="2009973"/>
            <a:ext cx="10566400" cy="0"/>
          </a:xfrm>
          <a:prstGeom prst="line">
            <a:avLst/>
          </a:prstGeom>
          <a:noFill/>
          <a:ln w="19050">
            <a:solidFill>
              <a:srgbClr val="14213D"/>
            </a:solidFill>
            <a:prstDash val="solid"/>
          </a:ln>
        </p:spPr>
      </p:sp>
      <p:sp>
        <p:nvSpPr>
          <p:cNvPr id="5" name="Text 3"/>
          <p:cNvSpPr/>
          <p:nvPr/>
        </p:nvSpPr>
        <p:spPr>
          <a:xfrm>
            <a:off x="812800" y="2095698"/>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1981200" y="2095698"/>
            <a:ext cx="9679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Can a dataset’s procedure be copied from the tool’s documentation, or must it be measured?</a:t>
            </a:r>
            <a:endParaRPr lang="en-US" sz="1200" dirty="0"/>
          </a:p>
        </p:txBody>
      </p:sp>
      <p:sp>
        <p:nvSpPr>
          <p:cNvPr id="7" name="Text 5"/>
          <p:cNvSpPr/>
          <p:nvPr/>
        </p:nvSpPr>
        <p:spPr>
          <a:xfrm>
            <a:off x="812800" y="2359819"/>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8" name="Text 6"/>
          <p:cNvSpPr/>
          <p:nvPr/>
        </p:nvSpPr>
        <p:spPr>
          <a:xfrm>
            <a:off x="1981200" y="2359819"/>
            <a:ext cx="9679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XCAP-M 5.33.0.15, Sept 2026; each documented claim tested against the live tool or decoded files.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687439"/>
          <a:ext cx="10553700" cy="2328763"/>
        </p:xfrm>
        <a:graphic>
          <a:graphicData uri="http://schemas.openxmlformats.org/drawingml/2006/table">
            <a:tbl>
              <a:tblPr/>
              <a:tblGrid>
                <a:gridCol w="3904869"/>
                <a:gridCol w="6648831"/>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Documentation says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We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Legend: ‘All’ statistics include a median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Stored block: count, min, max, mean, stdev, sum, Σx²; no median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Help: 8 binning methods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live tool offers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Two official docs define Mode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They disagree, and each is only half right (position rule seen in 1 bin)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Docs: sampling range ‘5 sec ~ 10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11 settings, maximum 10 Sec, default 1 Sec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Per-parameter rule table, 1,171 parameters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428 rules blank; their meaning is undocumented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About box: 5.33.0.15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PDB build paths of the four main binaries: 5.33.0.9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0" name="Shape 7"/>
          <p:cNvSpPr/>
          <p:nvPr/>
        </p:nvSpPr>
        <p:spPr>
          <a:xfrm>
            <a:off x="812800" y="5288310"/>
            <a:ext cx="10566400" cy="553690"/>
          </a:xfrm>
          <a:prstGeom prst="roundRect">
            <a:avLst>
              <a:gd name="adj" fmla="val 18350"/>
            </a:avLst>
          </a:prstGeom>
          <a:solidFill>
            <a:srgbClr val="14213D"/>
          </a:solidFill>
          <a:ln/>
        </p:spPr>
      </p:sp>
      <p:sp>
        <p:nvSpPr>
          <p:cNvPr id="11" name="Text 8"/>
          <p:cNvSpPr/>
          <p:nvPr/>
        </p:nvSpPr>
        <p:spPr>
          <a:xfrm>
            <a:off x="1016000" y="5440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12" name="Text 9"/>
          <p:cNvSpPr/>
          <p:nvPr/>
        </p:nvSpPr>
        <p:spPr>
          <a:xfrm>
            <a:off x="2489200" y="5440710"/>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The procedure must be measured, not transcribed; every catalog entry is dated and build-pinned.</a:t>
            </a:r>
            <a:endParaRPr lang="en-US" sz="1400" dirty="0"/>
          </a:p>
        </p:txBody>
      </p:sp>
      <p:sp>
        <p:nvSpPr>
          <p:cNvPr id="13" name="Text 10"/>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F3 · CONFIGURATION</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The sampling setting changes the answer to a simple question</a:t>
            </a:r>
            <a:endParaRPr lang="en-US" sz="2800" dirty="0"/>
          </a:p>
        </p:txBody>
      </p:sp>
      <p:sp>
        <p:nvSpPr>
          <p:cNvPr id="4" name="Shape 2"/>
          <p:cNvSpPr/>
          <p:nvPr/>
        </p:nvSpPr>
        <p:spPr>
          <a:xfrm>
            <a:off x="812800" y="1637109"/>
            <a:ext cx="3556000" cy="0"/>
          </a:xfrm>
          <a:prstGeom prst="line">
            <a:avLst/>
          </a:prstGeom>
          <a:noFill/>
          <a:ln w="19050">
            <a:solidFill>
              <a:srgbClr val="14213D"/>
            </a:solidFill>
            <a:prstDash val="solid"/>
          </a:ln>
        </p:spPr>
      </p:sp>
      <p:sp>
        <p:nvSpPr>
          <p:cNvPr id="5" name="Text 3"/>
          <p:cNvSpPr/>
          <p:nvPr/>
        </p:nvSpPr>
        <p:spPr>
          <a:xfrm>
            <a:off x="812800" y="1748234"/>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812800" y="2012355"/>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Does the answer to a simple question depend on an analysis setting?</a:t>
            </a:r>
            <a:endParaRPr lang="en-US" sz="1300" dirty="0"/>
          </a:p>
        </p:txBody>
      </p:sp>
      <p:sp>
        <p:nvSpPr>
          <p:cNvPr id="7" name="Shape 5"/>
          <p:cNvSpPr/>
          <p:nvPr/>
        </p:nvSpPr>
        <p:spPr>
          <a:xfrm>
            <a:off x="812800" y="2661940"/>
            <a:ext cx="3556000" cy="0"/>
          </a:xfrm>
          <a:prstGeom prst="line">
            <a:avLst/>
          </a:prstGeom>
          <a:noFill/>
          <a:ln w="19050">
            <a:solidFill>
              <a:srgbClr val="14213D"/>
            </a:solidFill>
            <a:prstDash val="solid"/>
          </a:ln>
        </p:spPr>
      </p:sp>
      <p:sp>
        <p:nvSpPr>
          <p:cNvPr id="8" name="Text 6"/>
          <p:cNvSpPr/>
          <p:nvPr/>
        </p:nvSpPr>
        <p:spPr>
          <a:xfrm>
            <a:off x="812800" y="2773065"/>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9" name="Text 7"/>
          <p:cNvSpPr/>
          <p:nvPr/>
        </p:nvSpPr>
        <p:spPr>
          <a:xfrm>
            <a:off x="812800" y="3037185"/>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One 17-minute ping trace rebuilt as 5 control models at All, 100 ms and 1 Sec; values recorded for All and 1 Sec.</a:t>
            </a:r>
            <a:endParaRPr lang="en-US" sz="1300" dirty="0"/>
          </a:p>
        </p:txBody>
      </p:sp>
      <p:sp>
        <p:nvSpPr>
          <p:cNvPr id="10" name="Shape 8"/>
          <p:cNvSpPr/>
          <p:nvPr/>
        </p:nvSpPr>
        <p:spPr>
          <a:xfrm>
            <a:off x="4673600" y="1637109"/>
            <a:ext cx="6705600" cy="0"/>
          </a:xfrm>
          <a:prstGeom prst="line">
            <a:avLst/>
          </a:prstGeom>
          <a:noFill/>
          <a:ln w="19050">
            <a:solidFill>
              <a:srgbClr val="14213D"/>
            </a:solidFill>
            <a:prstDash val="solid"/>
          </a:ln>
        </p:spPr>
      </p:sp>
      <p:sp>
        <p:nvSpPr>
          <p:cNvPr id="11" name="Text 9"/>
          <p:cNvSpPr/>
          <p:nvPr/>
        </p:nvSpPr>
        <p:spPr>
          <a:xfrm>
            <a:off x="4673600" y="1748234"/>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RESULT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86300" y="2050455"/>
          <a:ext cx="6692900" cy="1211362"/>
        </p:xfrm>
        <a:graphic>
          <a:graphicData uri="http://schemas.openxmlformats.org/drawingml/2006/table">
            <a:tbl>
              <a:tblPr/>
              <a:tblGrid>
                <a:gridCol w="2944876"/>
                <a:gridCol w="1338580"/>
                <a:gridCol w="2409444"/>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Same data, same 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‘All’ 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 Sec (documented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Worst SINR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−20.0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−12.9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Time below −125 dBm [parameter to confirm, likely RSRP]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21.33%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17.00%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3" name="Text 10"/>
          <p:cNvSpPr/>
          <p:nvPr/>
        </p:nvSpPr>
        <p:spPr>
          <a:xfrm>
            <a:off x="4673600" y="3338016"/>
            <a:ext cx="6906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Signaling arrives 8 µs to 9.76 s apart; KPIs sit on a 1 s grid (970 of 1,002 intervals are 1.000 s).</a:t>
            </a:r>
            <a:endParaRPr lang="en-US" sz="1200" dirty="0"/>
          </a:p>
        </p:txBody>
      </p:sp>
      <p:sp>
        <p:nvSpPr>
          <p:cNvPr id="14" name="Text 11"/>
          <p:cNvSpPr/>
          <p:nvPr/>
        </p:nvSpPr>
        <p:spPr>
          <a:xfrm>
            <a:off x="4673600" y="3627537"/>
            <a:ext cx="6906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 rule is set per parameter: average 620, mode 123, blank 428 of 1,171.</a:t>
            </a:r>
            <a:endParaRPr lang="en-US" sz="1200" dirty="0"/>
          </a:p>
        </p:txBody>
      </p:sp>
      <p:sp>
        <p:nvSpPr>
          <p:cNvPr id="15" name="Text 12"/>
          <p:cNvSpPr/>
          <p:nvPr/>
        </p:nvSpPr>
        <p:spPr>
          <a:xfrm>
            <a:off x="4673600" y="3917057"/>
            <a:ext cx="6906768"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372"/>
                </a:solidFill>
                <a:latin typeface="IBM Plex Sans" pitchFamily="34" charset="0"/>
                <a:ea typeface="IBM Plex Sans" pitchFamily="34" charset="-122"/>
                <a:cs typeface="IBM Plex Sans" pitchFamily="34" charset="-120"/>
              </a:rPr>
              <a:t>Scope:</a:t>
            </a:r>
            <a:r>
              <a:rPr lang="en-US" sz="1200" dirty="0">
                <a:solidFill>
                  <a:srgbClr val="5B6372"/>
                </a:solidFill>
                <a:latin typeface="IBM Plex Sans" pitchFamily="34" charset="0"/>
                <a:ea typeface="IBM Plex Sans" pitchFamily="34" charset="-122"/>
                <a:cs typeface="IBM Plex Sans" pitchFamily="34" charset="-120"/>
              </a:rPr>
              <a:t> 3 of 11 settings tested, 2 with values; 1 trace; 1 build. Expected arithmetic, but no release we checked records the full procedure.</a:t>
            </a:r>
            <a:endParaRPr lang="en-US" sz="1200" dirty="0"/>
          </a:p>
        </p:txBody>
      </p:sp>
      <p:sp>
        <p:nvSpPr>
          <p:cNvPr id="16" name="Shape 13"/>
          <p:cNvSpPr/>
          <p:nvPr/>
        </p:nvSpPr>
        <p:spPr>
          <a:xfrm>
            <a:off x="812800" y="5288310"/>
            <a:ext cx="10566400" cy="553690"/>
          </a:xfrm>
          <a:prstGeom prst="roundRect">
            <a:avLst>
              <a:gd name="adj" fmla="val 18350"/>
            </a:avLst>
          </a:prstGeom>
          <a:solidFill>
            <a:srgbClr val="14213D"/>
          </a:solidFill>
          <a:ln/>
        </p:spPr>
      </p:sp>
      <p:sp>
        <p:nvSpPr>
          <p:cNvPr id="17" name="Text 14"/>
          <p:cNvSpPr/>
          <p:nvPr/>
        </p:nvSpPr>
        <p:spPr>
          <a:xfrm>
            <a:off x="1016000" y="5440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18" name="Text 15"/>
          <p:cNvSpPr/>
          <p:nvPr/>
        </p:nvSpPr>
        <p:spPr>
          <a:xfrm>
            <a:off x="2489200" y="5440710"/>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Definitional uncertainty: no single answer until the procedure is stated.</a:t>
            </a:r>
            <a:endParaRPr lang="en-US" sz="1400" dirty="0"/>
          </a:p>
        </p:txBody>
      </p:sp>
      <p:sp>
        <p:nvSpPr>
          <p:cNvPr id="19" name="Text 16"/>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F4 · SUCCESS SIGNALS</a:t>
            </a:r>
            <a:endParaRPr lang="en-US" sz="1200" dirty="0"/>
          </a:p>
        </p:txBody>
      </p:sp>
      <p:sp>
        <p:nvSpPr>
          <p:cNvPr id="3" name="Text 1"/>
          <p:cNvSpPr/>
          <p:nvPr/>
        </p:nvSpPr>
        <p:spPr>
          <a:xfrm>
            <a:off x="812800" y="1102320"/>
            <a:ext cx="10883392" cy="764977"/>
          </a:xfrm>
          <a:prstGeom prst="rect">
            <a:avLst/>
          </a:prstGeom>
          <a:noFill/>
          <a:ln/>
        </p:spPr>
        <p:txBody>
          <a:bodyPr wrap="square" lIns="0" tIns="0" rIns="0" bIns="0" rtlCol="0" anchor="t">
            <a:normAutofit/>
          </a:bodyPr>
          <a:lstStyle/>
          <a:p>
            <a:pPr algn="l" indent="0" marL="0">
              <a:lnSpc>
                <a:spcPts val="2912"/>
              </a:lnSpc>
              <a:buNone/>
            </a:pPr>
            <a:r>
              <a:rPr lang="en-US" sz="2600" b="1" dirty="0">
                <a:solidFill>
                  <a:srgbClr val="14213D"/>
                </a:solidFill>
                <a:latin typeface="Source Serif 4" pitchFamily="34" charset="0"/>
                <a:ea typeface="Source Serif 4" pitchFamily="34" charset="-122"/>
                <a:cs typeface="Source Serif 4" pitchFamily="34" charset="-120"/>
              </a:rPr>
              <a:t>Exit code and log look normal while an export writes nothing and silently rewrites the whole model</a:t>
            </a:r>
            <a:endParaRPr lang="en-US" sz="2600" dirty="0"/>
          </a:p>
        </p:txBody>
      </p:sp>
      <p:sp>
        <p:nvSpPr>
          <p:cNvPr id="4" name="Shape 2"/>
          <p:cNvSpPr/>
          <p:nvPr/>
        </p:nvSpPr>
        <p:spPr>
          <a:xfrm>
            <a:off x="812800" y="1978422"/>
            <a:ext cx="3556000" cy="0"/>
          </a:xfrm>
          <a:prstGeom prst="line">
            <a:avLst/>
          </a:prstGeom>
          <a:noFill/>
          <a:ln w="19050">
            <a:solidFill>
              <a:srgbClr val="14213D"/>
            </a:solidFill>
            <a:prstDash val="solid"/>
          </a:ln>
        </p:spPr>
      </p:sp>
      <p:sp>
        <p:nvSpPr>
          <p:cNvPr id="5" name="Text 3"/>
          <p:cNvSpPr/>
          <p:nvPr/>
        </p:nvSpPr>
        <p:spPr>
          <a:xfrm>
            <a:off x="812800" y="2089547"/>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812800" y="2353667"/>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When an export fails, can a pipeline tell from what the tool reports?</a:t>
            </a:r>
            <a:endParaRPr lang="en-US" sz="1300" dirty="0"/>
          </a:p>
        </p:txBody>
      </p:sp>
      <p:sp>
        <p:nvSpPr>
          <p:cNvPr id="7" name="Shape 5"/>
          <p:cNvSpPr/>
          <p:nvPr/>
        </p:nvSpPr>
        <p:spPr>
          <a:xfrm>
            <a:off x="812800" y="3003252"/>
            <a:ext cx="3556000" cy="0"/>
          </a:xfrm>
          <a:prstGeom prst="line">
            <a:avLst/>
          </a:prstGeom>
          <a:noFill/>
          <a:ln w="19050">
            <a:solidFill>
              <a:srgbClr val="14213D"/>
            </a:solidFill>
            <a:prstDash val="solid"/>
          </a:ln>
        </p:spPr>
      </p:sp>
      <p:sp>
        <p:nvSpPr>
          <p:cNvPr id="8" name="Text 6"/>
          <p:cNvSpPr/>
          <p:nvPr/>
        </p:nvSpPr>
        <p:spPr>
          <a:xfrm>
            <a:off x="812800" y="3114377"/>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9" name="Text 7"/>
          <p:cNvSpPr/>
          <p:nvPr/>
        </p:nvSpPr>
        <p:spPr>
          <a:xfrm>
            <a:off x="812800" y="3378498"/>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Controlled re-run (r8, 09-09) of a command-line export with a saved favorite, on the licensed VM, synthetic input (SYN_1).</a:t>
            </a:r>
            <a:endParaRPr lang="en-US" sz="1300" dirty="0"/>
          </a:p>
        </p:txBody>
      </p:sp>
      <p:sp>
        <p:nvSpPr>
          <p:cNvPr id="10" name="Shape 8"/>
          <p:cNvSpPr/>
          <p:nvPr/>
        </p:nvSpPr>
        <p:spPr>
          <a:xfrm>
            <a:off x="4673600" y="1978422"/>
            <a:ext cx="6705600" cy="0"/>
          </a:xfrm>
          <a:prstGeom prst="line">
            <a:avLst/>
          </a:prstGeom>
          <a:noFill/>
          <a:ln w="19050">
            <a:solidFill>
              <a:srgbClr val="14213D"/>
            </a:solidFill>
            <a:prstDash val="solid"/>
          </a:ln>
        </p:spPr>
      </p:sp>
      <p:sp>
        <p:nvSpPr>
          <p:cNvPr id="11" name="Text 9"/>
          <p:cNvSpPr/>
          <p:nvPr/>
        </p:nvSpPr>
        <p:spPr>
          <a:xfrm>
            <a:off x="4673600" y="2089547"/>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RESULT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86300" y="2391767"/>
          <a:ext cx="6692900" cy="1663402"/>
        </p:xfrm>
        <a:graphic>
          <a:graphicData uri="http://schemas.openxmlformats.org/drawingml/2006/table">
            <a:tbl>
              <a:tblPr/>
              <a:tblGrid>
                <a:gridCol w="2543302"/>
                <a:gridCol w="4149598"/>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Channel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showed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Exit 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Normal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Output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Does not exist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Only “Start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Model folder timestamps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Whole model rewritten (8:31:54 → 8:46:03 PM)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3" name="Text 10"/>
          <p:cNvSpPr/>
          <p:nvPr/>
        </p:nvSpPr>
        <p:spPr>
          <a:xfrm>
            <a:off x="4673600" y="4131370"/>
            <a:ext cx="69067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Seven export forms: two wrote files, five wrote 0 bytes, all exited normally.</a:t>
            </a:r>
            <a:endParaRPr lang="en-US" sz="1300" dirty="0"/>
          </a:p>
        </p:txBody>
      </p:sp>
      <p:sp>
        <p:nvSpPr>
          <p:cNvPr id="14" name="Shape 11"/>
          <p:cNvSpPr/>
          <p:nvPr/>
        </p:nvSpPr>
        <p:spPr>
          <a:xfrm>
            <a:off x="812800" y="5288310"/>
            <a:ext cx="10566400" cy="553690"/>
          </a:xfrm>
          <a:prstGeom prst="roundRect">
            <a:avLst>
              <a:gd name="adj" fmla="val 18350"/>
            </a:avLst>
          </a:prstGeom>
          <a:solidFill>
            <a:srgbClr val="14213D"/>
          </a:solidFill>
          <a:ln/>
        </p:spPr>
      </p:sp>
      <p:sp>
        <p:nvSpPr>
          <p:cNvPr id="15" name="Text 12"/>
          <p:cNvSpPr/>
          <p:nvPr/>
        </p:nvSpPr>
        <p:spPr>
          <a:xfrm>
            <a:off x="1016000" y="5440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16" name="Text 13"/>
          <p:cNvSpPr/>
          <p:nvPr/>
        </p:nvSpPr>
        <p:spPr>
          <a:xfrm>
            <a:off x="2489200" y="5440710"/>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Pipelines must check outcomes (file, content, state), not reports: one postcondition per step.</a:t>
            </a:r>
            <a:endParaRPr lang="en-US" sz="1400" dirty="0"/>
          </a:p>
        </p:txBody>
      </p:sp>
      <p:sp>
        <p:nvSpPr>
          <p:cNvPr id="17" name="Text 14"/>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F5 · SILENT SIDE EFFECTS AND MEANINGS</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Side effects and the meaning of numbers stay silent</a:t>
            </a:r>
            <a:endParaRPr lang="en-US" sz="2800" dirty="0"/>
          </a:p>
        </p:txBody>
      </p:sp>
      <p:sp>
        <p:nvSpPr>
          <p:cNvPr id="4" name="Shape 2"/>
          <p:cNvSpPr/>
          <p:nvPr/>
        </p:nvSpPr>
        <p:spPr>
          <a:xfrm>
            <a:off x="812800" y="1611709"/>
            <a:ext cx="10566400" cy="0"/>
          </a:xfrm>
          <a:prstGeom prst="line">
            <a:avLst/>
          </a:prstGeom>
          <a:noFill/>
          <a:ln w="19050">
            <a:solidFill>
              <a:srgbClr val="14213D"/>
            </a:solidFill>
            <a:prstDash val="solid"/>
          </a:ln>
        </p:spPr>
      </p:sp>
      <p:sp>
        <p:nvSpPr>
          <p:cNvPr id="5" name="Text 3"/>
          <p:cNvSpPr/>
          <p:nvPr/>
        </p:nvSpPr>
        <p:spPr>
          <a:xfrm>
            <a:off x="812800" y="1697434"/>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1981200" y="1697434"/>
            <a:ext cx="9679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Are F2–F4 isolated, or does the tool routinely stay silent about what it did and what numbers mean?</a:t>
            </a:r>
            <a:endParaRPr lang="en-US" sz="1200" dirty="0"/>
          </a:p>
        </p:txBody>
      </p:sp>
      <p:sp>
        <p:nvSpPr>
          <p:cNvPr id="7" name="Text 5"/>
          <p:cNvSpPr/>
          <p:nvPr/>
        </p:nvSpPr>
        <p:spPr>
          <a:xfrm>
            <a:off x="812800" y="1961555"/>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8" name="Text 6"/>
          <p:cNvSpPr/>
          <p:nvPr/>
        </p:nvSpPr>
        <p:spPr>
          <a:xfrm>
            <a:off x="1981200" y="1961555"/>
            <a:ext cx="9679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Four follow-up probes on the same build (two machines with identical build, config and dongle) and our held traces.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289175"/>
          <a:ext cx="10553700" cy="1663402"/>
        </p:xfrm>
        <a:graphic>
          <a:graphicData uri="http://schemas.openxmlformats.org/drawingml/2006/table">
            <a:tbl>
              <a:tblPr/>
              <a:tblGrid>
                <a:gridCol w="4432554"/>
                <a:gridCol w="6121146"/>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we ran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we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Throughput around 62 handovers, 1 Sec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8 show a gap; 54 leave no trace at this resolution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‘Stable co-occurrence’, 5 reasonable definitions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 11, 4, 1 or 0 pairs; only the definition 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 most passive command-line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~20 settings files (&gt;1.6 MB) rewritten at start, 8 more at exit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Command-line logs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Full command, error code only, or nothing, depending on the 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10" name="Shape 7"/>
          <p:cNvSpPr/>
          <p:nvPr/>
        </p:nvSpPr>
        <p:spPr>
          <a:xfrm>
            <a:off x="812800" y="5288310"/>
            <a:ext cx="10566400" cy="553690"/>
          </a:xfrm>
          <a:prstGeom prst="roundRect">
            <a:avLst>
              <a:gd name="adj" fmla="val 18350"/>
            </a:avLst>
          </a:prstGeom>
          <a:solidFill>
            <a:srgbClr val="14213D"/>
          </a:solidFill>
          <a:ln/>
        </p:spPr>
      </p:sp>
      <p:sp>
        <p:nvSpPr>
          <p:cNvPr id="11" name="Text 8"/>
          <p:cNvSpPr/>
          <p:nvPr/>
        </p:nvSpPr>
        <p:spPr>
          <a:xfrm>
            <a:off x="1016000" y="5440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12" name="Text 9"/>
          <p:cNvSpPr/>
          <p:nvPr/>
        </p:nvSpPr>
        <p:spPr>
          <a:xfrm>
            <a:off x="2489200" y="5440710"/>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The data need a ‘cannot see’ statement and versioned definitions; the tool supplies neither.</a:t>
            </a:r>
            <a:endParaRPr lang="en-US" sz="1400" dirty="0"/>
          </a:p>
        </p:txBody>
      </p:sp>
      <p:sp>
        <p:nvSpPr>
          <p:cNvPr id="13" name="Text 10"/>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F6 · INDEPENDENT PATH</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Our reader matches the tool’s record counts; value checks so far test only the export path</a:t>
            </a:r>
            <a:endParaRPr lang="en-US" sz="2800" dirty="0"/>
          </a:p>
        </p:txBody>
      </p:sp>
      <p:sp>
        <p:nvSpPr>
          <p:cNvPr id="4" name="Shape 2"/>
          <p:cNvSpPr/>
          <p:nvPr/>
        </p:nvSpPr>
        <p:spPr>
          <a:xfrm>
            <a:off x="812800" y="2035373"/>
            <a:ext cx="3556000" cy="0"/>
          </a:xfrm>
          <a:prstGeom prst="line">
            <a:avLst/>
          </a:prstGeom>
          <a:noFill/>
          <a:ln w="19050">
            <a:solidFill>
              <a:srgbClr val="14213D"/>
            </a:solidFill>
            <a:prstDash val="solid"/>
          </a:ln>
        </p:spPr>
      </p:sp>
      <p:sp>
        <p:nvSpPr>
          <p:cNvPr id="5" name="Text 3"/>
          <p:cNvSpPr/>
          <p:nvPr/>
        </p:nvSpPr>
        <p:spPr>
          <a:xfrm>
            <a:off x="812800" y="2146498"/>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812800" y="2410619"/>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Can we check the tool’s output without trusting the tool?</a:t>
            </a:r>
            <a:endParaRPr lang="en-US" sz="1300" dirty="0"/>
          </a:p>
        </p:txBody>
      </p:sp>
      <p:sp>
        <p:nvSpPr>
          <p:cNvPr id="7" name="Shape 5"/>
          <p:cNvSpPr/>
          <p:nvPr/>
        </p:nvSpPr>
        <p:spPr>
          <a:xfrm>
            <a:off x="812800" y="3060204"/>
            <a:ext cx="3556000" cy="0"/>
          </a:xfrm>
          <a:prstGeom prst="line">
            <a:avLst/>
          </a:prstGeom>
          <a:noFill/>
          <a:ln w="19050">
            <a:solidFill>
              <a:srgbClr val="14213D"/>
            </a:solidFill>
            <a:prstDash val="solid"/>
          </a:ln>
        </p:spPr>
      </p:sp>
      <p:sp>
        <p:nvSpPr>
          <p:cNvPr id="8" name="Text 6"/>
          <p:cNvSpPr/>
          <p:nvPr/>
        </p:nvSpPr>
        <p:spPr>
          <a:xfrm>
            <a:off x="812800" y="3171329"/>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9" name="Text 7"/>
          <p:cNvSpPr/>
          <p:nvPr/>
        </p:nvSpPr>
        <p:spPr>
          <a:xfrm>
            <a:off x="812800" y="3435449"/>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Our reader for the raw container, built without the vendor tool; record counts per log code, then 50 sampled values.</a:t>
            </a:r>
            <a:endParaRPr lang="en-US" sz="1300" dirty="0"/>
          </a:p>
        </p:txBody>
      </p:sp>
      <p:sp>
        <p:nvSpPr>
          <p:cNvPr id="10" name="Shape 8"/>
          <p:cNvSpPr/>
          <p:nvPr/>
        </p:nvSpPr>
        <p:spPr>
          <a:xfrm>
            <a:off x="4673600" y="2035373"/>
            <a:ext cx="6705600" cy="0"/>
          </a:xfrm>
          <a:prstGeom prst="line">
            <a:avLst/>
          </a:prstGeom>
          <a:noFill/>
          <a:ln w="19050">
            <a:solidFill>
              <a:srgbClr val="14213D"/>
            </a:solidFill>
            <a:prstDash val="solid"/>
          </a:ln>
        </p:spPr>
      </p:sp>
      <p:sp>
        <p:nvSpPr>
          <p:cNvPr id="11" name="Text 9"/>
          <p:cNvSpPr/>
          <p:nvPr/>
        </p:nvSpPr>
        <p:spPr>
          <a:xfrm>
            <a:off x="4673600" y="2146498"/>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RESULT</a:t>
            </a:r>
            <a:endParaRPr lang="en-US" sz="1200" dirty="0"/>
          </a:p>
        </p:txBody>
      </p:sp>
      <p:sp>
        <p:nvSpPr>
          <p:cNvPr id="12" name="Shape 10"/>
          <p:cNvSpPr/>
          <p:nvPr/>
        </p:nvSpPr>
        <p:spPr>
          <a:xfrm>
            <a:off x="4676775" y="2439194"/>
            <a:ext cx="6699250" cy="570210"/>
          </a:xfrm>
          <a:prstGeom prst="roundRect">
            <a:avLst>
              <a:gd name="adj" fmla="val 12807"/>
            </a:avLst>
          </a:prstGeom>
          <a:solidFill>
            <a:srgbClr val="FFFDF8"/>
          </a:solidFill>
          <a:ln w="6350">
            <a:solidFill>
              <a:srgbClr val="DAD6CB"/>
            </a:solidFill>
            <a:prstDash val="solid"/>
          </a:ln>
        </p:spPr>
      </p:sp>
      <p:sp>
        <p:nvSpPr>
          <p:cNvPr id="13" name="Text 11"/>
          <p:cNvSpPr/>
          <p:nvPr/>
        </p:nvSpPr>
        <p:spPr>
          <a:xfrm>
            <a:off x="4806950" y="2587129"/>
            <a:ext cx="12573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283 MB/s</a:t>
            </a:r>
            <a:endParaRPr lang="en-US" sz="1800" dirty="0"/>
          </a:p>
        </p:txBody>
      </p:sp>
      <p:sp>
        <p:nvSpPr>
          <p:cNvPr id="14" name="Text 12"/>
          <p:cNvSpPr/>
          <p:nvPr/>
        </p:nvSpPr>
        <p:spPr>
          <a:xfrm>
            <a:off x="6140450" y="2518569"/>
            <a:ext cx="52585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over 15.3 GB (ping), zero resyncs; container model holds on 4 XCAL collection product lines</a:t>
            </a:r>
            <a:endParaRPr lang="en-US" sz="1200" dirty="0"/>
          </a:p>
        </p:txBody>
      </p:sp>
      <p:sp>
        <p:nvSpPr>
          <p:cNvPr id="15" name="Shape 13"/>
          <p:cNvSpPr/>
          <p:nvPr/>
        </p:nvSpPr>
        <p:spPr>
          <a:xfrm>
            <a:off x="4676775" y="3079254"/>
            <a:ext cx="6699250" cy="570210"/>
          </a:xfrm>
          <a:prstGeom prst="roundRect">
            <a:avLst>
              <a:gd name="adj" fmla="val 12807"/>
            </a:avLst>
          </a:prstGeom>
          <a:solidFill>
            <a:srgbClr val="FFFDF8"/>
          </a:solidFill>
          <a:ln w="6350">
            <a:solidFill>
              <a:srgbClr val="DAD6CB"/>
            </a:solidFill>
            <a:prstDash val="solid"/>
          </a:ln>
        </p:spPr>
      </p:sp>
      <p:sp>
        <p:nvSpPr>
          <p:cNvPr id="16" name="Text 14"/>
          <p:cNvSpPr/>
          <p:nvPr/>
        </p:nvSpPr>
        <p:spPr>
          <a:xfrm>
            <a:off x="4806950" y="3227189"/>
            <a:ext cx="12573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165/167</a:t>
            </a:r>
            <a:endParaRPr lang="en-US" sz="1800" dirty="0"/>
          </a:p>
        </p:txBody>
      </p:sp>
      <p:sp>
        <p:nvSpPr>
          <p:cNvPr id="17" name="Text 15"/>
          <p:cNvSpPr/>
          <p:nvPr/>
        </p:nvSpPr>
        <p:spPr>
          <a:xfrm>
            <a:off x="6140450" y="3158629"/>
            <a:ext cx="52585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log codes match on record counts (98.8%); 99.4% after excluding 2 known pseudo codes </a:t>
            </a:r>
            <a:r>
              <a:rPr lang="en-US" sz="1200" dirty="0">
                <a:solidFill>
                  <a:srgbClr val="B4441A"/>
                </a:solidFill>
                <a:latin typeface="IBM Plex Sans" pitchFamily="34" charset="0"/>
                <a:ea typeface="IBM Plex Sans" pitchFamily="34" charset="-122"/>
                <a:cs typeface="IBM Plex Sans" pitchFamily="34" charset="-120"/>
              </a:rPr>
              <a:t>[denominator to confirm]</a:t>
            </a:r>
            <a:endParaRPr lang="en-US" sz="1200" dirty="0"/>
          </a:p>
        </p:txBody>
      </p:sp>
      <p:sp>
        <p:nvSpPr>
          <p:cNvPr id="18" name="Shape 16"/>
          <p:cNvSpPr/>
          <p:nvPr/>
        </p:nvSpPr>
        <p:spPr>
          <a:xfrm>
            <a:off x="4676775" y="3719314"/>
            <a:ext cx="6699250" cy="570210"/>
          </a:xfrm>
          <a:prstGeom prst="roundRect">
            <a:avLst>
              <a:gd name="adj" fmla="val 12807"/>
            </a:avLst>
          </a:prstGeom>
          <a:solidFill>
            <a:srgbClr val="FFFDF8"/>
          </a:solidFill>
          <a:ln w="6350">
            <a:solidFill>
              <a:srgbClr val="DAD6CB"/>
            </a:solidFill>
            <a:prstDash val="solid"/>
          </a:ln>
        </p:spPr>
      </p:sp>
      <p:sp>
        <p:nvSpPr>
          <p:cNvPr id="19" name="Text 17"/>
          <p:cNvSpPr/>
          <p:nvPr/>
        </p:nvSpPr>
        <p:spPr>
          <a:xfrm>
            <a:off x="4806950" y="3867249"/>
            <a:ext cx="12573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50/50</a:t>
            </a:r>
            <a:endParaRPr lang="en-US" sz="1800" dirty="0"/>
          </a:p>
        </p:txBody>
      </p:sp>
      <p:sp>
        <p:nvSpPr>
          <p:cNvPr id="20" name="Text 18"/>
          <p:cNvSpPr/>
          <p:nvPr/>
        </p:nvSpPr>
        <p:spPr>
          <a:xfrm>
            <a:off x="6140450" y="3798689"/>
            <a:ext cx="52585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sampled values agree between CSV export and the tool’s own model tables (18 parameters): an export-path check</a:t>
            </a:r>
            <a:endParaRPr lang="en-US" sz="1200" dirty="0"/>
          </a:p>
        </p:txBody>
      </p:sp>
      <p:sp>
        <p:nvSpPr>
          <p:cNvPr id="21" name="Text 19"/>
          <p:cNvSpPr/>
          <p:nvPr/>
        </p:nvSpPr>
        <p:spPr>
          <a:xfrm>
            <a:off x="4673600" y="4368899"/>
            <a:ext cx="6906768"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372"/>
                </a:solidFill>
                <a:latin typeface="IBM Plex Sans" pitchFamily="34" charset="0"/>
                <a:ea typeface="IBM Plex Sans" pitchFamily="34" charset="-122"/>
                <a:cs typeface="IBM Plex Sans" pitchFamily="34" charset="-120"/>
              </a:rPr>
              <a:t>Scope:</a:t>
            </a:r>
            <a:r>
              <a:rPr lang="en-US" sz="1200" dirty="0">
                <a:solidFill>
                  <a:srgbClr val="5B6372"/>
                </a:solidFill>
                <a:latin typeface="IBM Plex Sans" pitchFamily="34" charset="0"/>
                <a:ea typeface="IBM Plex Sans" pitchFamily="34" charset="-122"/>
                <a:cs typeface="IBM Plex Sans" pitchFamily="34" charset="-120"/>
              </a:rPr>
              <a:t> ~5,500 fields semantically checked (0.013%); payloads decoded for 3 of 141 codes; 73 codes uncounted.</a:t>
            </a:r>
            <a:endParaRPr lang="en-US" sz="1200" dirty="0"/>
          </a:p>
        </p:txBody>
      </p:sp>
      <p:sp>
        <p:nvSpPr>
          <p:cNvPr id="22" name="Shape 20"/>
          <p:cNvSpPr/>
          <p:nvPr/>
        </p:nvSpPr>
        <p:spPr>
          <a:xfrm>
            <a:off x="812800" y="5039420"/>
            <a:ext cx="10566400" cy="802580"/>
          </a:xfrm>
          <a:prstGeom prst="roundRect">
            <a:avLst>
              <a:gd name="adj" fmla="val 12659"/>
            </a:avLst>
          </a:prstGeom>
          <a:solidFill>
            <a:srgbClr val="14213D"/>
          </a:solidFill>
          <a:ln/>
        </p:spPr>
      </p:sp>
      <p:sp>
        <p:nvSpPr>
          <p:cNvPr id="23" name="Text 21"/>
          <p:cNvSpPr/>
          <p:nvPr/>
        </p:nvSpPr>
        <p:spPr>
          <a:xfrm>
            <a:off x="1016000" y="51918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24" name="Text 22"/>
          <p:cNvSpPr/>
          <p:nvPr/>
        </p:nvSpPr>
        <p:spPr>
          <a:xfrm>
            <a:off x="2489200" y="5191820"/>
            <a:ext cx="894740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Show independence first: neither a back-end mirror of the export nor the tool’s own tables is a vendor-independent path.</a:t>
            </a:r>
            <a:endParaRPr lang="en-US" sz="1400" dirty="0"/>
          </a:p>
        </p:txBody>
      </p:sp>
      <p:sp>
        <p:nvSpPr>
          <p:cNvPr id="25" name="Text 23"/>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A · F7 · AI READERS</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For AI readers the gap is meaning: the tool’s semantics are in no public text the model found</a:t>
            </a:r>
            <a:endParaRPr lang="en-US" sz="2800" dirty="0"/>
          </a:p>
        </p:txBody>
      </p:sp>
      <p:sp>
        <p:nvSpPr>
          <p:cNvPr id="4" name="Shape 2"/>
          <p:cNvSpPr/>
          <p:nvPr/>
        </p:nvSpPr>
        <p:spPr>
          <a:xfrm>
            <a:off x="812800" y="2035373"/>
            <a:ext cx="3556000" cy="0"/>
          </a:xfrm>
          <a:prstGeom prst="line">
            <a:avLst/>
          </a:prstGeom>
          <a:noFill/>
          <a:ln w="19050">
            <a:solidFill>
              <a:srgbClr val="14213D"/>
            </a:solidFill>
            <a:prstDash val="solid"/>
          </a:ln>
        </p:spPr>
      </p:sp>
      <p:sp>
        <p:nvSpPr>
          <p:cNvPr id="5" name="Text 3"/>
          <p:cNvSpPr/>
          <p:nvPr/>
        </p:nvSpPr>
        <p:spPr>
          <a:xfrm>
            <a:off x="812800" y="2146498"/>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812800" y="2410619"/>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Is the hard part for an AI reader seeing the data, or knowing what the tool computed?</a:t>
            </a:r>
            <a:endParaRPr lang="en-US" sz="1300" dirty="0"/>
          </a:p>
        </p:txBody>
      </p:sp>
      <p:sp>
        <p:nvSpPr>
          <p:cNvPr id="7" name="Shape 5"/>
          <p:cNvSpPr/>
          <p:nvPr/>
        </p:nvSpPr>
        <p:spPr>
          <a:xfrm>
            <a:off x="812800" y="3060204"/>
            <a:ext cx="3556000" cy="0"/>
          </a:xfrm>
          <a:prstGeom prst="line">
            <a:avLst/>
          </a:prstGeom>
          <a:noFill/>
          <a:ln w="19050">
            <a:solidFill>
              <a:srgbClr val="14213D"/>
            </a:solidFill>
            <a:prstDash val="solid"/>
          </a:ln>
        </p:spPr>
      </p:sp>
      <p:sp>
        <p:nvSpPr>
          <p:cNvPr id="8" name="Text 6"/>
          <p:cNvSpPr/>
          <p:nvPr/>
        </p:nvSpPr>
        <p:spPr>
          <a:xfrm>
            <a:off x="812800" y="3171329"/>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a:t>
            </a:r>
            <a:endParaRPr lang="en-US" sz="1200" dirty="0"/>
          </a:p>
        </p:txBody>
      </p:sp>
      <p:sp>
        <p:nvSpPr>
          <p:cNvPr id="9" name="Text 7"/>
          <p:cNvSpPr/>
          <p:nvPr/>
        </p:nvSpPr>
        <p:spPr>
          <a:xfrm>
            <a:off x="812800" y="3435449"/>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45 runs (5 tasks × 6 closed-book + 3 open-book seeds), high effort; screenshots and doc excerpts only, never the tool; 1 grader.</a:t>
            </a:r>
            <a:endParaRPr lang="en-US" sz="1300" dirty="0"/>
          </a:p>
        </p:txBody>
      </p:sp>
      <p:sp>
        <p:nvSpPr>
          <p:cNvPr id="10" name="Shape 8"/>
          <p:cNvSpPr/>
          <p:nvPr/>
        </p:nvSpPr>
        <p:spPr>
          <a:xfrm>
            <a:off x="4673600" y="2035373"/>
            <a:ext cx="6705600" cy="0"/>
          </a:xfrm>
          <a:prstGeom prst="line">
            <a:avLst/>
          </a:prstGeom>
          <a:noFill/>
          <a:ln w="19050">
            <a:solidFill>
              <a:srgbClr val="14213D"/>
            </a:solidFill>
            <a:prstDash val="solid"/>
          </a:ln>
        </p:spPr>
      </p:sp>
      <p:sp>
        <p:nvSpPr>
          <p:cNvPr id="11" name="Text 9"/>
          <p:cNvSpPr/>
          <p:nvPr/>
        </p:nvSpPr>
        <p:spPr>
          <a:xfrm>
            <a:off x="4673600" y="2146498"/>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RESULT</a:t>
            </a:r>
            <a:endParaRPr lang="en-US" sz="1200" dirty="0"/>
          </a:p>
        </p:txBody>
      </p:sp>
      <p:sp>
        <p:nvSpPr>
          <p:cNvPr id="12" name="Shape 10"/>
          <p:cNvSpPr/>
          <p:nvPr/>
        </p:nvSpPr>
        <p:spPr>
          <a:xfrm>
            <a:off x="4676775" y="2439194"/>
            <a:ext cx="6699250" cy="433040"/>
          </a:xfrm>
          <a:prstGeom prst="roundRect">
            <a:avLst>
              <a:gd name="adj" fmla="val 16863"/>
            </a:avLst>
          </a:prstGeom>
          <a:solidFill>
            <a:srgbClr val="FFFDF8"/>
          </a:solidFill>
          <a:ln w="6350">
            <a:solidFill>
              <a:srgbClr val="DAD6CB"/>
            </a:solidFill>
            <a:prstDash val="solid"/>
          </a:ln>
        </p:spPr>
      </p:sp>
      <p:sp>
        <p:nvSpPr>
          <p:cNvPr id="13" name="Text 11"/>
          <p:cNvSpPr/>
          <p:nvPr/>
        </p:nvSpPr>
        <p:spPr>
          <a:xfrm>
            <a:off x="4806950" y="2518569"/>
            <a:ext cx="13208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12 of 15</a:t>
            </a:r>
            <a:endParaRPr lang="en-US" sz="1800" dirty="0"/>
          </a:p>
        </p:txBody>
      </p:sp>
      <p:sp>
        <p:nvSpPr>
          <p:cNvPr id="14" name="Text 12"/>
          <p:cNvSpPr/>
          <p:nvPr/>
        </p:nvSpPr>
        <p:spPr>
          <a:xfrm>
            <a:off x="6203950" y="2552849"/>
            <a:ext cx="519315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open-book runs reported finding nothing usable on the tool’s semantics</a:t>
            </a:r>
            <a:endParaRPr lang="en-US" sz="1200" dirty="0"/>
          </a:p>
        </p:txBody>
      </p:sp>
      <p:sp>
        <p:nvSpPr>
          <p:cNvPr id="15" name="Shape 13"/>
          <p:cNvSpPr/>
          <p:nvPr/>
        </p:nvSpPr>
        <p:spPr>
          <a:xfrm>
            <a:off x="4676775" y="2942084"/>
            <a:ext cx="6699250" cy="570210"/>
          </a:xfrm>
          <a:prstGeom prst="roundRect">
            <a:avLst>
              <a:gd name="adj" fmla="val 12807"/>
            </a:avLst>
          </a:prstGeom>
          <a:solidFill>
            <a:srgbClr val="FFFDF8"/>
          </a:solidFill>
          <a:ln w="6350">
            <a:solidFill>
              <a:srgbClr val="DAD6CB"/>
            </a:solidFill>
            <a:prstDash val="solid"/>
          </a:ln>
        </p:spPr>
      </p:sp>
      <p:sp>
        <p:nvSpPr>
          <p:cNvPr id="16" name="Text 14"/>
          <p:cNvSpPr/>
          <p:nvPr/>
        </p:nvSpPr>
        <p:spPr>
          <a:xfrm>
            <a:off x="4806950" y="3120529"/>
            <a:ext cx="1320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E8C"/>
                </a:solidFill>
                <a:latin typeface="IBM Plex Sans" pitchFamily="34" charset="0"/>
                <a:ea typeface="IBM Plex Sans" pitchFamily="34" charset="-122"/>
                <a:cs typeface="IBM Plex Sans" pitchFamily="34" charset="-120"/>
              </a:rPr>
              <a:t>Vendor page</a:t>
            </a:r>
            <a:endParaRPr lang="en-US" sz="1400" dirty="0"/>
          </a:p>
        </p:txBody>
      </p:sp>
      <p:sp>
        <p:nvSpPr>
          <p:cNvPr id="17" name="Text 15"/>
          <p:cNvSpPr/>
          <p:nvPr/>
        </p:nvSpPr>
        <p:spPr>
          <a:xfrm>
            <a:off x="6203950" y="3021459"/>
            <a:ext cx="519315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the only tool material ever retrieved was the vendor product page; the model judged it insufficient</a:t>
            </a:r>
            <a:endParaRPr lang="en-US" sz="1200" dirty="0"/>
          </a:p>
        </p:txBody>
      </p:sp>
      <p:sp>
        <p:nvSpPr>
          <p:cNvPr id="18" name="Shape 16"/>
          <p:cNvSpPr/>
          <p:nvPr/>
        </p:nvSpPr>
        <p:spPr>
          <a:xfrm>
            <a:off x="4676775" y="3582144"/>
            <a:ext cx="6699250" cy="570210"/>
          </a:xfrm>
          <a:prstGeom prst="roundRect">
            <a:avLst>
              <a:gd name="adj" fmla="val 12807"/>
            </a:avLst>
          </a:prstGeom>
          <a:solidFill>
            <a:srgbClr val="FFFDF8"/>
          </a:solidFill>
          <a:ln w="6350">
            <a:solidFill>
              <a:srgbClr val="DAD6CB"/>
            </a:solidFill>
            <a:prstDash val="solid"/>
          </a:ln>
        </p:spPr>
      </p:sp>
      <p:sp>
        <p:nvSpPr>
          <p:cNvPr id="19" name="Text 17"/>
          <p:cNvSpPr/>
          <p:nvPr/>
        </p:nvSpPr>
        <p:spPr>
          <a:xfrm>
            <a:off x="4806950" y="3730079"/>
            <a:ext cx="13208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4 of 4</a:t>
            </a:r>
            <a:endParaRPr lang="en-US" sz="1800" dirty="0"/>
          </a:p>
        </p:txBody>
      </p:sp>
      <p:sp>
        <p:nvSpPr>
          <p:cNvPr id="20" name="Text 18"/>
          <p:cNvSpPr/>
          <p:nvPr/>
        </p:nvSpPr>
        <p:spPr>
          <a:xfrm>
            <a:off x="6203950" y="3661519"/>
            <a:ext cx="519315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closed book: declined on all 4 tasks whose answer needs the real tool; solved the one logic-only task (P5.7)</a:t>
            </a:r>
            <a:endParaRPr lang="en-US" sz="1200" dirty="0"/>
          </a:p>
        </p:txBody>
      </p:sp>
      <p:sp>
        <p:nvSpPr>
          <p:cNvPr id="21" name="Shape 19"/>
          <p:cNvSpPr/>
          <p:nvPr/>
        </p:nvSpPr>
        <p:spPr>
          <a:xfrm>
            <a:off x="4676775" y="4222204"/>
            <a:ext cx="6699250" cy="570210"/>
          </a:xfrm>
          <a:prstGeom prst="roundRect">
            <a:avLst>
              <a:gd name="adj" fmla="val 12807"/>
            </a:avLst>
          </a:prstGeom>
          <a:solidFill>
            <a:srgbClr val="FFFDF8"/>
          </a:solidFill>
          <a:ln w="6350">
            <a:solidFill>
              <a:srgbClr val="DAD6CB"/>
            </a:solidFill>
            <a:prstDash val="solid"/>
          </a:ln>
        </p:spPr>
      </p:sp>
      <p:sp>
        <p:nvSpPr>
          <p:cNvPr id="22" name="Text 20"/>
          <p:cNvSpPr/>
          <p:nvPr/>
        </p:nvSpPr>
        <p:spPr>
          <a:xfrm>
            <a:off x="4806950" y="4370139"/>
            <a:ext cx="13208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8C"/>
                </a:solidFill>
                <a:latin typeface="IBM Plex Sans" pitchFamily="34" charset="0"/>
                <a:ea typeface="IBM Plex Sans" pitchFamily="34" charset="-122"/>
                <a:cs typeface="IBM Plex Sans" pitchFamily="34" charset="-120"/>
              </a:rPr>
              <a:t>0 of 45</a:t>
            </a:r>
            <a:endParaRPr lang="en-US" sz="1800" dirty="0"/>
          </a:p>
        </p:txBody>
      </p:sp>
      <p:sp>
        <p:nvSpPr>
          <p:cNvPr id="23" name="Text 21"/>
          <p:cNvSpPr/>
          <p:nvPr/>
        </p:nvSpPr>
        <p:spPr>
          <a:xfrm>
            <a:off x="6203950" y="4301579"/>
            <a:ext cx="519315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answers confidently wrong in this round; one candidate appeared later (Appendix B, example 2)</a:t>
            </a:r>
            <a:endParaRPr lang="en-US" sz="1200" dirty="0"/>
          </a:p>
        </p:txBody>
      </p:sp>
      <p:sp>
        <p:nvSpPr>
          <p:cNvPr id="24" name="Shape 22"/>
          <p:cNvSpPr/>
          <p:nvPr/>
        </p:nvSpPr>
        <p:spPr>
          <a:xfrm>
            <a:off x="812800" y="5288310"/>
            <a:ext cx="10566400" cy="553690"/>
          </a:xfrm>
          <a:prstGeom prst="roundRect">
            <a:avLst>
              <a:gd name="adj" fmla="val 18350"/>
            </a:avLst>
          </a:prstGeom>
          <a:solidFill>
            <a:srgbClr val="14213D"/>
          </a:solidFill>
          <a:ln/>
        </p:spPr>
      </p:sp>
      <p:sp>
        <p:nvSpPr>
          <p:cNvPr id="25" name="Text 23"/>
          <p:cNvSpPr/>
          <p:nvPr/>
        </p:nvSpPr>
        <p:spPr>
          <a:xfrm>
            <a:off x="1016000" y="5440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CONCLUSION</a:t>
            </a:r>
            <a:endParaRPr lang="en-US" sz="1200" dirty="0"/>
          </a:p>
        </p:txBody>
      </p:sp>
      <p:sp>
        <p:nvSpPr>
          <p:cNvPr id="26" name="Text 24"/>
          <p:cNvSpPr/>
          <p:nvPr/>
        </p:nvSpPr>
        <p:spPr>
          <a:xfrm>
            <a:off x="2489200" y="5440710"/>
            <a:ext cx="8947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The semantics must be measured, not read, and published with the data (RQ1b).</a:t>
            </a:r>
            <a:endParaRPr lang="en-US" sz="1400" dirty="0"/>
          </a:p>
        </p:txBody>
      </p:sp>
      <p:sp>
        <p:nvSpPr>
          <p:cNvPr id="27" name="Text 25"/>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8" name="Text 2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B · AGENT EVALUATION · SETUP</a:t>
            </a:r>
            <a:endParaRPr lang="en-US" sz="1200" dirty="0"/>
          </a:p>
        </p:txBody>
      </p:sp>
      <p:sp>
        <p:nvSpPr>
          <p:cNvPr id="3" name="Text 1"/>
          <p:cNvSpPr/>
          <p:nvPr/>
        </p:nvSpPr>
        <p:spPr>
          <a:xfrm>
            <a:off x="812800" y="11023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dirty="0">
                <a:solidFill>
                  <a:srgbClr val="14213D"/>
                </a:solidFill>
                <a:latin typeface="Source Serif 4" pitchFamily="34" charset="0"/>
                <a:ea typeface="Source Serif 4" pitchFamily="34" charset="-122"/>
                <a:cs typeface="Source Serif 4" pitchFamily="34" charset="-120"/>
              </a:rPr>
              <a:t>How every agent example was run</a:t>
            </a:r>
            <a:endParaRPr lang="en-US" sz="3200" dirty="0"/>
          </a:p>
        </p:txBody>
      </p:sp>
      <p:sp>
        <p:nvSpPr>
          <p:cNvPr id="4" name="Shape 2"/>
          <p:cNvSpPr/>
          <p:nvPr/>
        </p:nvSpPr>
        <p:spPr>
          <a:xfrm>
            <a:off x="812800" y="1662261"/>
            <a:ext cx="10566400" cy="0"/>
          </a:xfrm>
          <a:prstGeom prst="line">
            <a:avLst/>
          </a:prstGeom>
          <a:noFill/>
          <a:ln w="6350">
            <a:solidFill>
              <a:srgbClr val="DAD6CB"/>
            </a:solidFill>
            <a:prstDash val="solid"/>
          </a:ln>
        </p:spPr>
      </p:sp>
      <p:sp>
        <p:nvSpPr>
          <p:cNvPr id="5" name="Text 3"/>
          <p:cNvSpPr/>
          <p:nvPr/>
        </p:nvSpPr>
        <p:spPr>
          <a:xfrm>
            <a:off x="812800" y="1767036"/>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OBJECTIVE</a:t>
            </a:r>
            <a:endParaRPr lang="en-US" sz="1200" dirty="0"/>
          </a:p>
        </p:txBody>
      </p:sp>
      <p:sp>
        <p:nvSpPr>
          <p:cNvPr id="6" name="Text 4"/>
          <p:cNvSpPr/>
          <p:nvPr/>
        </p:nvSpPr>
        <p:spPr>
          <a:xfrm>
            <a:off x="2717800" y="1767036"/>
            <a:ext cx="892124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Baseline for RQ1b and RQ6: can an agent operate the tool, doubt its self-description, and avoid irreversible steps?</a:t>
            </a:r>
            <a:endParaRPr lang="en-US" sz="1400" dirty="0"/>
          </a:p>
        </p:txBody>
      </p:sp>
      <p:sp>
        <p:nvSpPr>
          <p:cNvPr id="7" name="Shape 5"/>
          <p:cNvSpPr/>
          <p:nvPr/>
        </p:nvSpPr>
        <p:spPr>
          <a:xfrm>
            <a:off x="812800" y="2369592"/>
            <a:ext cx="10566400" cy="0"/>
          </a:xfrm>
          <a:prstGeom prst="line">
            <a:avLst/>
          </a:prstGeom>
          <a:noFill/>
          <a:ln w="6350">
            <a:solidFill>
              <a:srgbClr val="DAD6CB"/>
            </a:solidFill>
            <a:prstDash val="solid"/>
          </a:ln>
        </p:spPr>
      </p:sp>
      <p:sp>
        <p:nvSpPr>
          <p:cNvPr id="8" name="Text 6"/>
          <p:cNvSpPr/>
          <p:nvPr/>
        </p:nvSpPr>
        <p:spPr>
          <a:xfrm>
            <a:off x="812800" y="2474367"/>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 &amp; PROMPT</a:t>
            </a:r>
            <a:endParaRPr lang="en-US" sz="1200" dirty="0"/>
          </a:p>
        </p:txBody>
      </p:sp>
      <p:sp>
        <p:nvSpPr>
          <p:cNvPr id="9" name="Text 7"/>
          <p:cNvSpPr/>
          <p:nvPr/>
        </p:nvSpPr>
        <p:spPr>
          <a:xfrm>
            <a:off x="2717800" y="2474367"/>
            <a:ext cx="892124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One model (GPT-6 Astra) in 3 arms: our tool interface · Codex + 11 tools · shell only; low effort. Fresh session per task; no tool documents, no internet; a follow-up asks how certain the model is and on what basis.</a:t>
            </a:r>
            <a:endParaRPr lang="en-US" sz="1400" dirty="0"/>
          </a:p>
        </p:txBody>
      </p:sp>
      <p:sp>
        <p:nvSpPr>
          <p:cNvPr id="10" name="Shape 8"/>
          <p:cNvSpPr/>
          <p:nvPr/>
        </p:nvSpPr>
        <p:spPr>
          <a:xfrm>
            <a:off x="812800" y="3076922"/>
            <a:ext cx="10566400" cy="0"/>
          </a:xfrm>
          <a:prstGeom prst="line">
            <a:avLst/>
          </a:prstGeom>
          <a:noFill/>
          <a:ln w="6350">
            <a:solidFill>
              <a:srgbClr val="DAD6CB"/>
            </a:solidFill>
            <a:prstDash val="solid"/>
          </a:ln>
        </p:spPr>
      </p:sp>
      <p:sp>
        <p:nvSpPr>
          <p:cNvPr id="11" name="Text 9"/>
          <p:cNvSpPr/>
          <p:nvPr/>
        </p:nvSpPr>
        <p:spPr>
          <a:xfrm>
            <a:off x="812800" y="3181697"/>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DID</a:t>
            </a:r>
            <a:endParaRPr lang="en-US" sz="1200" dirty="0"/>
          </a:p>
        </p:txBody>
      </p:sp>
      <p:sp>
        <p:nvSpPr>
          <p:cNvPr id="12" name="Text 10"/>
          <p:cNvSpPr/>
          <p:nvPr/>
        </p:nvSpPr>
        <p:spPr>
          <a:xfrm>
            <a:off x="2717800" y="3181697"/>
            <a:ext cx="892124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28 tasks: P0 controls, P1–P4 ladder, P5 self-description, P6 irreversible steps, P7 broken premises. Seven-grade rubric: Full+ · Full · Partial (value right, setting not stated) · Hedged · Wrong · Confident-Wrong · Config-mismatch.</a:t>
            </a:r>
            <a:endParaRPr lang="en-US" sz="1400" dirty="0"/>
          </a:p>
        </p:txBody>
      </p:sp>
      <p:sp>
        <p:nvSpPr>
          <p:cNvPr id="13" name="Shape 11"/>
          <p:cNvSpPr/>
          <p:nvPr/>
        </p:nvSpPr>
        <p:spPr>
          <a:xfrm>
            <a:off x="812800" y="4029968"/>
            <a:ext cx="10566400" cy="553690"/>
          </a:xfrm>
          <a:prstGeom prst="roundRect">
            <a:avLst>
              <a:gd name="adj" fmla="val 18350"/>
            </a:avLst>
          </a:prstGeom>
          <a:solidFill>
            <a:srgbClr val="14213D"/>
          </a:solidFill>
          <a:ln/>
        </p:spPr>
      </p:sp>
      <p:sp>
        <p:nvSpPr>
          <p:cNvPr id="14" name="Text 12"/>
          <p:cNvSpPr/>
          <p:nvPr/>
        </p:nvSpPr>
        <p:spPr>
          <a:xfrm>
            <a:off x="1016000" y="4182368"/>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WHAT WE GOT</a:t>
            </a:r>
            <a:endParaRPr lang="en-US" sz="1200" dirty="0"/>
          </a:p>
        </p:txBody>
      </p:sp>
      <p:sp>
        <p:nvSpPr>
          <p:cNvPr id="15" name="Text 13"/>
          <p:cNvSpPr/>
          <p:nvPr/>
        </p:nvSpPr>
        <p:spPr>
          <a:xfrm>
            <a:off x="2717800" y="4182368"/>
            <a:ext cx="87119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First results on </a:t>
            </a:r>
            <a:r>
              <a:rPr lang="en-US" sz="1400" b="1" dirty="0">
                <a:solidFill>
                  <a:srgbClr val="F4F1EA"/>
                </a:solidFill>
                <a:latin typeface="IBM Plex Sans" pitchFamily="34" charset="0"/>
                <a:ea typeface="IBM Plex Sans" pitchFamily="34" charset="-122"/>
                <a:cs typeface="IBM Plex Sans" pitchFamily="34" charset="-120"/>
              </a:rPr>
              <a:t>25 of 28</a:t>
            </a:r>
            <a:r>
              <a:rPr lang="en-US" sz="1400" dirty="0">
                <a:solidFill>
                  <a:srgbClr val="F4F1EA"/>
                </a:solidFill>
                <a:latin typeface="IBM Plex Sans" pitchFamily="34" charset="0"/>
                <a:ea typeface="IBM Plex Sans" pitchFamily="34" charset="-122"/>
                <a:cs typeface="IBM Plex Sans" pitchFamily="34" charset="-120"/>
              </a:rPr>
              <a:t> tasks (see Appendix B · evaluation status).</a:t>
            </a:r>
            <a:endParaRPr lang="en-US" sz="1400" dirty="0"/>
          </a:p>
        </p:txBody>
      </p:sp>
      <p:sp>
        <p:nvSpPr>
          <p:cNvPr id="16" name="Shape 14"/>
          <p:cNvSpPr/>
          <p:nvPr/>
        </p:nvSpPr>
        <p:spPr>
          <a:xfrm>
            <a:off x="831850" y="4685258"/>
            <a:ext cx="0" cy="350490"/>
          </a:xfrm>
          <a:prstGeom prst="line">
            <a:avLst/>
          </a:prstGeom>
          <a:noFill/>
          <a:ln w="38100">
            <a:solidFill>
              <a:srgbClr val="B4441A"/>
            </a:solidFill>
            <a:prstDash val="solid"/>
          </a:ln>
        </p:spPr>
      </p:sp>
      <p:sp>
        <p:nvSpPr>
          <p:cNvPr id="17" name="Text 15"/>
          <p:cNvSpPr/>
          <p:nvPr/>
        </p:nvSpPr>
        <p:spPr>
          <a:xfrm>
            <a:off x="1016000" y="4736058"/>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18" name="Text 16"/>
          <p:cNvSpPr/>
          <p:nvPr/>
        </p:nvSpPr>
        <p:spPr>
          <a:xfrm>
            <a:off x="2717800" y="4736058"/>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 seed, 1 grader, 1 model family; L2 metric ground truth pending a per-parameter calibration.</a:t>
            </a:r>
            <a:endParaRPr lang="en-US" sz="1400" dirty="0"/>
          </a:p>
        </p:txBody>
      </p:sp>
      <p:sp>
        <p:nvSpPr>
          <p:cNvPr id="19" name="Text 17"/>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0" name="Text 1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B · EXAMPLE 1 · CONFIGURATION TRAP (TASK L2.T5)</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Agents read the number, not the conditions behind it</a:t>
            </a:r>
            <a:endParaRPr lang="en-US" sz="2800" dirty="0"/>
          </a:p>
        </p:txBody>
      </p:sp>
      <p:sp>
        <p:nvSpPr>
          <p:cNvPr id="4" name="Shape 2"/>
          <p:cNvSpPr/>
          <p:nvPr/>
        </p:nvSpPr>
        <p:spPr>
          <a:xfrm>
            <a:off x="812800" y="1605359"/>
            <a:ext cx="10566400" cy="0"/>
          </a:xfrm>
          <a:prstGeom prst="line">
            <a:avLst/>
          </a:prstGeom>
          <a:noFill/>
          <a:ln w="6350">
            <a:solidFill>
              <a:srgbClr val="DAD6CB"/>
            </a:solidFill>
            <a:prstDash val="solid"/>
          </a:ln>
        </p:spPr>
      </p:sp>
      <p:sp>
        <p:nvSpPr>
          <p:cNvPr id="5" name="Text 3"/>
          <p:cNvSpPr/>
          <p:nvPr/>
        </p:nvSpPr>
        <p:spPr>
          <a:xfrm>
            <a:off x="812800" y="1710134"/>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OBJECTIVE</a:t>
            </a:r>
            <a:endParaRPr lang="en-US" sz="1200" dirty="0"/>
          </a:p>
        </p:txBody>
      </p:sp>
      <p:sp>
        <p:nvSpPr>
          <p:cNvPr id="6" name="Text 4"/>
          <p:cNvSpPr/>
          <p:nvPr/>
        </p:nvSpPr>
        <p:spPr>
          <a:xfrm>
            <a:off x="2717800" y="1710134"/>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Does the agent know that a value it reads depends on an analysis setting?</a:t>
            </a:r>
            <a:endParaRPr lang="en-US" sz="1400" dirty="0"/>
          </a:p>
        </p:txBody>
      </p:sp>
      <p:sp>
        <p:nvSpPr>
          <p:cNvPr id="7" name="Shape 5"/>
          <p:cNvSpPr/>
          <p:nvPr/>
        </p:nvSpPr>
        <p:spPr>
          <a:xfrm>
            <a:off x="812800" y="2063800"/>
            <a:ext cx="10566400" cy="0"/>
          </a:xfrm>
          <a:prstGeom prst="line">
            <a:avLst/>
          </a:prstGeom>
          <a:noFill/>
          <a:ln w="6350">
            <a:solidFill>
              <a:srgbClr val="DAD6CB"/>
            </a:solidFill>
            <a:prstDash val="solid"/>
          </a:ln>
        </p:spPr>
      </p:sp>
      <p:sp>
        <p:nvSpPr>
          <p:cNvPr id="8" name="Text 6"/>
          <p:cNvSpPr/>
          <p:nvPr/>
        </p:nvSpPr>
        <p:spPr>
          <a:xfrm>
            <a:off x="812800" y="216857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 &amp; PROMPT</a:t>
            </a:r>
            <a:endParaRPr lang="en-US" sz="1200" dirty="0"/>
          </a:p>
        </p:txBody>
      </p:sp>
      <p:sp>
        <p:nvSpPr>
          <p:cNvPr id="9" name="Text 7"/>
          <p:cNvSpPr/>
          <p:nvPr/>
        </p:nvSpPr>
        <p:spPr>
          <a:xfrm>
            <a:off x="2717800" y="2168575"/>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One trace at the </a:t>
            </a:r>
            <a:r>
              <a:rPr lang="en-US" sz="1400" b="1" dirty="0">
                <a:solidFill>
                  <a:srgbClr val="3F4A5C"/>
                </a:solidFill>
                <a:latin typeface="IBM Plex Sans" pitchFamily="34" charset="0"/>
                <a:ea typeface="IBM Plex Sans" pitchFamily="34" charset="-122"/>
                <a:cs typeface="IBM Plex Sans" pitchFamily="34" charset="-120"/>
              </a:rPr>
              <a:t>1 Sec</a:t>
            </a:r>
            <a:r>
              <a:rPr lang="en-US" sz="1400" dirty="0">
                <a:solidFill>
                  <a:srgbClr val="3F4A5C"/>
                </a:solidFill>
                <a:latin typeface="IBM Plex Sans" pitchFamily="34" charset="0"/>
                <a:ea typeface="IBM Plex Sans" pitchFamily="34" charset="-122"/>
                <a:cs typeface="IBM Plex Sans" pitchFamily="34" charset="-120"/>
              </a:rPr>
              <a:t> sampling default; the task asks for its </a:t>
            </a:r>
            <a:r>
              <a:rPr lang="en-US" sz="1400" b="1" dirty="0">
                <a:solidFill>
                  <a:srgbClr val="3F4A5C"/>
                </a:solidFill>
                <a:latin typeface="IBM Plex Sans" pitchFamily="34" charset="0"/>
                <a:ea typeface="IBM Plex Sans" pitchFamily="34" charset="-122"/>
                <a:cs typeface="IBM Plex Sans" pitchFamily="34" charset="-120"/>
              </a:rPr>
              <a:t>worst SINR</a:t>
            </a:r>
            <a:r>
              <a:rPr lang="en-US" sz="1400" dirty="0">
                <a:solidFill>
                  <a:srgbClr val="3F4A5C"/>
                </a:solidFill>
                <a:latin typeface="IBM Plex Sans" pitchFamily="34" charset="0"/>
                <a:ea typeface="IBM Plex Sans" pitchFamily="34" charset="-122"/>
                <a:cs typeface="IBM Plex Sans" pitchFamily="34" charset="-120"/>
              </a:rPr>
              <a:t>.</a:t>
            </a:r>
            <a:endParaRPr lang="en-US" sz="1400" dirty="0"/>
          </a:p>
        </p:txBody>
      </p:sp>
      <p:sp>
        <p:nvSpPr>
          <p:cNvPr id="10" name="Shape 8"/>
          <p:cNvSpPr/>
          <p:nvPr/>
        </p:nvSpPr>
        <p:spPr>
          <a:xfrm>
            <a:off x="812800" y="2522240"/>
            <a:ext cx="10566400" cy="0"/>
          </a:xfrm>
          <a:prstGeom prst="line">
            <a:avLst/>
          </a:prstGeom>
          <a:noFill/>
          <a:ln w="6350">
            <a:solidFill>
              <a:srgbClr val="DAD6CB"/>
            </a:solidFill>
            <a:prstDash val="solid"/>
          </a:ln>
        </p:spPr>
      </p:sp>
      <p:sp>
        <p:nvSpPr>
          <p:cNvPr id="11" name="Text 9"/>
          <p:cNvSpPr/>
          <p:nvPr/>
        </p:nvSpPr>
        <p:spPr>
          <a:xfrm>
            <a:off x="812800" y="262701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DID</a:t>
            </a:r>
            <a:endParaRPr lang="en-US" sz="1200" dirty="0"/>
          </a:p>
        </p:txBody>
      </p:sp>
      <p:sp>
        <p:nvSpPr>
          <p:cNvPr id="12" name="Text 10"/>
          <p:cNvSpPr/>
          <p:nvPr/>
        </p:nvSpPr>
        <p:spPr>
          <a:xfrm>
            <a:off x="2717800" y="2627015"/>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Ran it in all 3 arms. Full credit only if the answer names the setting: </a:t>
            </a:r>
            <a:r>
              <a:rPr lang="en-US" sz="1400" b="1" dirty="0">
                <a:solidFill>
                  <a:srgbClr val="3F4A5C"/>
                </a:solidFill>
                <a:latin typeface="IBM Plex Sans" pitchFamily="34" charset="0"/>
                <a:ea typeface="IBM Plex Sans" pitchFamily="34" charset="-122"/>
                <a:cs typeface="IBM Plex Sans" pitchFamily="34" charset="-120"/>
              </a:rPr>
              <a:t>−20.0</a:t>
            </a:r>
            <a:r>
              <a:rPr lang="en-US" sz="1400" dirty="0">
                <a:solidFill>
                  <a:srgbClr val="3F4A5C"/>
                </a:solidFill>
                <a:latin typeface="IBM Plex Sans" pitchFamily="34" charset="0"/>
                <a:ea typeface="IBM Plex Sans" pitchFamily="34" charset="-122"/>
                <a:cs typeface="IBM Plex Sans" pitchFamily="34" charset="-120"/>
              </a:rPr>
              <a:t> at All, </a:t>
            </a:r>
            <a:r>
              <a:rPr lang="en-US" sz="1400" b="1" dirty="0">
                <a:solidFill>
                  <a:srgbClr val="3F4A5C"/>
                </a:solidFill>
                <a:latin typeface="IBM Plex Sans" pitchFamily="34" charset="0"/>
                <a:ea typeface="IBM Plex Sans" pitchFamily="34" charset="-122"/>
                <a:cs typeface="IBM Plex Sans" pitchFamily="34" charset="-120"/>
              </a:rPr>
              <a:t>−12.9</a:t>
            </a:r>
            <a:r>
              <a:rPr lang="en-US" sz="1400" dirty="0">
                <a:solidFill>
                  <a:srgbClr val="3F4A5C"/>
                </a:solidFill>
                <a:latin typeface="IBM Plex Sans" pitchFamily="34" charset="0"/>
                <a:ea typeface="IBM Plex Sans" pitchFamily="34" charset="-122"/>
                <a:cs typeface="IBM Plex Sans" pitchFamily="34" charset="-120"/>
              </a:rPr>
              <a:t> at 1 Sec.</a:t>
            </a:r>
            <a:endParaRPr lang="en-US" sz="1400" dirty="0"/>
          </a:p>
        </p:txBody>
      </p:sp>
      <p:sp>
        <p:nvSpPr>
          <p:cNvPr id="13" name="Shape 11"/>
          <p:cNvSpPr/>
          <p:nvPr/>
        </p:nvSpPr>
        <p:spPr>
          <a:xfrm>
            <a:off x="812800" y="2977505"/>
            <a:ext cx="10566400" cy="802580"/>
          </a:xfrm>
          <a:prstGeom prst="roundRect">
            <a:avLst>
              <a:gd name="adj" fmla="val 12659"/>
            </a:avLst>
          </a:prstGeom>
          <a:solidFill>
            <a:srgbClr val="14213D"/>
          </a:solidFill>
          <a:ln/>
        </p:spPr>
      </p:sp>
      <p:sp>
        <p:nvSpPr>
          <p:cNvPr id="14" name="Text 12"/>
          <p:cNvSpPr/>
          <p:nvPr/>
        </p:nvSpPr>
        <p:spPr>
          <a:xfrm>
            <a:off x="1016000" y="3129905"/>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WHAT WE GOT</a:t>
            </a:r>
            <a:endParaRPr lang="en-US" sz="1200" dirty="0"/>
          </a:p>
        </p:txBody>
      </p:sp>
      <p:sp>
        <p:nvSpPr>
          <p:cNvPr id="15" name="Text 13"/>
          <p:cNvSpPr/>
          <p:nvPr/>
        </p:nvSpPr>
        <p:spPr>
          <a:xfrm>
            <a:off x="2717800" y="3129905"/>
            <a:ext cx="87119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The correct number with no setting stated: </a:t>
            </a:r>
            <a:r>
              <a:rPr lang="en-US" sz="1400" b="1" dirty="0">
                <a:solidFill>
                  <a:srgbClr val="F4F1EA"/>
                </a:solidFill>
                <a:latin typeface="IBM Plex Sans" pitchFamily="34" charset="0"/>
                <a:ea typeface="IBM Plex Sans" pitchFamily="34" charset="-122"/>
                <a:cs typeface="IBM Plex Sans" pitchFamily="34" charset="-120"/>
              </a:rPr>
              <a:t>Partial</a:t>
            </a:r>
            <a:r>
              <a:rPr lang="en-US" sz="1400" dirty="0">
                <a:solidFill>
                  <a:srgbClr val="F4F1EA"/>
                </a:solidFill>
                <a:latin typeface="IBM Plex Sans" pitchFamily="34" charset="0"/>
                <a:ea typeface="IBM Plex Sans" pitchFamily="34" charset="-122"/>
                <a:cs typeface="IBM Plex Sans" pitchFamily="34" charset="-120"/>
              </a:rPr>
              <a:t> on this task in all 3 arms. Shell-only arm: all 5 numeric tasks </a:t>
            </a:r>
            <a:r>
              <a:rPr lang="en-US" sz="1400" b="1" dirty="0">
                <a:solidFill>
                  <a:srgbClr val="F4F1EA"/>
                </a:solidFill>
                <a:latin typeface="IBM Plex Sans" pitchFamily="34" charset="0"/>
                <a:ea typeface="IBM Plex Sans" pitchFamily="34" charset="-122"/>
                <a:cs typeface="IBM Plex Sans" pitchFamily="34" charset="-120"/>
              </a:rPr>
              <a:t>Partial</a:t>
            </a:r>
            <a:r>
              <a:rPr lang="en-US" sz="1400" dirty="0">
                <a:solidFill>
                  <a:srgbClr val="F4F1EA"/>
                </a:solidFill>
                <a:latin typeface="IBM Plex Sans" pitchFamily="34" charset="0"/>
                <a:ea typeface="IBM Plex Sans" pitchFamily="34" charset="-122"/>
                <a:cs typeface="IBM Plex Sans" pitchFamily="34" charset="-120"/>
              </a:rPr>
              <a:t>, same reason.</a:t>
            </a:r>
            <a:endParaRPr lang="en-US" sz="1400" dirty="0"/>
          </a:p>
        </p:txBody>
      </p:sp>
      <p:sp>
        <p:nvSpPr>
          <p:cNvPr id="16" name="Shape 14"/>
          <p:cNvSpPr/>
          <p:nvPr/>
        </p:nvSpPr>
        <p:spPr>
          <a:xfrm>
            <a:off x="831850" y="3881686"/>
            <a:ext cx="0" cy="350490"/>
          </a:xfrm>
          <a:prstGeom prst="line">
            <a:avLst/>
          </a:prstGeom>
          <a:noFill/>
          <a:ln w="38100">
            <a:solidFill>
              <a:srgbClr val="B4441A"/>
            </a:solidFill>
            <a:prstDash val="solid"/>
          </a:ln>
        </p:spPr>
      </p:sp>
      <p:sp>
        <p:nvSpPr>
          <p:cNvPr id="17" name="Text 15"/>
          <p:cNvSpPr/>
          <p:nvPr/>
        </p:nvSpPr>
        <p:spPr>
          <a:xfrm>
            <a:off x="1016000" y="3932486"/>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18" name="Text 16"/>
          <p:cNvSpPr/>
          <p:nvPr/>
        </p:nvSpPr>
        <p:spPr>
          <a:xfrm>
            <a:off x="2717800" y="3932486"/>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Naming the setting is not knowing what it does: the engine measures it, the passport carries it </a:t>
            </a:r>
            <a:r>
              <a:rPr lang="en-US" sz="1400" b="1" dirty="0">
                <a:solidFill>
                  <a:srgbClr val="14213D"/>
                </a:solidFill>
                <a:latin typeface="IBM Plex Sans" pitchFamily="34" charset="0"/>
                <a:ea typeface="IBM Plex Sans" pitchFamily="34" charset="-122"/>
                <a:cs typeface="IBM Plex Sans" pitchFamily="34" charset="-120"/>
              </a:rPr>
              <a:t>→ RQ1b, RQ6</a:t>
            </a:r>
            <a:endParaRPr lang="en-US" sz="1400" dirty="0"/>
          </a:p>
        </p:txBody>
      </p:sp>
      <p:sp>
        <p:nvSpPr>
          <p:cNvPr id="19" name="Text 17"/>
          <p:cNvSpPr/>
          <p:nvPr/>
        </p:nvSpPr>
        <p:spPr>
          <a:xfrm>
            <a:off x="812800" y="433377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First results: 1 seed, 1 grader, 1 model family; L2 ground truth pending the T3 calibration. Planned: a declare-settings ablation.</a:t>
            </a:r>
            <a:endParaRPr lang="en-US" sz="1200" dirty="0"/>
          </a:p>
        </p:txBody>
      </p:sp>
      <p:sp>
        <p:nvSpPr>
          <p:cNvPr id="20" name="Text 18"/>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B · EXAMPLE 2 · TRUST IN SELF-DESCRIPTION (PROBE P5.1)</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A first Confident-Wrong candidate: the agent believed the tool's own dialog</a:t>
            </a:r>
            <a:endParaRPr lang="en-US" sz="2800" dirty="0"/>
          </a:p>
        </p:txBody>
      </p:sp>
      <p:sp>
        <p:nvSpPr>
          <p:cNvPr id="4" name="Shape 2"/>
          <p:cNvSpPr/>
          <p:nvPr/>
        </p:nvSpPr>
        <p:spPr>
          <a:xfrm>
            <a:off x="812800" y="2003623"/>
            <a:ext cx="10566400" cy="0"/>
          </a:xfrm>
          <a:prstGeom prst="line">
            <a:avLst/>
          </a:prstGeom>
          <a:noFill/>
          <a:ln w="6350">
            <a:solidFill>
              <a:srgbClr val="DAD6CB"/>
            </a:solidFill>
            <a:prstDash val="solid"/>
          </a:ln>
        </p:spPr>
      </p:sp>
      <p:sp>
        <p:nvSpPr>
          <p:cNvPr id="5" name="Text 3"/>
          <p:cNvSpPr/>
          <p:nvPr/>
        </p:nvSpPr>
        <p:spPr>
          <a:xfrm>
            <a:off x="812800" y="2108398"/>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OBJECTIVE</a:t>
            </a:r>
            <a:endParaRPr lang="en-US" sz="1200" dirty="0"/>
          </a:p>
        </p:txBody>
      </p:sp>
      <p:sp>
        <p:nvSpPr>
          <p:cNvPr id="6" name="Text 4"/>
          <p:cNvSpPr/>
          <p:nvPr/>
        </p:nvSpPr>
        <p:spPr>
          <a:xfrm>
            <a:off x="2717800" y="2108398"/>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When the tool explains its own behavior wrongly, does the agent notice?</a:t>
            </a:r>
            <a:endParaRPr lang="en-US" sz="1400" dirty="0"/>
          </a:p>
        </p:txBody>
      </p:sp>
      <p:sp>
        <p:nvSpPr>
          <p:cNvPr id="7" name="Shape 5"/>
          <p:cNvSpPr/>
          <p:nvPr/>
        </p:nvSpPr>
        <p:spPr>
          <a:xfrm>
            <a:off x="812800" y="2462064"/>
            <a:ext cx="10566400" cy="0"/>
          </a:xfrm>
          <a:prstGeom prst="line">
            <a:avLst/>
          </a:prstGeom>
          <a:noFill/>
          <a:ln w="6350">
            <a:solidFill>
              <a:srgbClr val="DAD6CB"/>
            </a:solidFill>
            <a:prstDash val="solid"/>
          </a:ln>
        </p:spPr>
      </p:sp>
      <p:sp>
        <p:nvSpPr>
          <p:cNvPr id="8" name="Text 6"/>
          <p:cNvSpPr/>
          <p:nvPr/>
        </p:nvSpPr>
        <p:spPr>
          <a:xfrm>
            <a:off x="812800" y="2566839"/>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 &amp; PROMPT</a:t>
            </a:r>
            <a:endParaRPr lang="en-US" sz="1200" dirty="0"/>
          </a:p>
        </p:txBody>
      </p:sp>
      <p:sp>
        <p:nvSpPr>
          <p:cNvPr id="9" name="Text 7"/>
          <p:cNvSpPr/>
          <p:nvPr/>
        </p:nvSpPr>
        <p:spPr>
          <a:xfrm>
            <a:off x="2717800" y="2566839"/>
            <a:ext cx="892124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The dialog blames </a:t>
            </a:r>
            <a:r>
              <a:rPr lang="en-US" sz="1400" b="1" dirty="0">
                <a:solidFill>
                  <a:srgbClr val="3F4A5C"/>
                </a:solidFill>
                <a:latin typeface="IBM Plex Sans" pitchFamily="34" charset="0"/>
                <a:ea typeface="IBM Plex Sans" pitchFamily="34" charset="-122"/>
                <a:cs typeface="IBM Plex Sans" pitchFamily="34" charset="-120"/>
              </a:rPr>
              <a:t>Multi Process Usage</a:t>
            </a:r>
            <a:r>
              <a:rPr lang="en-US" sz="1400" dirty="0">
                <a:solidFill>
                  <a:srgbClr val="3F4A5C"/>
                </a:solidFill>
                <a:latin typeface="IBM Plex Sans" pitchFamily="34" charset="0"/>
                <a:ea typeface="IBM Plex Sans" pitchFamily="34" charset="-122"/>
                <a:cs typeface="IBM Plex Sans" pitchFamily="34" charset="-120"/>
              </a:rPr>
              <a:t>; the model is asked how many XCAP instances can run at once, and why.</a:t>
            </a:r>
            <a:endParaRPr lang="en-US" sz="1400" dirty="0"/>
          </a:p>
        </p:txBody>
      </p:sp>
      <p:sp>
        <p:nvSpPr>
          <p:cNvPr id="10" name="Shape 8"/>
          <p:cNvSpPr/>
          <p:nvPr/>
        </p:nvSpPr>
        <p:spPr>
          <a:xfrm>
            <a:off x="812800" y="3169394"/>
            <a:ext cx="10566400" cy="0"/>
          </a:xfrm>
          <a:prstGeom prst="line">
            <a:avLst/>
          </a:prstGeom>
          <a:noFill/>
          <a:ln w="6350">
            <a:solidFill>
              <a:srgbClr val="DAD6CB"/>
            </a:solidFill>
            <a:prstDash val="solid"/>
          </a:ln>
        </p:spPr>
      </p:sp>
      <p:sp>
        <p:nvSpPr>
          <p:cNvPr id="11" name="Text 9"/>
          <p:cNvSpPr/>
          <p:nvPr/>
        </p:nvSpPr>
        <p:spPr>
          <a:xfrm>
            <a:off x="812800" y="3274169"/>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DID</a:t>
            </a:r>
            <a:endParaRPr lang="en-US" sz="1200" dirty="0"/>
          </a:p>
        </p:txBody>
      </p:sp>
      <p:sp>
        <p:nvSpPr>
          <p:cNvPr id="12" name="Text 10"/>
          <p:cNvSpPr/>
          <p:nvPr/>
        </p:nvSpPr>
        <p:spPr>
          <a:xfrm>
            <a:off x="2717800" y="3274169"/>
            <a:ext cx="892124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Ground truth as recorded 09-21: Multi Process Usage </a:t>
            </a:r>
            <a:r>
              <a:rPr lang="en-US" sz="1400" b="1" dirty="0">
                <a:solidFill>
                  <a:srgbClr val="3F4A5C"/>
                </a:solidFill>
                <a:latin typeface="IBM Plex Sans" pitchFamily="34" charset="0"/>
                <a:ea typeface="IBM Plex Sans" pitchFamily="34" charset="-122"/>
                <a:cs typeface="IBM Plex Sans" pitchFamily="34" charset="-120"/>
              </a:rPr>
              <a:t>2 → 4 still allowed 2</a:t>
            </a:r>
            <a:r>
              <a:rPr lang="en-US" sz="1400" dirty="0">
                <a:solidFill>
                  <a:srgbClr val="3F4A5C"/>
                </a:solidFill>
                <a:latin typeface="IBM Plex Sans" pitchFamily="34" charset="0"/>
                <a:ea typeface="IBM Plex Sans" pitchFamily="34" charset="-122"/>
                <a:cs typeface="IBM Plex Sans" pitchFamily="34" charset="-120"/>
              </a:rPr>
              <a:t>; the limit tracked license seats. Earlier records (09-02, retracted; 09-09: three instances with the box unchecked) are not yet reconciled with 09-21.</a:t>
            </a:r>
            <a:endParaRPr lang="en-US" sz="1400" dirty="0"/>
          </a:p>
        </p:txBody>
      </p:sp>
      <p:sp>
        <p:nvSpPr>
          <p:cNvPr id="13" name="Shape 11"/>
          <p:cNvSpPr/>
          <p:nvPr/>
        </p:nvSpPr>
        <p:spPr>
          <a:xfrm>
            <a:off x="812800" y="4122440"/>
            <a:ext cx="10566400" cy="553690"/>
          </a:xfrm>
          <a:prstGeom prst="roundRect">
            <a:avLst>
              <a:gd name="adj" fmla="val 18350"/>
            </a:avLst>
          </a:prstGeom>
          <a:solidFill>
            <a:srgbClr val="14213D"/>
          </a:solidFill>
          <a:ln/>
        </p:spPr>
      </p:sp>
      <p:sp>
        <p:nvSpPr>
          <p:cNvPr id="14" name="Text 12"/>
          <p:cNvSpPr/>
          <p:nvPr/>
        </p:nvSpPr>
        <p:spPr>
          <a:xfrm>
            <a:off x="1016000" y="4274840"/>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WHAT WE GOT</a:t>
            </a:r>
            <a:endParaRPr lang="en-US" sz="1200" dirty="0"/>
          </a:p>
        </p:txBody>
      </p:sp>
      <p:sp>
        <p:nvSpPr>
          <p:cNvPr id="15" name="Text 13"/>
          <p:cNvSpPr/>
          <p:nvPr/>
        </p:nvSpPr>
        <p:spPr>
          <a:xfrm>
            <a:off x="2717800" y="4274840"/>
            <a:ext cx="87119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Seed 1: </a:t>
            </a:r>
            <a:r>
              <a:rPr lang="en-US" sz="1400" b="1" dirty="0">
                <a:solidFill>
                  <a:srgbClr val="F4F1EA"/>
                </a:solidFill>
                <a:latin typeface="IBM Plex Sans" pitchFamily="34" charset="0"/>
                <a:ea typeface="IBM Plex Sans" pitchFamily="34" charset="-122"/>
                <a:cs typeface="IBM Plex Sans" pitchFamily="34" charset="-120"/>
              </a:rPr>
              <a:t>wrong, with high confidence</a:t>
            </a:r>
            <a:r>
              <a:rPr lang="en-US" sz="1400" dirty="0">
                <a:solidFill>
                  <a:srgbClr val="F4F1EA"/>
                </a:solidFill>
                <a:latin typeface="IBM Plex Sans" pitchFamily="34" charset="0"/>
                <a:ea typeface="IBM Plex Sans" pitchFamily="34" charset="-122"/>
                <a:cs typeface="IBM Plex Sans" pitchFamily="34" charset="-120"/>
              </a:rPr>
              <a:t>: a first </a:t>
            </a:r>
            <a:r>
              <a:rPr lang="en-US" sz="1400" dirty="0">
                <a:solidFill>
                  <a:srgbClr val="F2A36B"/>
                </a:solidFill>
                <a:latin typeface="IBM Plex Sans" pitchFamily="34" charset="0"/>
                <a:ea typeface="IBM Plex Sans" pitchFamily="34" charset="-122"/>
                <a:cs typeface="IBM Plex Sans" pitchFamily="34" charset="-120"/>
              </a:rPr>
              <a:t>Confident-Wrong candidate</a:t>
            </a:r>
            <a:r>
              <a:rPr lang="en-US" sz="1400" dirty="0">
                <a:solidFill>
                  <a:srgbClr val="F4F1EA"/>
                </a:solidFill>
                <a:latin typeface="IBM Plex Sans" pitchFamily="34" charset="0"/>
                <a:ea typeface="IBM Plex Sans" pitchFamily="34" charset="-122"/>
                <a:cs typeface="IBM Plex Sans" pitchFamily="34" charset="-120"/>
              </a:rPr>
              <a:t> after 0 of 75 earlier runs.</a:t>
            </a:r>
            <a:endParaRPr lang="en-US" sz="1400" dirty="0"/>
          </a:p>
        </p:txBody>
      </p:sp>
      <p:sp>
        <p:nvSpPr>
          <p:cNvPr id="16" name="Shape 14"/>
          <p:cNvSpPr/>
          <p:nvPr/>
        </p:nvSpPr>
        <p:spPr>
          <a:xfrm>
            <a:off x="831850" y="4777730"/>
            <a:ext cx="0" cy="350490"/>
          </a:xfrm>
          <a:prstGeom prst="line">
            <a:avLst/>
          </a:prstGeom>
          <a:noFill/>
          <a:ln w="38100">
            <a:solidFill>
              <a:srgbClr val="B4441A"/>
            </a:solidFill>
            <a:prstDash val="solid"/>
          </a:ln>
        </p:spPr>
      </p:sp>
      <p:sp>
        <p:nvSpPr>
          <p:cNvPr id="17" name="Text 15"/>
          <p:cNvSpPr/>
          <p:nvPr/>
        </p:nvSpPr>
        <p:spPr>
          <a:xfrm>
            <a:off x="1016000" y="4828530"/>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18" name="Text 16"/>
          <p:cNvSpPr/>
          <p:nvPr/>
        </p:nvSpPr>
        <p:spPr>
          <a:xfrm>
            <a:off x="2717800" y="4828530"/>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pipeline or engine that trusts a tool's self-description inherits its errors </a:t>
            </a:r>
            <a:r>
              <a:rPr lang="en-US" sz="1400" b="1" dirty="0">
                <a:solidFill>
                  <a:srgbClr val="14213D"/>
                </a:solidFill>
                <a:latin typeface="IBM Plex Sans" pitchFamily="34" charset="0"/>
                <a:ea typeface="IBM Plex Sans" pitchFamily="34" charset="-122"/>
                <a:cs typeface="IBM Plex Sans" pitchFamily="34" charset="-120"/>
              </a:rPr>
              <a:t>→ RQ1b, RQ4, RQ6</a:t>
            </a:r>
            <a:endParaRPr lang="en-US" sz="1400" dirty="0"/>
          </a:p>
        </p:txBody>
      </p:sp>
      <p:sp>
        <p:nvSpPr>
          <p:cNvPr id="19" name="Text 17"/>
          <p:cNvSpPr/>
          <p:nvPr/>
        </p:nvSpPr>
        <p:spPr>
          <a:xfrm>
            <a:off x="812800" y="52298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Not a result: needs 5 more seeds and a second grader. Label adapted from 'Confident and Wrong' (Mehta, 2026).</a:t>
            </a:r>
            <a:endParaRPr lang="en-US" sz="1200" dirty="0"/>
          </a:p>
        </p:txBody>
      </p:sp>
      <p:sp>
        <p:nvSpPr>
          <p:cNvPr id="20" name="Text 18"/>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B · EXAMPLE 3 · SHELL-ONLY AGENT</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Take away the tools, and the agent rebuilds them</a:t>
            </a:r>
            <a:endParaRPr lang="en-US" sz="2800" dirty="0"/>
          </a:p>
        </p:txBody>
      </p:sp>
      <p:sp>
        <p:nvSpPr>
          <p:cNvPr id="4" name="Shape 2"/>
          <p:cNvSpPr/>
          <p:nvPr/>
        </p:nvSpPr>
        <p:spPr>
          <a:xfrm>
            <a:off x="812800" y="1605359"/>
            <a:ext cx="10566400" cy="0"/>
          </a:xfrm>
          <a:prstGeom prst="line">
            <a:avLst/>
          </a:prstGeom>
          <a:noFill/>
          <a:ln w="6350">
            <a:solidFill>
              <a:srgbClr val="DAD6CB"/>
            </a:solidFill>
            <a:prstDash val="solid"/>
          </a:ln>
        </p:spPr>
      </p:sp>
      <p:sp>
        <p:nvSpPr>
          <p:cNvPr id="5" name="Text 3"/>
          <p:cNvSpPr/>
          <p:nvPr/>
        </p:nvSpPr>
        <p:spPr>
          <a:xfrm>
            <a:off x="812800" y="1710134"/>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OBJECTIVE</a:t>
            </a:r>
            <a:endParaRPr lang="en-US" sz="1200" dirty="0"/>
          </a:p>
        </p:txBody>
      </p:sp>
      <p:sp>
        <p:nvSpPr>
          <p:cNvPr id="6" name="Text 4"/>
          <p:cNvSpPr/>
          <p:nvPr/>
        </p:nvSpPr>
        <p:spPr>
          <a:xfrm>
            <a:off x="2717800" y="1710134"/>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Does a purpose-built tool surface matter, or can the agent build what it needs?</a:t>
            </a:r>
            <a:endParaRPr lang="en-US" sz="1400" dirty="0"/>
          </a:p>
        </p:txBody>
      </p:sp>
      <p:sp>
        <p:nvSpPr>
          <p:cNvPr id="7" name="Shape 5"/>
          <p:cNvSpPr/>
          <p:nvPr/>
        </p:nvSpPr>
        <p:spPr>
          <a:xfrm>
            <a:off x="812800" y="2063800"/>
            <a:ext cx="10566400" cy="0"/>
          </a:xfrm>
          <a:prstGeom prst="line">
            <a:avLst/>
          </a:prstGeom>
          <a:noFill/>
          <a:ln w="6350">
            <a:solidFill>
              <a:srgbClr val="DAD6CB"/>
            </a:solidFill>
            <a:prstDash val="solid"/>
          </a:ln>
        </p:spPr>
      </p:sp>
      <p:sp>
        <p:nvSpPr>
          <p:cNvPr id="8" name="Text 6"/>
          <p:cNvSpPr/>
          <p:nvPr/>
        </p:nvSpPr>
        <p:spPr>
          <a:xfrm>
            <a:off x="812800" y="216857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 &amp; PROMPT</a:t>
            </a:r>
            <a:endParaRPr lang="en-US" sz="1200" dirty="0"/>
          </a:p>
        </p:txBody>
      </p:sp>
      <p:sp>
        <p:nvSpPr>
          <p:cNvPr id="9" name="Text 7"/>
          <p:cNvSpPr/>
          <p:nvPr/>
        </p:nvSpPr>
        <p:spPr>
          <a:xfrm>
            <a:off x="2717800" y="2168575"/>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Same model; all </a:t>
            </a:r>
            <a:r>
              <a:rPr lang="en-US" sz="1400" b="1" dirty="0">
                <a:solidFill>
                  <a:srgbClr val="3F4A5C"/>
                </a:solidFill>
                <a:latin typeface="IBM Plex Sans" pitchFamily="34" charset="0"/>
                <a:ea typeface="IBM Plex Sans" pitchFamily="34" charset="-122"/>
                <a:cs typeface="IBM Plex Sans" pitchFamily="34" charset="-120"/>
              </a:rPr>
              <a:t>11 purpose-built tools removed</a:t>
            </a:r>
            <a:r>
              <a:rPr lang="en-US" sz="1400" dirty="0">
                <a:solidFill>
                  <a:srgbClr val="3F4A5C"/>
                </a:solidFill>
                <a:latin typeface="IBM Plex Sans" pitchFamily="34" charset="0"/>
                <a:ea typeface="IBM Plex Sans" pitchFamily="34" charset="-122"/>
                <a:cs typeface="IBM Plex Sans" pitchFamily="34" charset="-120"/>
              </a:rPr>
              <a:t>, one shell left; 11 ladder tasks, fresh sessions.</a:t>
            </a:r>
            <a:endParaRPr lang="en-US" sz="1400" dirty="0"/>
          </a:p>
        </p:txBody>
      </p:sp>
      <p:sp>
        <p:nvSpPr>
          <p:cNvPr id="10" name="Shape 8"/>
          <p:cNvSpPr/>
          <p:nvPr/>
        </p:nvSpPr>
        <p:spPr>
          <a:xfrm>
            <a:off x="812800" y="2522240"/>
            <a:ext cx="10566400" cy="0"/>
          </a:xfrm>
          <a:prstGeom prst="line">
            <a:avLst/>
          </a:prstGeom>
          <a:noFill/>
          <a:ln w="6350">
            <a:solidFill>
              <a:srgbClr val="DAD6CB"/>
            </a:solidFill>
            <a:prstDash val="solid"/>
          </a:ln>
        </p:spPr>
      </p:sp>
      <p:sp>
        <p:nvSpPr>
          <p:cNvPr id="11" name="Text 9"/>
          <p:cNvSpPr/>
          <p:nvPr/>
        </p:nvSpPr>
        <p:spPr>
          <a:xfrm>
            <a:off x="812800" y="262701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DID</a:t>
            </a:r>
            <a:endParaRPr lang="en-US" sz="1200" dirty="0"/>
          </a:p>
        </p:txBody>
      </p:sp>
      <p:sp>
        <p:nvSpPr>
          <p:cNvPr id="12" name="Text 10"/>
          <p:cNvSpPr/>
          <p:nvPr/>
        </p:nvSpPr>
        <p:spPr>
          <a:xfrm>
            <a:off x="2717800" y="2627015"/>
            <a:ext cx="89212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Ran all 11 from scratch, checked every tool call by hand, compared one view-switch task across arms.</a:t>
            </a:r>
            <a:endParaRPr lang="en-US" sz="1400" dirty="0"/>
          </a:p>
        </p:txBody>
      </p:sp>
      <p:sp>
        <p:nvSpPr>
          <p:cNvPr id="13" name="Shape 11"/>
          <p:cNvSpPr/>
          <p:nvPr/>
        </p:nvSpPr>
        <p:spPr>
          <a:xfrm>
            <a:off x="812800" y="2977505"/>
            <a:ext cx="10566400" cy="553690"/>
          </a:xfrm>
          <a:prstGeom prst="roundRect">
            <a:avLst>
              <a:gd name="adj" fmla="val 18350"/>
            </a:avLst>
          </a:prstGeom>
          <a:solidFill>
            <a:srgbClr val="14213D"/>
          </a:solidFill>
          <a:ln/>
        </p:spPr>
      </p:sp>
      <p:sp>
        <p:nvSpPr>
          <p:cNvPr id="14" name="Text 12"/>
          <p:cNvSpPr/>
          <p:nvPr/>
        </p:nvSpPr>
        <p:spPr>
          <a:xfrm>
            <a:off x="1016000" y="3129905"/>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WHAT WE GOT</a:t>
            </a:r>
            <a:endParaRPr lang="en-US" sz="1200" dirty="0"/>
          </a:p>
        </p:txBody>
      </p:sp>
      <p:sp>
        <p:nvSpPr>
          <p:cNvPr id="15" name="Text 13"/>
          <p:cNvSpPr/>
          <p:nvPr/>
        </p:nvSpPr>
        <p:spPr>
          <a:xfrm>
            <a:off x="2717800" y="3129905"/>
            <a:ext cx="871194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5 Full · 5 Partial · 1 construct-invalid.</a:t>
            </a:r>
            <a:r>
              <a:rPr lang="en-US" sz="1400" dirty="0">
                <a:solidFill>
                  <a:srgbClr val="F4F1EA"/>
                </a:solidFill>
                <a:latin typeface="IBM Plex Sans" pitchFamily="34" charset="0"/>
                <a:ea typeface="IBM Plex Sans" pitchFamily="34" charset="-122"/>
                <a:cs typeface="IBM Plex Sans" pitchFamily="34" charset="-120"/>
              </a:rPr>
              <a:t> It reverse-engineered the .dat format and scripted the GUI.</a:t>
            </a:r>
            <a:endParaRPr lang="en-US" sz="1400" dirty="0"/>
          </a:p>
        </p:txBody>
      </p:sp>
      <p:sp>
        <p:nvSpPr>
          <p:cNvPr id="16" name="Shape 14"/>
          <p:cNvSpPr/>
          <p:nvPr/>
        </p:nvSpPr>
        <p:spPr>
          <a:xfrm>
            <a:off x="831850" y="3632795"/>
            <a:ext cx="0" cy="599380"/>
          </a:xfrm>
          <a:prstGeom prst="line">
            <a:avLst/>
          </a:prstGeom>
          <a:noFill/>
          <a:ln w="38100">
            <a:solidFill>
              <a:srgbClr val="B4441A"/>
            </a:solidFill>
            <a:prstDash val="solid"/>
          </a:ln>
        </p:spPr>
      </p:sp>
      <p:sp>
        <p:nvSpPr>
          <p:cNvPr id="17" name="Text 15"/>
          <p:cNvSpPr/>
          <p:nvPr/>
        </p:nvSpPr>
        <p:spPr>
          <a:xfrm>
            <a:off x="1016000" y="3683595"/>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18" name="Text 16"/>
          <p:cNvSpPr/>
          <p:nvPr/>
        </p:nvSpPr>
        <p:spPr>
          <a:xfrm>
            <a:off x="2717800" y="3683595"/>
            <a:ext cx="892124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Operation is not the bottleneck; its home-made parser is unverified, so engine claims need the Two-Path Rule </a:t>
            </a:r>
            <a:r>
              <a:rPr lang="en-US" sz="1400" b="1" dirty="0">
                <a:solidFill>
                  <a:srgbClr val="14213D"/>
                </a:solidFill>
                <a:latin typeface="IBM Plex Sans" pitchFamily="34" charset="0"/>
                <a:ea typeface="IBM Plex Sans" pitchFamily="34" charset="-122"/>
                <a:cs typeface="IBM Plex Sans" pitchFamily="34" charset="-120"/>
              </a:rPr>
              <a:t>→ RQ4, RQ1b</a:t>
            </a:r>
            <a:endParaRPr lang="en-US" sz="1400" dirty="0"/>
          </a:p>
        </p:txBody>
      </p:sp>
      <p:sp>
        <p:nvSpPr>
          <p:cNvPr id="19" name="Text 17"/>
          <p:cNvSpPr/>
          <p:nvPr/>
        </p:nvSpPr>
        <p:spPr>
          <a:xfrm>
            <a:off x="812800" y="433377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First results: 1 seed, 1 grader.</a:t>
            </a:r>
            <a:endParaRPr lang="en-US" sz="1200" dirty="0"/>
          </a:p>
        </p:txBody>
      </p:sp>
      <p:sp>
        <p:nvSpPr>
          <p:cNvPr id="20" name="Text 18"/>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B · EVALUATION STATUS · SEPT 24, 2026</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25 of 28 tasks have a first result, and none is final</a:t>
            </a:r>
            <a:endParaRPr lang="en-US" sz="2800" dirty="0"/>
          </a:p>
        </p:txBody>
      </p:sp>
      <p:sp>
        <p:nvSpPr>
          <p:cNvPr id="4" name="Shape 2"/>
          <p:cNvSpPr/>
          <p:nvPr/>
        </p:nvSpPr>
        <p:spPr>
          <a:xfrm>
            <a:off x="812800" y="1554559"/>
            <a:ext cx="10566400" cy="0"/>
          </a:xfrm>
          <a:prstGeom prst="line">
            <a:avLst/>
          </a:prstGeom>
          <a:noFill/>
          <a:ln w="6350">
            <a:solidFill>
              <a:srgbClr val="DAD6CB"/>
            </a:solidFill>
            <a:prstDash val="solid"/>
          </a:ln>
        </p:spPr>
      </p:sp>
      <p:sp>
        <p:nvSpPr>
          <p:cNvPr id="5" name="Text 3"/>
          <p:cNvSpPr/>
          <p:nvPr/>
        </p:nvSpPr>
        <p:spPr>
          <a:xfrm>
            <a:off x="812800" y="1621234"/>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OBJECTIVE</a:t>
            </a:r>
            <a:endParaRPr lang="en-US" sz="1200" dirty="0"/>
          </a:p>
        </p:txBody>
      </p:sp>
      <p:sp>
        <p:nvSpPr>
          <p:cNvPr id="6" name="Text 4"/>
          <p:cNvSpPr/>
          <p:nvPr/>
        </p:nvSpPr>
        <p:spPr>
          <a:xfrm>
            <a:off x="2717800" y="1621234"/>
            <a:ext cx="8921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Show which agent results exist and which can be cited.</a:t>
            </a:r>
            <a:endParaRPr lang="en-US" sz="1200" dirty="0"/>
          </a:p>
        </p:txBody>
      </p:sp>
      <p:sp>
        <p:nvSpPr>
          <p:cNvPr id="7" name="Shape 5"/>
          <p:cNvSpPr/>
          <p:nvPr/>
        </p:nvSpPr>
        <p:spPr>
          <a:xfrm>
            <a:off x="812800" y="1888530"/>
            <a:ext cx="10566400" cy="0"/>
          </a:xfrm>
          <a:prstGeom prst="line">
            <a:avLst/>
          </a:prstGeom>
          <a:noFill/>
          <a:ln w="6350">
            <a:solidFill>
              <a:srgbClr val="DAD6CB"/>
            </a:solidFill>
            <a:prstDash val="solid"/>
          </a:ln>
        </p:spPr>
      </p:sp>
      <p:sp>
        <p:nvSpPr>
          <p:cNvPr id="8" name="Text 6"/>
          <p:cNvSpPr/>
          <p:nvPr/>
        </p:nvSpPr>
        <p:spPr>
          <a:xfrm>
            <a:off x="812800" y="195520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SETTING &amp; PROMPT</a:t>
            </a:r>
            <a:endParaRPr lang="en-US" sz="1200" dirty="0"/>
          </a:p>
        </p:txBody>
      </p:sp>
      <p:sp>
        <p:nvSpPr>
          <p:cNvPr id="9" name="Text 7"/>
          <p:cNvSpPr/>
          <p:nvPr/>
        </p:nvSpPr>
        <p:spPr>
          <a:xfrm>
            <a:off x="2717800" y="1955205"/>
            <a:ext cx="8921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As in setup; status from the Sept 18-24 weekly update.</a:t>
            </a:r>
            <a:endParaRPr lang="en-US" sz="1200" dirty="0"/>
          </a:p>
        </p:txBody>
      </p:sp>
      <p:sp>
        <p:nvSpPr>
          <p:cNvPr id="10" name="Shape 8"/>
          <p:cNvSpPr/>
          <p:nvPr/>
        </p:nvSpPr>
        <p:spPr>
          <a:xfrm>
            <a:off x="812800" y="2222500"/>
            <a:ext cx="10566400" cy="0"/>
          </a:xfrm>
          <a:prstGeom prst="line">
            <a:avLst/>
          </a:prstGeom>
          <a:noFill/>
          <a:ln w="6350">
            <a:solidFill>
              <a:srgbClr val="DAD6CB"/>
            </a:solidFill>
            <a:prstDash val="solid"/>
          </a:ln>
        </p:spPr>
      </p:sp>
      <p:sp>
        <p:nvSpPr>
          <p:cNvPr id="11" name="Text 9"/>
          <p:cNvSpPr/>
          <p:nvPr/>
        </p:nvSpPr>
        <p:spPr>
          <a:xfrm>
            <a:off x="812800" y="228917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DID</a:t>
            </a:r>
            <a:endParaRPr lang="en-US" sz="1200" dirty="0"/>
          </a:p>
        </p:txBody>
      </p:sp>
      <p:sp>
        <p:nvSpPr>
          <p:cNvPr id="12" name="Text 10"/>
          <p:cNvSpPr/>
          <p:nvPr/>
        </p:nvSpPr>
        <p:spPr>
          <a:xfrm>
            <a:off x="2717800" y="2289175"/>
            <a:ext cx="8921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Ladder and operating tasks at seed 1; five P5 tasks at 9 runs each; P5.1 at seed 1 of 6.</a:t>
            </a:r>
            <a:endParaRPr lang="en-US" sz="1200" dirty="0"/>
          </a:p>
        </p:txBody>
      </p:sp>
      <p:sp>
        <p:nvSpPr>
          <p:cNvPr id="13" name="Shape 11"/>
          <p:cNvSpPr/>
          <p:nvPr/>
        </p:nvSpPr>
        <p:spPr>
          <a:xfrm>
            <a:off x="812800" y="2553295"/>
            <a:ext cx="10566400" cy="2217142"/>
          </a:xfrm>
          <a:prstGeom prst="roundRect">
            <a:avLst>
              <a:gd name="adj" fmla="val 4582"/>
            </a:avLst>
          </a:prstGeom>
          <a:solidFill>
            <a:srgbClr val="14213D"/>
          </a:solidFill>
          <a:ln/>
        </p:spPr>
      </p:sp>
      <p:sp>
        <p:nvSpPr>
          <p:cNvPr id="14" name="Text 12"/>
          <p:cNvSpPr/>
          <p:nvPr/>
        </p:nvSpPr>
        <p:spPr>
          <a:xfrm>
            <a:off x="1016000" y="2680295"/>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IBM Plex Sans" pitchFamily="34" charset="0"/>
                <a:ea typeface="IBM Plex Sans" pitchFamily="34" charset="-122"/>
                <a:cs typeface="IBM Plex Sans" pitchFamily="34" charset="-120"/>
              </a:rPr>
              <a:t>WHAT WE GOT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30500" y="2654895"/>
          <a:ext cx="8445500" cy="2026642"/>
        </p:xfrm>
        <a:graphic>
          <a:graphicData uri="http://schemas.openxmlformats.org/drawingml/2006/table">
            <a:tbl>
              <a:tblPr/>
              <a:tblGrid>
                <a:gridCol w="2364740"/>
                <a:gridCol w="1689100"/>
                <a:gridCol w="4391660"/>
              </a:tblGrid>
              <a:tr h="302220">
                <a:tc>
                  <a:txBody>
                    <a:bodyPr/>
                    <a:lstStyle/>
                    <a:p>
                      <a:pPr indent="0" marL="0">
                        <a:lnSpc>
                          <a:spcPts val="1680"/>
                        </a:lnSpc>
                        <a:buNone/>
                      </a:pPr>
                      <a:r>
                        <a:rPr lang="en-US" sz="1200" b="1" dirty="0">
                          <a:solidFill>
                            <a:srgbClr val="B9C3D6"/>
                          </a:solidFill>
                          <a:latin typeface="IBM Plex Sans" pitchFamily="34" charset="0"/>
                          <a:ea typeface="IBM Plex Sans" pitchFamily="34" charset="-122"/>
                          <a:cs typeface="IBM Plex Sans" pitchFamily="34" charset="-120"/>
                        </a:rPr>
                        <a:t>Task family</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D3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D31"/>
                      </a:solidFill>
                      <a:prstDash val="solid"/>
                      <a:round/>
                      <a:headEnd type="none" w="med" len="med"/>
                      <a:tailEnd type="none" w="med" len="med"/>
                    </a:lnB>
                    <a:solidFill>
                      <a:srgbClr val="14203A"/>
                    </a:solidFill>
                  </a:tcPr>
                </a:tc>
                <a:tc>
                  <a:txBody>
                    <a:bodyPr/>
                    <a:lstStyle/>
                    <a:p>
                      <a:pPr indent="0" marL="0">
                        <a:lnSpc>
                          <a:spcPts val="1680"/>
                        </a:lnSpc>
                        <a:buNone/>
                      </a:pPr>
                      <a:r>
                        <a:rPr lang="en-US" sz="1200" b="1" dirty="0">
                          <a:solidFill>
                            <a:srgbClr val="B9C3D6"/>
                          </a:solidFill>
                          <a:latin typeface="IBM Plex Sans" pitchFamily="34" charset="0"/>
                          <a:ea typeface="IBM Plex Sans" pitchFamily="34" charset="-122"/>
                          <a:cs typeface="IBM Plex Sans" pitchFamily="34" charset="-120"/>
                        </a:rPr>
                        <a:t>Tested</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D31"/>
                      </a:solidFill>
                      <a:prstDash val="solid"/>
                      <a:round/>
                      <a:headEnd type="none" w="med" len="med"/>
                      <a:tailEnd type="none" w="med" len="med"/>
                    </a:lnL>
                    <a:lnR w="12700" cap="flat" cmpd="sng" algn="ctr">
                      <a:solidFill>
                        <a:srgbClr val="141D3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D31"/>
                      </a:solidFill>
                      <a:prstDash val="solid"/>
                      <a:round/>
                      <a:headEnd type="none" w="med" len="med"/>
                      <a:tailEnd type="none" w="med" len="med"/>
                    </a:lnB>
                    <a:solidFill>
                      <a:srgbClr val="14203A"/>
                    </a:solidFill>
                  </a:tcPr>
                </a:tc>
                <a:tc>
                  <a:txBody>
                    <a:bodyPr/>
                    <a:lstStyle/>
                    <a:p>
                      <a:pPr indent="0" marL="0">
                        <a:lnSpc>
                          <a:spcPts val="1680"/>
                        </a:lnSpc>
                        <a:buNone/>
                      </a:pPr>
                      <a:r>
                        <a:rPr lang="en-US" sz="1200" b="1" dirty="0">
                          <a:solidFill>
                            <a:srgbClr val="B9C3D6"/>
                          </a:solidFill>
                          <a:latin typeface="IBM Plex Sans" pitchFamily="34" charset="0"/>
                          <a:ea typeface="IBM Plex Sans" pitchFamily="34" charset="-122"/>
                          <a:cs typeface="IBM Plex Sans" pitchFamily="34" charset="-120"/>
                        </a:rPr>
                        <a:t>First result</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D31"/>
                      </a:solidFill>
                      <a:prstDash val="solid"/>
                      <a:round/>
                      <a:headEnd type="none" w="med" len="med"/>
                      <a:tailEnd type="none" w="med" len="med"/>
                    </a:lnL>
                    <a:lnR w="12700" cap="flat" cmpd="sng" algn="ctr">
                      <a:solidFill>
                        <a:srgbClr val="141D3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D31"/>
                      </a:solidFill>
                      <a:prstDash val="solid"/>
                      <a:round/>
                      <a:headEnd type="none" w="med" len="med"/>
                      <a:tailEnd type="none" w="med" len="med"/>
                    </a:lnB>
                    <a:solidFill>
                      <a:srgbClr val="14203A"/>
                    </a:solidFill>
                  </a:tcPr>
                </a:tc>
              </a:tr>
              <a:tr h="302220">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P0 positive controls</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D31"/>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4 / 4</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D31"/>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D31"/>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r>
              <a:tr h="302220">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P1-P4 task ladder</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11 / 11</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Shell-only arm: 5 Full, 5 Partial, 1 invalid</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r>
              <a:tr h="515541">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P5 trust in self-description</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6 / 8 + P5.1 in progress</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P5.1 seed 1 is a Confident-Wrong candidate; no headline score</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r>
              <a:tr h="302220">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P6 irreversible actions</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2 / 3</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Both handled safely</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r>
              <a:tr h="302220">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P7 broken premises</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2 / 2</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One Wrong, one Partial</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141E34"/>
                      </a:solidFill>
                      <a:prstDash val="solid"/>
                      <a:round/>
                      <a:headEnd type="none" w="med" len="med"/>
                      <a:tailEnd type="none" w="med" len="med"/>
                    </a:lnB>
                  </a:tcPr>
                </a:tc>
              </a:tr>
            </a:tbl>
          </a:graphicData>
        </a:graphic>
      </p:graphicFrame>
      <p:sp>
        <p:nvSpPr>
          <p:cNvPr id="16" name="Shape 13"/>
          <p:cNvSpPr/>
          <p:nvPr/>
        </p:nvSpPr>
        <p:spPr>
          <a:xfrm>
            <a:off x="831850" y="4821238"/>
            <a:ext cx="0" cy="314920"/>
          </a:xfrm>
          <a:prstGeom prst="line">
            <a:avLst/>
          </a:prstGeom>
          <a:noFill/>
          <a:ln w="38100">
            <a:solidFill>
              <a:srgbClr val="B4441A"/>
            </a:solidFill>
            <a:prstDash val="solid"/>
          </a:ln>
        </p:spPr>
      </p:sp>
      <p:sp>
        <p:nvSpPr>
          <p:cNvPr id="17" name="Text 14"/>
          <p:cNvSpPr/>
          <p:nvPr/>
        </p:nvSpPr>
        <p:spPr>
          <a:xfrm>
            <a:off x="1016000" y="4872038"/>
            <a:ext cx="1498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18" name="Text 15"/>
          <p:cNvSpPr/>
          <p:nvPr/>
        </p:nvSpPr>
        <p:spPr>
          <a:xfrm>
            <a:off x="2717800" y="4872038"/>
            <a:ext cx="8921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 grader; all L2 metric ground truth untrusted until per-parameter calibration (T3) is done.</a:t>
            </a:r>
            <a:endParaRPr lang="en-US" sz="1200" dirty="0"/>
          </a:p>
        </p:txBody>
      </p:sp>
      <p:sp>
        <p:nvSpPr>
          <p:cNvPr id="19" name="Text 16"/>
          <p:cNvSpPr/>
          <p:nvPr/>
        </p:nvSpPr>
        <p:spPr>
          <a:xfrm>
            <a:off x="812800" y="518695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41A"/>
                </a:solidFill>
                <a:latin typeface="IBM Plex Sans" pitchFamily="34" charset="0"/>
                <a:ea typeface="IBM Plex Sans" pitchFamily="34" charset="-122"/>
                <a:cs typeface="IBM Plex Sans" pitchFamily="34" charset="-120"/>
              </a:rPr>
              <a:t>Still to run:</a:t>
            </a:r>
            <a:r>
              <a:rPr lang="en-US" sz="1200" dirty="0">
                <a:solidFill>
                  <a:srgbClr val="B4441A"/>
                </a:solidFill>
                <a:latin typeface="IBM Plex Sans" pitchFamily="34" charset="0"/>
                <a:ea typeface="IBM Plex Sans" pitchFamily="34" charset="-122"/>
                <a:cs typeface="IBM Plex Sans" pitchFamily="34" charset="-120"/>
              </a:rPr>
              <a:t> tool-interface arm seeds 2-3, networked condition, P0 re-test, P5.1 seeds 2-6, P5.3, P5.5/P5.8 rerun, P6.3, P7.2 agent half, second grader.</a:t>
            </a:r>
            <a:endParaRPr lang="en-US" sz="1200" dirty="0"/>
          </a:p>
        </p:txBody>
      </p:sp>
      <p:sp>
        <p:nvSpPr>
          <p:cNvPr id="20" name="Text 17"/>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21" name="Text 1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RISKS</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The main risks are known, and each has a fallback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6484"/>
          <a:ext cx="10553700" cy="2755404"/>
        </p:xfrm>
        <a:graphic>
          <a:graphicData uri="http://schemas.openxmlformats.org/drawingml/2006/table">
            <a:tbl>
              <a:tblPr/>
              <a:tblGrid>
                <a:gridCol w="3166110"/>
                <a:gridCol w="1055370"/>
                <a:gridCol w="6332220"/>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letters of collaboration by Oct 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Planning; ask users of our released datasets and a 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Findings on one XCAP build so far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re-run on our 2020–24 campaigns [versions to confirm]; Vienna/Nemo pilot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Vendor licence, legal and privacy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Derived data and tools only; university legal check; anonymization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Camera not yet aligned with radio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Inventory by Oct 14; one-session alignment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Overlap with Domino and our manuscript in preparation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Labels plus a validity audit, not attribution; the agent's architecture stays in that manuscript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Engine not built; thin agent 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Year-1 blind gate (RQ1b); else scripted sweeps at smaller coverage; T3 calibration, 2nd grader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PRIOR ART · DECODING, PROVENANCE, PROCEDURE</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Closest prior work on decoding, provenance and procedure, and what it leaves open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14748"/>
          <a:ext cx="10553700" cy="3146623"/>
        </p:xfrm>
        <a:graphic>
          <a:graphicData uri="http://schemas.openxmlformats.org/drawingml/2006/table">
            <a:tbl>
              <a:tblPr/>
              <a:tblGrid>
                <a:gridCol w="3060573"/>
                <a:gridCol w="4854702"/>
                <a:gridCol w="2638425"/>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provides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leaves open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SCAT, MobileInsight, QCSuper, Rayhunter</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open decoding of Qualcomm (and Samsung) diagnostic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XCAL .drm files; KPI procedure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Croissant 1.1, W3C PROV-O, SigMF</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provenance vocabulary and containers (Croissant down to single values; SigMF for RF recordings)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wireless content for derived KPIs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IETF RFC 8911/8193, Paxson 2004</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method, sampling for registered metrics; metadata and calibration for your own measurements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vendor-derived UE-side KPIs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3GPP TS 32.404, ETSI TS 102 250-2/-6, 3GPP MDT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network-side templates; QoS definitions and aggregation; network-configured UE logging</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UE-side vendor post-processing</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AERPAW curated datasets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harmonized metadata on one platform; compares two logging tools on throughput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per-value procedure on identical bytes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Vienna 2026; MobileInsight data release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one campaign (Keysight Nemo Outdoor); one tool, 2016-2020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cross-tool comparability</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PRIOR ART · ALIGNMENT, LABELS, VERIFIED PIPELINES</a:t>
            </a:r>
            <a:endParaRPr lang="en-US" sz="1200" dirty="0"/>
          </a:p>
        </p:txBody>
      </p:sp>
      <p:sp>
        <p:nvSpPr>
          <p:cNvPr id="3" name="Text 1"/>
          <p:cNvSpPr/>
          <p:nvPr/>
        </p:nvSpPr>
        <p:spPr>
          <a:xfrm>
            <a:off x="812800" y="11023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Closest prior work on alignment, labels and verified pipelines, and what it leaves open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14748"/>
          <a:ext cx="10553700" cy="3573264"/>
        </p:xfrm>
        <a:graphic>
          <a:graphicData uri="http://schemas.openxmlformats.org/drawingml/2006/table">
            <a:tbl>
              <a:tblPr/>
              <a:tblGrid>
                <a:gridCol w="3060573"/>
                <a:gridCol w="4854702"/>
                <a:gridCol w="2638425"/>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provides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leaves open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DeepSense 6G, LuViRA; Paxson 1998, SyncWISE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camera (RGB-D or LiDAR) and radio synced at capture; after-the-fact clock correction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bounds for legacy chipset and app logs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Domino (Yi et al. 2025)</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cross-layer RCA of 5G video calls, 24 causal chains, NTP-synced hosts; datasets promised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a public dataset; a stated alignment bound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TeleLogs, TelecomTS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RCA benchmarks: TeleLogs synthetic; TelecomTS real testbed KPIs, 10 of 11 anomaly types synthetic</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real, UE-side, application-grounded labels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Zoom2Net, NetShare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impute fine telemetry from coarse data (Zoom2Net); synthesize header traces (NetShare)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label what coarse data cannot see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Northcutt 2021, Engelen 2021; MobileInsight KPI analyzers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label-validity audits; open event re-derivation from RRC</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audits and counting rules for closed-tool exports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NSF CANIS 2531134, CERTIFY 2613350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verified AI-ready pipelines (telescope data; agricultural and health data)</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wireless measurement chains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5645"/>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B4441A"/>
                </a:solidFill>
                <a:latin typeface="IBM Plex Sans" pitchFamily="34" charset="0"/>
                <a:ea typeface="IBM Plex Sans" pitchFamily="34" charset="-122"/>
                <a:cs typeface="IBM Plex Sans" pitchFamily="34" charset="-120"/>
              </a:rPr>
              <a:t>APPENDIX C · PRIOR ART · VERIFICATION, READINESS, AGENTS</a:t>
            </a:r>
            <a:endParaRPr lang="en-US" sz="1196" dirty="0"/>
          </a:p>
        </p:txBody>
      </p:sp>
      <p:sp>
        <p:nvSpPr>
          <p:cNvPr id="3" name="Text 1"/>
          <p:cNvSpPr/>
          <p:nvPr/>
        </p:nvSpPr>
        <p:spPr>
          <a:xfrm>
            <a:off x="812800" y="1099245"/>
            <a:ext cx="10883392" cy="810369"/>
          </a:xfrm>
          <a:prstGeom prst="rect">
            <a:avLst/>
          </a:prstGeom>
          <a:noFill/>
          <a:ln/>
        </p:spPr>
        <p:txBody>
          <a:bodyPr wrap="square" lIns="0" tIns="0" rIns="0" bIns="0" rtlCol="0" anchor="t">
            <a:normAutofit/>
          </a:bodyPr>
          <a:lstStyle/>
          <a:p>
            <a:pPr algn="l" indent="0" marL="0">
              <a:lnSpc>
                <a:spcPts val="3107"/>
              </a:lnSpc>
              <a:buNone/>
            </a:pPr>
            <a:r>
              <a:rPr lang="en-US" sz="2774" b="1" dirty="0">
                <a:solidFill>
                  <a:srgbClr val="14213D"/>
                </a:solidFill>
                <a:latin typeface="Source Serif 4" pitchFamily="34" charset="0"/>
                <a:ea typeface="Source Serif 4" pitchFamily="34" charset="-122"/>
                <a:cs typeface="Source Serif 4" pitchFamily="34" charset="-120"/>
              </a:rPr>
              <a:t>Closest prior work on verification, readiness and agents, and what it leaves open</a:t>
            </a:r>
            <a:endParaRPr lang="en-US" sz="2774"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314"/>
          <a:ext cx="10553700" cy="3437334"/>
        </p:xfrm>
        <a:graphic>
          <a:graphicData uri="http://schemas.openxmlformats.org/drawingml/2006/table">
            <a:tbl>
              <a:tblPr/>
              <a:tblGrid>
                <a:gridCol w="3166110"/>
                <a:gridCol w="4010406"/>
                <a:gridCol w="3377184"/>
              </a:tblGrid>
              <a:tr h="311646">
                <a:tc>
                  <a:txBody>
                    <a:bodyPr/>
                    <a:lstStyle/>
                    <a:p>
                      <a:pPr indent="0" marL="0">
                        <a:lnSpc>
                          <a:spcPts val="1648"/>
                        </a:lnSpc>
                        <a:buNone/>
                      </a:pPr>
                      <a:r>
                        <a:rPr lang="en-US" sz="1177" b="1" dirty="0">
                          <a:solidFill>
                            <a:srgbClr val="14213D"/>
                          </a:solidFill>
                          <a:latin typeface="IBM Plex Sans" pitchFamily="34" charset="0"/>
                          <a:ea typeface="IBM Plex Sans" pitchFamily="34" charset="-122"/>
                          <a:cs typeface="IBM Plex Sans" pitchFamily="34" charset="-120"/>
                        </a:rPr>
                        <a:t>Work</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48"/>
                        </a:lnSpc>
                        <a:buNone/>
                      </a:pPr>
                      <a:r>
                        <a:rPr lang="en-US" sz="1177" b="1" dirty="0">
                          <a:solidFill>
                            <a:srgbClr val="14213D"/>
                          </a:solidFill>
                          <a:latin typeface="IBM Plex Sans" pitchFamily="34" charset="0"/>
                          <a:ea typeface="IBM Plex Sans" pitchFamily="34" charset="-122"/>
                          <a:cs typeface="IBM Plex Sans" pitchFamily="34" charset="-120"/>
                        </a:rPr>
                        <a:t>What it provides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48"/>
                        </a:lnSpc>
                        <a:buNone/>
                      </a:pPr>
                      <a:r>
                        <a:rPr lang="en-US" sz="1177" b="1" dirty="0">
                          <a:solidFill>
                            <a:srgbClr val="14213D"/>
                          </a:solidFill>
                          <a:latin typeface="IBM Plex Sans" pitchFamily="34" charset="0"/>
                          <a:ea typeface="IBM Plex Sans" pitchFamily="34" charset="-122"/>
                          <a:cs typeface="IBM Plex Sans" pitchFamily="34" charset="-120"/>
                        </a:rPr>
                        <a:t>What it leaves open</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N-version; Knight &amp; Leveson 1986; NIST StRD; ISO 10360-6, TraCIM</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independent versions; known-answer and reference-data tests of measurement software</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tested independence; an unspecified procedure</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Diverse Double-Compiling; Reproducible Builds; SLSA VSA; W3C DQV</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independent rebuilds; verification attestations; quality vocabulary</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a per-value tier for derived data</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AIDRIN; F-UJI; FAIR Evaluator; Croissant checker; SetGo</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automated readiness, FAIR and metadata checks at dataset level</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value-level measurement semantics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DocTer, CASCADE, Agentic PBT; UNMASQUE; L*, DIKEUE, 5GBaseChecker</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docs-vs-behavior tests on code or APIs; hidden-query extraction; state machines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numeric, setting-dependent procedures of a closed tool</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DRAFT, PLAY2PROMPT, ToolObserver, ZhuLong; FIND, MAIA</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agents that learn opaque tool behavior or black-box functions by experiment</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claims admitted by an agent-free path, not task success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0948">
                <a:tc>
                  <a:txBody>
                    <a:bodyPr/>
                    <a:lstStyle/>
                    <a:p>
                      <a:pPr indent="0" marL="0">
                        <a:lnSpc>
                          <a:spcPts val="1648"/>
                        </a:lnSpc>
                        <a:buNone/>
                      </a:pPr>
                      <a:r>
                        <a:rPr lang="en-US" sz="1177" dirty="0">
                          <a:solidFill>
                            <a:srgbClr val="14213D"/>
                          </a:solidFill>
                          <a:latin typeface="IBM Plex Sans" pitchFamily="34" charset="0"/>
                          <a:ea typeface="IBM Plex Sans" pitchFamily="34" charset="-122"/>
                          <a:cs typeface="IBM Plex Sans" pitchFamily="34" charset="-120"/>
                        </a:rPr>
                        <a:t>OSWorld, ScienceBoard, ERPBench; ConditionalQA, DiscoveryBench</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agents scored on task success or stored state; answers scored on stated conditions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48"/>
                        </a:lnSpc>
                        <a:buNone/>
                      </a:pPr>
                      <a:r>
                        <a:rPr lang="en-US" sz="1177" dirty="0">
                          <a:solidFill>
                            <a:srgbClr val="1F4E8C"/>
                          </a:solidFill>
                          <a:latin typeface="IBM Plex Sans" pitchFamily="34" charset="0"/>
                          <a:ea typeface="IBM Plex Sans" pitchFamily="34" charset="-122"/>
                          <a:cs typeface="IBM Plex Sans" pitchFamily="34" charset="-120"/>
                        </a:rPr>
                        <a:t>what the software computes; disclosure of instrument settings</a:t>
                      </a:r>
                      <a:endParaRPr lang="en-US" sz="1177" dirty="0">
                        <a:latin typeface="IBM Plex Sans" charset="0"/>
                        <a:ea typeface="IBM Plex Sans" charset="0"/>
                        <a:cs typeface="IBM Plex Sans" charset="0"/>
                      </a:endParaRPr>
                    </a:p>
                  </a:txBody>
                  <a:tcPr marL="76200" marR="76200" marT="44450" marB="4445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5639048"/>
            <a:ext cx="10883392" cy="22835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372"/>
                </a:solidFill>
                <a:latin typeface="IBM Plex Sans" pitchFamily="34" charset="0"/>
                <a:ea typeface="IBM Plex Sans" pitchFamily="34" charset="-122"/>
                <a:cs typeface="IBM Plex Sans" pitchFamily="34" charset="-120"/>
              </a:rPr>
              <a:t>'Leaves open' means we found none in a limited search.</a:t>
            </a:r>
            <a:endParaRPr lang="en-US" sz="1200" dirty="0"/>
          </a:p>
        </p:txBody>
      </p:sp>
      <p:sp>
        <p:nvSpPr>
          <p:cNvPr id="6" name="Text 3"/>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DENOMINATORS AND LIMITS</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Every headline figure in this deck, with its denominator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1084"/>
          <a:ext cx="10553700" cy="3146623"/>
        </p:xfrm>
        <a:graphic>
          <a:graphicData uri="http://schemas.openxmlformats.org/drawingml/2006/table">
            <a:tbl>
              <a:tblPr/>
              <a:tblGrid>
                <a:gridCol w="2849499"/>
                <a:gridCol w="3166110"/>
                <a:gridCol w="4538091"/>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Figure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Denominator</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Scope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40941">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165/167 log codes (98.8%)</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record counts per code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GUI-built ping trace; payloads 3 of 141 codes; ~5,500 fields (0.013%)</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50/50 values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18 params; CSV export vs the tool's own tables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an export-path check, not vendor-independent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Worst SINR −20.0 vs −12.9 dB</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3 of 11 settings tested, 2 with values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one ping trace, one build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8 of 62 handovers show a gap</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Sec throughput only</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resolution explanation untested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5 Full · 5 Partial · 1 invalid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11 shell-only tasks; all 5 numeric ones Partial</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seed, 1 grader, 1 model family; L2 ground truth pending T3</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0941">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12 of 15 open-book found nothing; 0 of 45 confidently wrong</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5 tasks × 9 runs; 3 open-book each</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model's own report; excerpts only, high effort, 1 grader</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Shape 2"/>
          <p:cNvSpPr/>
          <p:nvPr/>
        </p:nvSpPr>
        <p:spPr>
          <a:xfrm>
            <a:off x="815975" y="5018683"/>
            <a:ext cx="10560050" cy="448270"/>
          </a:xfrm>
          <a:prstGeom prst="roundRect">
            <a:avLst>
              <a:gd name="adj" fmla="val 16290"/>
            </a:avLst>
          </a:prstGeom>
          <a:solidFill>
            <a:srgbClr val="EFEDE6"/>
          </a:solidFill>
          <a:ln w="6350">
            <a:solidFill>
              <a:srgbClr val="A9A597"/>
            </a:solidFill>
            <a:prstDash val="dash"/>
          </a:ln>
        </p:spPr>
      </p:sp>
      <p:sp>
        <p:nvSpPr>
          <p:cNvPr id="6" name="Text 3"/>
          <p:cNvSpPr/>
          <p:nvPr/>
        </p:nvSpPr>
        <p:spPr>
          <a:xfrm>
            <a:off x="971550" y="5136158"/>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372"/>
                </a:solidFill>
                <a:latin typeface="IBM Plex Sans" pitchFamily="34" charset="0"/>
                <a:ea typeface="IBM Plex Sans" pitchFamily="34" charset="-122"/>
                <a:cs typeface="IBM Plex Sans" pitchFamily="34" charset="-120"/>
              </a:rPr>
              <a:t>VOLUME</a:t>
            </a:r>
            <a:endParaRPr lang="en-US" sz="1200" dirty="0"/>
          </a:p>
        </p:txBody>
      </p:sp>
      <p:sp>
        <p:nvSpPr>
          <p:cNvPr id="7" name="Text 4"/>
          <p:cNvSpPr/>
          <p:nvPr/>
        </p:nvSpPr>
        <p:spPr>
          <a:xfrm>
            <a:off x="2190750" y="5139928"/>
            <a:ext cx="9300591"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4E8C"/>
                </a:solidFill>
                <a:latin typeface="IBM Plex Sans" pitchFamily="34" charset="0"/>
                <a:ea typeface="IBM Plex Sans" pitchFamily="34" charset="-122"/>
                <a:cs typeface="IBM Plex Sans" pitchFamily="34" charset="-120"/>
              </a:rPr>
              <a:t>15.3 GB</a:t>
            </a:r>
            <a:r>
              <a:rPr lang="en-US" sz="1200" dirty="0">
                <a:solidFill>
                  <a:srgbClr val="3F4A5C"/>
                </a:solidFill>
                <a:latin typeface="IBM Plex Sans" pitchFamily="34" charset="0"/>
                <a:ea typeface="IBM Plex Sans" pitchFamily="34" charset="-122"/>
                <a:cs typeface="IBM Plex Sans" pitchFamily="34" charset="-120"/>
              </a:rPr>
              <a:t> = 15 ping traces; the streaming and teleop radio logs are </a:t>
            </a:r>
            <a:r>
              <a:rPr lang="en-US" sz="1200" b="1" dirty="0">
                <a:solidFill>
                  <a:srgbClr val="1F4E8C"/>
                </a:solidFill>
                <a:latin typeface="IBM Plex Sans" pitchFamily="34" charset="0"/>
                <a:ea typeface="IBM Plex Sans" pitchFamily="34" charset="-122"/>
                <a:cs typeface="IBM Plex Sans" pitchFamily="34" charset="-120"/>
              </a:rPr>
              <a:t>65.5 MB</a:t>
            </a:r>
            <a:r>
              <a:rPr lang="en-US" sz="1200" dirty="0">
                <a:solidFill>
                  <a:srgbClr val="3F4A5C"/>
                </a:solidFill>
                <a:latin typeface="IBM Plex Sans" pitchFamily="34" charset="0"/>
                <a:ea typeface="IBM Plex Sans" pitchFamily="34" charset="-122"/>
                <a:cs typeface="IBM Plex Sans" pitchFamily="34" charset="-120"/>
              </a:rPr>
              <a:t> and </a:t>
            </a:r>
            <a:r>
              <a:rPr lang="en-US" sz="1200" b="1" dirty="0">
                <a:solidFill>
                  <a:srgbClr val="1F4E8C"/>
                </a:solidFill>
                <a:latin typeface="IBM Plex Sans" pitchFamily="34" charset="0"/>
                <a:ea typeface="IBM Plex Sans" pitchFamily="34" charset="-122"/>
                <a:cs typeface="IBM Plex Sans" pitchFamily="34" charset="-120"/>
              </a:rPr>
              <a:t>400.6 MB</a:t>
            </a:r>
            <a:endParaRPr lang="en-US" sz="1200" dirty="0"/>
          </a:p>
        </p:txBody>
      </p:sp>
      <p:sp>
        <p:nvSpPr>
          <p:cNvPr id="8" name="Text 5"/>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RESEARCH CHALLENGES</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What makes wireless data hard</a:t>
            </a:r>
            <a:endParaRPr lang="en-US" sz="3200" dirty="0"/>
          </a:p>
        </p:txBody>
      </p:sp>
      <p:sp>
        <p:nvSpPr>
          <p:cNvPr id="4" name="Shape 2"/>
          <p:cNvSpPr/>
          <p:nvPr/>
        </p:nvSpPr>
        <p:spPr>
          <a:xfrm>
            <a:off x="815975" y="1806525"/>
            <a:ext cx="5200650" cy="1205805"/>
          </a:xfrm>
          <a:prstGeom prst="roundRect">
            <a:avLst>
              <a:gd name="adj" fmla="val 8163"/>
            </a:avLst>
          </a:prstGeom>
          <a:solidFill>
            <a:srgbClr val="FFFDF8"/>
          </a:solidFill>
          <a:ln w="6350">
            <a:solidFill>
              <a:srgbClr val="DAD6CB"/>
            </a:solidFill>
            <a:prstDash val="solid"/>
          </a:ln>
        </p:spPr>
      </p:sp>
      <p:sp>
        <p:nvSpPr>
          <p:cNvPr id="5" name="Text 3"/>
          <p:cNvSpPr/>
          <p:nvPr/>
        </p:nvSpPr>
        <p:spPr>
          <a:xfrm>
            <a:off x="1022350" y="1987500"/>
            <a:ext cx="493153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4213D"/>
                </a:solidFill>
                <a:latin typeface="IBM Plex Sans" pitchFamily="34" charset="0"/>
                <a:ea typeface="IBM Plex Sans" pitchFamily="34" charset="-122"/>
                <a:cs typeface="IBM Plex Sans" pitchFamily="34" charset="-120"/>
              </a:rPr>
              <a:t>No outside reference</a:t>
            </a:r>
            <a:endParaRPr lang="en-US" sz="1700" dirty="0"/>
          </a:p>
        </p:txBody>
      </p:sp>
      <p:sp>
        <p:nvSpPr>
          <p:cNvPr id="6" name="Text 4"/>
          <p:cNvSpPr/>
          <p:nvPr/>
        </p:nvSpPr>
        <p:spPr>
          <a:xfrm>
            <a:off x="1022350" y="2333575"/>
            <a:ext cx="493153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KPIs lack ground truth, and tool documentation differs from behavior; checks must be built.</a:t>
            </a:r>
            <a:endParaRPr lang="en-US" sz="1400" dirty="0"/>
          </a:p>
        </p:txBody>
      </p:sp>
      <p:sp>
        <p:nvSpPr>
          <p:cNvPr id="7" name="Shape 5"/>
          <p:cNvSpPr/>
          <p:nvPr/>
        </p:nvSpPr>
        <p:spPr>
          <a:xfrm>
            <a:off x="6175375" y="1806525"/>
            <a:ext cx="5200650" cy="1205805"/>
          </a:xfrm>
          <a:prstGeom prst="roundRect">
            <a:avLst>
              <a:gd name="adj" fmla="val 8163"/>
            </a:avLst>
          </a:prstGeom>
          <a:solidFill>
            <a:srgbClr val="FFFDF8"/>
          </a:solidFill>
          <a:ln w="6350">
            <a:solidFill>
              <a:srgbClr val="DAD6CB"/>
            </a:solidFill>
            <a:prstDash val="solid"/>
          </a:ln>
        </p:spPr>
      </p:sp>
      <p:sp>
        <p:nvSpPr>
          <p:cNvPr id="8" name="Text 6"/>
          <p:cNvSpPr/>
          <p:nvPr/>
        </p:nvSpPr>
        <p:spPr>
          <a:xfrm>
            <a:off x="6381750" y="1987500"/>
            <a:ext cx="493153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4213D"/>
                </a:solidFill>
                <a:latin typeface="IBM Plex Sans" pitchFamily="34" charset="0"/>
                <a:ea typeface="IBM Plex Sans" pitchFamily="34" charset="-122"/>
                <a:cs typeface="IBM Plex Sans" pitchFamily="34" charset="-120"/>
              </a:rPr>
              <a:t>Hidden procedure</a:t>
            </a:r>
            <a:endParaRPr lang="en-US" sz="1700" dirty="0"/>
          </a:p>
        </p:txBody>
      </p:sp>
      <p:sp>
        <p:nvSpPr>
          <p:cNvPr id="9" name="Text 7"/>
          <p:cNvSpPr/>
          <p:nvPr/>
        </p:nvSpPr>
        <p:spPr>
          <a:xfrm>
            <a:off x="6381750" y="2333575"/>
            <a:ext cx="493153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Sampling, binning rules, statistics, clocks and build modes interact; some switches are not visible.</a:t>
            </a:r>
            <a:endParaRPr lang="en-US" sz="1400" dirty="0"/>
          </a:p>
        </p:txBody>
      </p:sp>
      <p:sp>
        <p:nvSpPr>
          <p:cNvPr id="10" name="Shape 8"/>
          <p:cNvSpPr/>
          <p:nvPr/>
        </p:nvSpPr>
        <p:spPr>
          <a:xfrm>
            <a:off x="815975" y="3171081"/>
            <a:ext cx="5200650" cy="1205805"/>
          </a:xfrm>
          <a:prstGeom prst="roundRect">
            <a:avLst>
              <a:gd name="adj" fmla="val 8163"/>
            </a:avLst>
          </a:prstGeom>
          <a:solidFill>
            <a:srgbClr val="FFFDF8"/>
          </a:solidFill>
          <a:ln w="6350">
            <a:solidFill>
              <a:srgbClr val="DAD6CB"/>
            </a:solidFill>
            <a:prstDash val="solid"/>
          </a:ln>
        </p:spPr>
      </p:sp>
      <p:sp>
        <p:nvSpPr>
          <p:cNvPr id="11" name="Text 9"/>
          <p:cNvSpPr/>
          <p:nvPr/>
        </p:nvSpPr>
        <p:spPr>
          <a:xfrm>
            <a:off x="1022350" y="3352056"/>
            <a:ext cx="493153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4213D"/>
                </a:solidFill>
                <a:latin typeface="IBM Plex Sans" pitchFamily="34" charset="0"/>
                <a:ea typeface="IBM Plex Sans" pitchFamily="34" charset="-122"/>
                <a:cs typeface="IBM Plex Sans" pitchFamily="34" charset="-120"/>
              </a:rPr>
              <a:t>Aligning after the fact</a:t>
            </a:r>
            <a:endParaRPr lang="en-US" sz="1700" dirty="0"/>
          </a:p>
        </p:txBody>
      </p:sp>
      <p:sp>
        <p:nvSpPr>
          <p:cNvPr id="12" name="Text 10"/>
          <p:cNvSpPr/>
          <p:nvPr/>
        </p:nvSpPr>
        <p:spPr>
          <a:xfrm>
            <a:off x="1022350" y="3698131"/>
            <a:ext cx="493153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Radio, app [and camera/LiDAR] run on different clocks; </a:t>
            </a:r>
            <a:r>
              <a:rPr lang="en-US" sz="1400" b="1" dirty="0">
                <a:solidFill>
                  <a:srgbClr val="1F4E8C"/>
                </a:solidFill>
                <a:latin typeface="IBM Plex Sans" pitchFamily="34" charset="0"/>
                <a:ea typeface="IBM Plex Sans" pitchFamily="34" charset="-122"/>
                <a:cs typeface="IBM Plex Sans" pitchFamily="34" charset="-120"/>
              </a:rPr>
              <a:t>±1.5 s</a:t>
            </a:r>
            <a:r>
              <a:rPr lang="en-US" sz="1400" dirty="0">
                <a:solidFill>
                  <a:srgbClr val="3F4A5C"/>
                </a:solidFill>
                <a:latin typeface="IBM Plex Sans" pitchFamily="34" charset="0"/>
                <a:ea typeface="IBM Plex Sans" pitchFamily="34" charset="-122"/>
                <a:cs typeface="IBM Plex Sans" pitchFamily="34" charset="-120"/>
              </a:rPr>
              <a:t> (streaming), </a:t>
            </a:r>
            <a:r>
              <a:rPr lang="en-US" sz="1400" b="1" dirty="0">
                <a:solidFill>
                  <a:srgbClr val="1F4E8C"/>
                </a:solidFill>
                <a:latin typeface="IBM Plex Sans" pitchFamily="34" charset="0"/>
                <a:ea typeface="IBM Plex Sans" pitchFamily="34" charset="-122"/>
                <a:cs typeface="IBM Plex Sans" pitchFamily="34" charset="-120"/>
              </a:rPr>
              <a:t>seconds</a:t>
            </a:r>
            <a:r>
              <a:rPr lang="en-US" sz="1400" dirty="0">
                <a:solidFill>
                  <a:srgbClr val="3F4A5C"/>
                </a:solidFill>
                <a:latin typeface="IBM Plex Sans" pitchFamily="34" charset="0"/>
                <a:ea typeface="IBM Plex Sans" pitchFamily="34" charset="-122"/>
                <a:cs typeface="IBM Plex Sans" pitchFamily="34" charset="-120"/>
              </a:rPr>
              <a:t> (teleop).</a:t>
            </a:r>
            <a:endParaRPr lang="en-US" sz="1400" dirty="0"/>
          </a:p>
        </p:txBody>
      </p:sp>
      <p:sp>
        <p:nvSpPr>
          <p:cNvPr id="13" name="Shape 11"/>
          <p:cNvSpPr/>
          <p:nvPr/>
        </p:nvSpPr>
        <p:spPr>
          <a:xfrm>
            <a:off x="6175375" y="3171081"/>
            <a:ext cx="5200650" cy="1205805"/>
          </a:xfrm>
          <a:prstGeom prst="roundRect">
            <a:avLst>
              <a:gd name="adj" fmla="val 8163"/>
            </a:avLst>
          </a:prstGeom>
          <a:solidFill>
            <a:srgbClr val="FFFDF8"/>
          </a:solidFill>
          <a:ln w="6350">
            <a:solidFill>
              <a:srgbClr val="DAD6CB"/>
            </a:solidFill>
            <a:prstDash val="solid"/>
          </a:ln>
        </p:spPr>
      </p:sp>
      <p:sp>
        <p:nvSpPr>
          <p:cNvPr id="14" name="Text 12"/>
          <p:cNvSpPr/>
          <p:nvPr/>
        </p:nvSpPr>
        <p:spPr>
          <a:xfrm>
            <a:off x="6381750" y="3352056"/>
            <a:ext cx="493153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4213D"/>
                </a:solidFill>
                <a:latin typeface="IBM Plex Sans" pitchFamily="34" charset="0"/>
                <a:ea typeface="IBM Plex Sans" pitchFamily="34" charset="-122"/>
                <a:cs typeface="IBM Plex Sans" pitchFamily="34" charset="-120"/>
              </a:rPr>
              <a:t>Privacy and licensing</a:t>
            </a:r>
            <a:endParaRPr lang="en-US" sz="1700" dirty="0"/>
          </a:p>
        </p:txBody>
      </p:sp>
      <p:sp>
        <p:nvSpPr>
          <p:cNvPr id="15" name="Text 13"/>
          <p:cNvSpPr/>
          <p:nvPr/>
        </p:nvSpPr>
        <p:spPr>
          <a:xfrm>
            <a:off x="6381750" y="3698131"/>
            <a:ext cx="493153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Logs carry IMEI and GPS; camera/LiDAR capture people and plates; vendor terms restrict use.</a:t>
            </a:r>
            <a:endParaRPr lang="en-US" sz="1400" dirty="0"/>
          </a:p>
        </p:txBody>
      </p:sp>
      <p:sp>
        <p:nvSpPr>
          <p:cNvPr id="16" name="Text 14"/>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THE PANEL</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How reviewers will attack, and where the deck answers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6484"/>
          <a:ext cx="10553700" cy="2684463"/>
        </p:xfrm>
        <a:graphic>
          <a:graphicData uri="http://schemas.openxmlformats.org/drawingml/2006/table">
            <a:tbl>
              <a:tblPr/>
              <a:tblGrid>
                <a:gridCol w="3377184"/>
                <a:gridCol w="5698998"/>
                <a:gridCol w="1477518"/>
              </a:tblGrid>
              <a:tr h="3530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Attack</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Answer</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Slides</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530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“It is just aggregation arithmetic”</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Yes; no release records which, and averages cannot be undone</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“Decoding and formats are solved”</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Agreed; we add measured meaning inside Croissant 1.1 PROV-O</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5, 8</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“Every method here already exists”</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Yes; we claim measured wireless content and its application, not methods</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7, 11, 12, App. C</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tool, one group, 15.3 GB of ping”</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Our five published campaigns give scale; a Nemo pilot adds a second tool</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10, 16, 17, 20</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“Networking research in disguise”</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RQs are metadata, pipelines, harmonization; Q2–Q3 are use cases</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9, 13–15</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6634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 agent benchmark in disguise”</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No: the agent is a method scored on verified claims (RQ1b), not tasks; we ship data</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7, 12, 13</a:t>
                      </a:r>
                      <a:endParaRPr lang="en-US" sz="1200" dirty="0">
                        <a:latin typeface="IBM Plex Sans" charset="0"/>
                        <a:ea typeface="IBM Plex Sans" charset="0"/>
                        <a:cs typeface="IBM Plex Sans" charset="0"/>
                      </a:endParaRPr>
                    </a:p>
                  </a:txBody>
                  <a:tcPr marL="76200" marR="76200" marT="63500" marB="635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APPENDIX C · PROJECT DESCRIPTION MAP AND COMPLIANCE</a:t>
            </a:r>
            <a:endParaRPr lang="en-US" sz="1200" dirty="0"/>
          </a:p>
        </p:txBody>
      </p:sp>
      <p:sp>
        <p:nvSpPr>
          <p:cNvPr id="3" name="Text 1"/>
          <p:cNvSpPr/>
          <p:nvPr/>
        </p:nvSpPr>
        <p:spPr>
          <a:xfrm>
            <a:off x="812800" y="11023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14213D"/>
                </a:solidFill>
                <a:latin typeface="Source Serif 4" pitchFamily="34" charset="0"/>
                <a:ea typeface="Source Serif 4" pitchFamily="34" charset="-122"/>
                <a:cs typeface="Source Serif 4" pitchFamily="34" charset="-120"/>
              </a:rPr>
              <a:t>The main deck doubles as the Project Description outline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6484"/>
          <a:ext cx="10553700" cy="1965722"/>
        </p:xfrm>
        <a:graphic>
          <a:graphicData uri="http://schemas.openxmlformats.org/drawingml/2006/table">
            <a:tbl>
              <a:tblPr/>
              <a:tblGrid>
                <a:gridCol w="7176516"/>
                <a:gridCol w="3377184"/>
              </a:tblGrid>
              <a:tr h="32762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Project Description section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Main-deck slides</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 Vision and community benefit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2–9, 16–17</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§2 Research plan (preliminary results first)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10–15</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§3 Dataset governance and integrity</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§4 Dataset availability and infrastructure; Broader Impacts section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F4E8C"/>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7620">
                <a:tc>
                  <a:txBody>
                    <a:bodyPr/>
                    <a:lstStyle/>
                    <a:p>
                      <a:pPr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§5 Flagship Justification (only if chosen)</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Not planned this cycle (20)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Shape 2"/>
          <p:cNvSpPr/>
          <p:nvPr/>
        </p:nvSpPr>
        <p:spPr>
          <a:xfrm>
            <a:off x="812800" y="3888581"/>
            <a:ext cx="10566400" cy="0"/>
          </a:xfrm>
          <a:prstGeom prst="line">
            <a:avLst/>
          </a:prstGeom>
          <a:noFill/>
          <a:ln w="6350">
            <a:solidFill>
              <a:srgbClr val="DAD6CB"/>
            </a:solidFill>
            <a:prstDash val="solid"/>
          </a:ln>
        </p:spPr>
      </p:sp>
      <p:sp>
        <p:nvSpPr>
          <p:cNvPr id="6" name="Text 3"/>
          <p:cNvSpPr/>
          <p:nvPr/>
        </p:nvSpPr>
        <p:spPr>
          <a:xfrm>
            <a:off x="812800" y="3993356"/>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SOLICITATION</a:t>
            </a:r>
            <a:endParaRPr lang="en-US" sz="1200" dirty="0"/>
          </a:p>
        </p:txBody>
      </p:sp>
      <p:sp>
        <p:nvSpPr>
          <p:cNvPr id="7" name="Text 4"/>
          <p:cNvSpPr/>
          <p:nvPr/>
        </p:nvSpPr>
        <p:spPr>
          <a:xfrm>
            <a:off x="2717800" y="3993356"/>
            <a:ext cx="892124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Title prefix “AIDatasets:” + track · 2–5 keywords on the last line of the Project Summary</a:t>
            </a:r>
            <a:endParaRPr lang="en-US" sz="1300" dirty="0"/>
          </a:p>
        </p:txBody>
      </p:sp>
      <p:sp>
        <p:nvSpPr>
          <p:cNvPr id="8" name="Shape 5"/>
          <p:cNvSpPr/>
          <p:nvPr/>
        </p:nvSpPr>
        <p:spPr>
          <a:xfrm>
            <a:off x="812800" y="4329261"/>
            <a:ext cx="10566400" cy="0"/>
          </a:xfrm>
          <a:prstGeom prst="line">
            <a:avLst/>
          </a:prstGeom>
          <a:noFill/>
          <a:ln w="6350">
            <a:solidFill>
              <a:srgbClr val="DAD6CB"/>
            </a:solidFill>
            <a:prstDash val="solid"/>
          </a:ln>
        </p:spPr>
      </p:sp>
      <p:sp>
        <p:nvSpPr>
          <p:cNvPr id="9" name="Text 6"/>
          <p:cNvSpPr/>
          <p:nvPr/>
        </p:nvSpPr>
        <p:spPr>
          <a:xfrm>
            <a:off x="812800" y="4434036"/>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PAPPG</a:t>
            </a:r>
            <a:endParaRPr lang="en-US" sz="1200" dirty="0"/>
          </a:p>
        </p:txBody>
      </p:sp>
      <p:sp>
        <p:nvSpPr>
          <p:cNvPr id="10" name="Text 7"/>
          <p:cNvSpPr/>
          <p:nvPr/>
        </p:nvSpPr>
        <p:spPr>
          <a:xfrm>
            <a:off x="2717800" y="4434036"/>
            <a:ext cx="892124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No URLs in the PD · data management plan · mentoring plan · Broader Impacts section · Planning: Concept Outline + PO email</a:t>
            </a:r>
            <a:endParaRPr lang="en-US" sz="1300" dirty="0"/>
          </a:p>
        </p:txBody>
      </p:sp>
      <p:sp>
        <p:nvSpPr>
          <p:cNvPr id="11" name="Text 8"/>
          <p:cNvSpPr/>
          <p:nvPr/>
        </p:nvSpPr>
        <p:spPr>
          <a:xfrm>
            <a:off x="812800" y="6238280"/>
            <a:ext cx="2737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Metrology for Wireless Data · Appendix</a:t>
            </a:r>
            <a:endParaRPr lang="en-US" sz="1200" dirty="0"/>
          </a:p>
        </p:txBody>
      </p:sp>
      <p:sp>
        <p:nvSpPr>
          <p:cNvPr id="12" name="Text 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Metrology for Wireless Data: NSF Proposal Pitch</dc:title>
  <dc:subject>PptxGenJS Presentation</dc:subject>
  <dc:creator>PptxGenJS</dc:creator>
  <cp:lastModifiedBy>PptxGenJS</cp:lastModifiedBy>
  <cp:revision>1</cp:revision>
  <dcterms:created xsi:type="dcterms:W3CDTF">2026-09-29T01:39:21Z</dcterms:created>
  <dcterms:modified xsi:type="dcterms:W3CDTF">2026-09-29T01:39:21Z</dcterms:modified>
</cp:coreProperties>
</file>